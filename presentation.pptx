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3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086" autoAdjust="0"/>
  </p:normalViewPr>
  <p:slideViewPr>
    <p:cSldViewPr>
      <p:cViewPr varScale="1">
        <p:scale>
          <a:sx n="24" d="100"/>
          <a:sy n="24" d="100"/>
        </p:scale>
        <p:origin x="1820" y="32"/>
      </p:cViewPr>
      <p:guideLst>
        <p:guide orient="horz" pos="2880"/>
        <p:guide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30FC0-88DA-4EAC-8106-BBF97B8E5FA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D3634-63EF-4259-9182-D52BEC8D935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L'objectif de ce travail est de développer un modèle de prédiction de l'attrition client, ou '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', en utilisant des réseaux de neurones hybrides.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27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Voici l'architecture de notre présentation.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Nous commencerons par une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introduction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au contexte et à la problématique du 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 client.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Ensuite, nous ferons un tour d'horizon de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l'état de l'art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des méthodes existantes.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Puis, nous détaillerons notre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méthodologie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avant de présenter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prétraitements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que nous avons appliqués aux données.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Nous exposerons ensuite l'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architecture du modèle CCP-Net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suivie des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résultats expérimentaux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Enfin, nous conclurons en résumant nos travaux et en ouvrant des perspectives.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85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Commençons par le contexte.</a:t>
            </a:r>
          </a:p>
          <a:p>
            <a:pPr algn="l"/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Qu'est-ce que le 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 client ?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C'est le phénomène critique par lequel un client décide d'arrêter les services d'une entreprise. C'est un enjeu majeur dans des secteurs comme les Télécoms, la Banque, l'Assurance ou les Médias.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La perte d'un client a un impact financier considérable, et le coût d'acquisition d'un nouveau client est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5 fois supérieur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au coût de rétention d'un client existant.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C'est pourquoi la capacité à prédire ce comportement est devenue stratégique pour les entreprises.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8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Malgré les avancées, les modèles actuels montrent leurs limites. Le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Machine Learning classique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repose sur un 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feature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 engineering manuel et peine à capturer des relations non linéaires complexes.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De même, le 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Deep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 Learning simple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est souvent incapable de modéliser simultanément les dépendances globales, locales et temporelles qui existent dans les données.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Enfin, les 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datasets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 sont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fortement déséquilibrés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entre les clients qui partent et ceux qui restent, ce qui fausse l'apprentissage.</a:t>
            </a:r>
          </a:p>
          <a:p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Notre problématique centrale est donc la suivante :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28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Pour répondre à cette problématique, nous nous sommes fixés quatre objectifs principaux.</a:t>
            </a:r>
          </a:p>
          <a:p>
            <a:pPr algn="l"/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Premièrement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étudier les techniques existantes de Machine et 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Deep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 Learning pour identifier leurs forces et leurs faiblesses.</a:t>
            </a:r>
          </a:p>
          <a:p>
            <a:pPr algn="l"/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Deuxièmement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concevoir une architecture hybride, que nous avons nommée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CCP-Net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combinant un mécanisme de 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Multi-Head Self-Attention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un réseau 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BiLSTM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et un réseau 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CNN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Troisièmement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utiliser la technique d'équilibrage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ADASYN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pour traiter le déséquilibre des classes.</a:t>
            </a:r>
          </a:p>
          <a:p>
            <a:pPr algn="l"/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Enfin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évaluer notre modèle sur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quatre 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datasets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de secteurs différents (Télécom, Banque, Assurance et Médias) et le comparer à 18 modèles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2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Pour notre état de l'art, nous avons commencé par les méthodes de Machine Learning. Nous retrouvons des algorithmes classiques comme la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Régression Logistique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Arbres de Décision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Forêts Aléatoires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SVM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ou encore 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XGBoost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Leurs principaux avantages résident dans leur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simplicité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et leur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interprétabilité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. Ils sont également très efficaces sur des données structurées.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Cependant, leur limite principale est qu'ils nécessitent une sélection manuelle des variables et qu'ils captent difficilement les relations complexes et non linéaires qui existent dans les données clients.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73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Pour pallier ces limites, les méthodes de </a:t>
            </a:r>
            <a:r>
              <a:rPr lang="fr-FR" b="0" i="0" dirty="0" err="1">
                <a:solidFill>
                  <a:srgbClr val="0F1115"/>
                </a:solidFill>
                <a:effectLst/>
                <a:latin typeface="quote-cjk-patch"/>
              </a:rPr>
              <a:t>Deep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 Learning ont été introduites. Des modèles comme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ANN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CNN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LSTM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les 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BiLSTM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ou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Transformers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sont aujourd'hui couramment utilisés.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Leur atout majeur est l'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extraction automatique des caractéristiques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. Ils sont capables de modéliser des relations non linéaires et offrent des performances élevées.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Toutefois, certains modèles comme les LSTM ont du mal à capturer les dépendances globales, tandis que les CNN se concentrent sur les dépendances locales. Cela souligne la nécessité d'une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approche hybride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capable de combiner ces atouts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67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Pourquoi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CCP-Net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?</a:t>
            </a:r>
            <a:b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Pour répondre aux limites des modèles précédents, nous avons conçu une architecture qui combine trois briques complémentaires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Multi-Head Self-Attention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pour capturer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dépendances globales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entre les caractéristiques.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Le 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BiLSTM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pour modéliser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dépendances temporelles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dans les deux directions, en exploitant les informations du passé et du futur.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CNN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pour extraire automatiquement les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caractéristiques locales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les plus pertinentes.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Notre modèle CCP-Net est donc la fusion de ces trois techniques.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11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Passons maintenant à la méthodologie.</a:t>
            </a:r>
            <a:b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Voici l'architecture globale de notre modèle.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Les données prétraitées entrent dans le modèle par le biais d'une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couche d'entrée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Elles transitent ensuite par le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bloc d'attention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qui va identifier les relations importantes entre les variables. La sortie de l'attention est ensuite transmise au </a:t>
            </a:r>
            <a:r>
              <a:rPr lang="fr-FR" b="1" i="0" dirty="0" err="1">
                <a:solidFill>
                  <a:srgbClr val="0F1115"/>
                </a:solidFill>
                <a:effectLst/>
                <a:latin typeface="quote-cjk-patch"/>
              </a:rPr>
              <a:t>BiLSTM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, qui va analyser les séquences et capturer les dépendances temporelles.</a:t>
            </a:r>
          </a:p>
          <a:p>
            <a:pPr algn="l"/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Enfin, le </a:t>
            </a:r>
            <a:r>
              <a:rPr lang="fr-FR" b="1" i="0" dirty="0">
                <a:solidFill>
                  <a:srgbClr val="0F1115"/>
                </a:solidFill>
                <a:effectLst/>
                <a:latin typeface="quote-cjk-patch"/>
              </a:rPr>
              <a:t>CNN</a:t>
            </a:r>
            <a:r>
              <a:rPr lang="fr-FR" b="0" i="0" dirty="0">
                <a:solidFill>
                  <a:srgbClr val="0F1115"/>
                </a:solidFill>
                <a:effectLst/>
                <a:latin typeface="quote-cjk-patch"/>
              </a:rPr>
              <a:t> va extraire les motifs locaux et réduire la dimensionnalité des données, avant la couche de sortie qui produit la prédiction finale.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14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premier bloc de notre architecture est le Multi-Head Self-Attention.</a:t>
            </a:r>
          </a:p>
          <a:p>
            <a:endParaRPr lang="fr-FR" dirty="0"/>
          </a:p>
          <a:p>
            <a:r>
              <a:rPr lang="fr-FR" dirty="0"/>
              <a:t> Ce mécanisme analyse simultanément toutes les caractéristiques du client et identifie les relations importantes entre elles, </a:t>
            </a:r>
          </a:p>
          <a:p>
            <a:endParaRPr lang="fr-FR" dirty="0"/>
          </a:p>
          <a:p>
            <a:r>
              <a:rPr lang="fr-FR" dirty="0"/>
              <a:t>ce qui lui permet de capturer les dépendances globales dans les données. </a:t>
            </a:r>
          </a:p>
          <a:p>
            <a:endParaRPr lang="fr-FR" dirty="0"/>
          </a:p>
          <a:p>
            <a:r>
              <a:rPr lang="fr-FR" dirty="0"/>
              <a:t>Concrètement, l'entrée est projetée en vecteurs </a:t>
            </a:r>
            <a:r>
              <a:rPr lang="fr-FR" dirty="0" err="1"/>
              <a:t>Query</a:t>
            </a:r>
            <a:r>
              <a:rPr lang="fr-FR" dirty="0"/>
              <a:t>, Key et Value, </a:t>
            </a:r>
          </a:p>
          <a:p>
            <a:endParaRPr lang="fr-FR" dirty="0"/>
          </a:p>
          <a:p>
            <a:r>
              <a:rPr lang="fr-FR" dirty="0"/>
              <a:t>l'attention est calculée via un </a:t>
            </a:r>
            <a:r>
              <a:rPr lang="fr-FR" dirty="0" err="1"/>
              <a:t>softmax</a:t>
            </a:r>
            <a:r>
              <a:rPr lang="fr-FR" dirty="0"/>
              <a:t> normalisé, puis plusieurs têtes travaillent en parallèle avant d'être concaténées et projetées, avec une connexion résiduelle et une normalisation en sortie.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80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deuxième bloc est le </a:t>
            </a:r>
            <a:r>
              <a:rPr lang="fr-FR" dirty="0" err="1"/>
              <a:t>BiLSTM</a:t>
            </a:r>
            <a:r>
              <a:rPr lang="fr-FR" dirty="0"/>
              <a:t>, qui analyse les séquences dans les deux directions, </a:t>
            </a:r>
          </a:p>
          <a:p>
            <a:endParaRPr lang="fr-FR" dirty="0"/>
          </a:p>
          <a:p>
            <a:r>
              <a:rPr lang="fr-FR" dirty="0"/>
              <a:t>passé et futur, et capture ainsi les dépendances temporelles.</a:t>
            </a:r>
          </a:p>
          <a:p>
            <a:endParaRPr lang="fr-FR" dirty="0"/>
          </a:p>
          <a:p>
            <a:r>
              <a:rPr lang="fr-FR" dirty="0"/>
              <a:t> Il repose sur des portes d'oubli, d'entrée et de sortie qui régulent le flux d'information dans la cellule mémoire, </a:t>
            </a:r>
          </a:p>
          <a:p>
            <a:endParaRPr lang="fr-FR" dirty="0"/>
          </a:p>
          <a:p>
            <a:r>
              <a:rPr lang="fr-FR" dirty="0"/>
              <a:t>et la bidirectionnalité permet de combiner l'état caché </a:t>
            </a:r>
            <a:r>
              <a:rPr lang="fr-FR" dirty="0" err="1"/>
              <a:t>forward</a:t>
            </a:r>
            <a:r>
              <a:rPr lang="fr-FR" dirty="0"/>
              <a:t> et </a:t>
            </a:r>
            <a:r>
              <a:rPr lang="fr-FR" dirty="0" err="1"/>
              <a:t>backward</a:t>
            </a:r>
            <a:r>
              <a:rPr lang="fr-FR" dirty="0"/>
              <a:t> pour une représentation plus riche.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38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Enfin, la couche CNN</a:t>
            </a:r>
          </a:p>
          <a:p>
            <a:endParaRPr lang="fr-FR" dirty="0"/>
          </a:p>
          <a:p>
            <a:r>
              <a:rPr lang="fr-FR" dirty="0"/>
              <a:t> extrait automatiquement les caractéristiques locales et détecte les motifs importants.</a:t>
            </a:r>
          </a:p>
          <a:p>
            <a:endParaRPr lang="fr-FR" dirty="0"/>
          </a:p>
          <a:p>
            <a:r>
              <a:rPr lang="fr-FR" dirty="0"/>
              <a:t> Après la convolution, une activation </a:t>
            </a:r>
            <a:r>
              <a:rPr lang="fr-FR" dirty="0" err="1"/>
              <a:t>ReLU</a:t>
            </a:r>
            <a:r>
              <a:rPr lang="fr-FR" dirty="0"/>
              <a:t> et un max </a:t>
            </a:r>
            <a:r>
              <a:rPr lang="fr-FR" dirty="0" err="1"/>
              <a:t>pooling</a:t>
            </a:r>
            <a:r>
              <a:rPr lang="fr-FR" dirty="0"/>
              <a:t> réduisent la dimension, </a:t>
            </a:r>
          </a:p>
          <a:p>
            <a:endParaRPr lang="fr-FR" dirty="0"/>
          </a:p>
          <a:p>
            <a:r>
              <a:rPr lang="fr-FR" dirty="0"/>
              <a:t>puis une couche entièrement connectée avec une fonction sigmoïde produit la probabilité finale de </a:t>
            </a:r>
            <a:r>
              <a:rPr lang="fr-FR" dirty="0" err="1"/>
              <a:t>churn</a:t>
            </a:r>
            <a:r>
              <a:rPr lang="fr-FR" dirty="0"/>
              <a:t>, comprise entre 0 et 1.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29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au prétraitement des données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29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testé notre modèle sur quatre </a:t>
            </a:r>
            <a:r>
              <a:rPr lang="fr-FR" dirty="0" err="1"/>
              <a:t>datasets</a:t>
            </a:r>
            <a:r>
              <a:rPr lang="fr-FR" dirty="0"/>
              <a:t> issus de secteurs différents : </a:t>
            </a:r>
          </a:p>
          <a:p>
            <a:endParaRPr lang="fr-FR" dirty="0"/>
          </a:p>
          <a:p>
            <a:r>
              <a:rPr lang="fr-FR" dirty="0"/>
              <a:t>Telecom avec 7043 échantillons et un taux de </a:t>
            </a:r>
            <a:r>
              <a:rPr lang="fr-FR" dirty="0" err="1"/>
              <a:t>churn</a:t>
            </a:r>
            <a:r>
              <a:rPr lang="fr-FR" dirty="0"/>
              <a:t> de 26.58%, Bank avec 10 000 échantillons, </a:t>
            </a:r>
            <a:r>
              <a:rPr lang="fr-FR" dirty="0" err="1"/>
              <a:t>Insurance</a:t>
            </a:r>
            <a:r>
              <a:rPr lang="fr-FR" dirty="0"/>
              <a:t> avec 33 908 échantillons — le plus volumineux — et News avec 15 855 échantillons. </a:t>
            </a:r>
          </a:p>
          <a:p>
            <a:endParaRPr lang="fr-FR" dirty="0"/>
          </a:p>
          <a:p>
            <a:r>
              <a:rPr lang="fr-FR" dirty="0"/>
              <a:t>Cette diversité nous permet d'évaluer la robustesse cross-sectorielle du modèle. </a:t>
            </a:r>
          </a:p>
          <a:p>
            <a:endParaRPr lang="fr-FR" dirty="0"/>
          </a:p>
          <a:p>
            <a:r>
              <a:rPr lang="fr-FR" dirty="0"/>
              <a:t>Nous avons également effectué une sélection de </a:t>
            </a:r>
            <a:r>
              <a:rPr lang="fr-FR" dirty="0" err="1"/>
              <a:t>features</a:t>
            </a:r>
            <a:r>
              <a:rPr lang="fr-FR" dirty="0"/>
              <a:t> en supprimant les colonnes dont la corrélation avec la cible était inférieure à un seuil entre 0.01 et 0.05, afin de réduire le bruit et le </a:t>
            </a:r>
            <a:r>
              <a:rPr lang="fr-FR" dirty="0" err="1"/>
              <a:t>surapprentissage</a:t>
            </a:r>
            <a:r>
              <a:rPr lang="fr-FR" dirty="0"/>
              <a:t>, comme le montre la </a:t>
            </a:r>
            <a:r>
              <a:rPr lang="fr-FR" dirty="0" err="1"/>
              <a:t>heatmap</a:t>
            </a:r>
            <a:r>
              <a:rPr lang="fr-FR" dirty="0"/>
              <a:t> des corrélations pour Telecom.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61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pipeline de prétraitement suit cinq étapes : </a:t>
            </a:r>
          </a:p>
          <a:p>
            <a:endParaRPr lang="fr-FR" dirty="0"/>
          </a:p>
          <a:p>
            <a:r>
              <a:rPr lang="fr-FR" dirty="0"/>
              <a:t>nettoyage, encodage — Label et </a:t>
            </a:r>
            <a:r>
              <a:rPr lang="fr-FR" dirty="0" err="1"/>
              <a:t>OneHot</a:t>
            </a:r>
            <a:r>
              <a:rPr lang="fr-FR" dirty="0"/>
              <a:t> selon le type de variable —, sélection des </a:t>
            </a:r>
            <a:r>
              <a:rPr lang="fr-FR" dirty="0" err="1"/>
              <a:t>features</a:t>
            </a:r>
            <a:r>
              <a:rPr lang="fr-FR" dirty="0"/>
              <a:t> par corrélation, </a:t>
            </a:r>
          </a:p>
          <a:p>
            <a:endParaRPr lang="fr-FR" dirty="0"/>
          </a:p>
          <a:p>
            <a:r>
              <a:rPr lang="fr-FR" dirty="0"/>
              <a:t>normalisation avec un </a:t>
            </a:r>
            <a:r>
              <a:rPr lang="fr-FR" dirty="0" err="1"/>
              <a:t>StandardScaler</a:t>
            </a:r>
            <a:r>
              <a:rPr lang="fr-FR" dirty="0"/>
              <a:t>, et enfin ADASYN pour générer des échantillons synthétiques ciblés et rééquilibrer les classes,</a:t>
            </a:r>
          </a:p>
          <a:p>
            <a:endParaRPr lang="fr-FR" dirty="0"/>
          </a:p>
          <a:p>
            <a:r>
              <a:rPr lang="fr-FR" dirty="0"/>
              <a:t> comme on le voit sur ces distributions après ADASYN. </a:t>
            </a:r>
          </a:p>
          <a:p>
            <a:endParaRPr lang="fr-FR" dirty="0"/>
          </a:p>
          <a:p>
            <a:r>
              <a:rPr lang="fr-FR" dirty="0"/>
              <a:t>Et Une validation croisée à 10 </a:t>
            </a:r>
            <a:r>
              <a:rPr lang="fr-FR" dirty="0" err="1"/>
              <a:t>folds</a:t>
            </a:r>
            <a:r>
              <a:rPr lang="fr-FR" dirty="0"/>
              <a:t> garantit la stabilité et la fiabilité des résultats.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54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Voyons maintenant les </a:t>
            </a:r>
            <a:r>
              <a:rPr lang="en-US" sz="1200" spc="-105" dirty="0">
                <a:solidFill>
                  <a:srgbClr val="2D3780"/>
                </a:solidFill>
                <a:latin typeface="Trebuchet MS"/>
                <a:cs typeface="Trebuchet MS"/>
              </a:rPr>
              <a:t>Résultats</a:t>
            </a:r>
            <a:r>
              <a:rPr lang="en-US" sz="12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en-US" sz="1200" spc="-90" dirty="0">
                <a:solidFill>
                  <a:srgbClr val="2D3780"/>
                </a:solidFill>
                <a:latin typeface="Trebuchet MS"/>
                <a:cs typeface="Trebuchet MS"/>
              </a:rPr>
              <a:t>Expérimentaux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75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Nous avons utilisé quatre jeux de données de secteurs différents : Telecom avec 7 043 échantillons et un taux de 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 de 26,58%, Bank avec 10 000 échantillons et 20,37% de 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Insurance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 avec 33 908 échantillons et 11,70% de 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, et News avec 15 855 échantillons et 19,15% de 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churn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. Après le nettoyage, nous avons effectué une sélection de </a:t>
            </a:r>
            <a:r>
              <a:rPr lang="fr-FR" b="0" i="1" dirty="0" err="1">
                <a:solidFill>
                  <a:srgbClr val="0F1115"/>
                </a:solidFill>
                <a:effectLst/>
                <a:latin typeface="quote-cjk-patch"/>
              </a:rPr>
              <a:t>features</a:t>
            </a:r>
            <a:r>
              <a:rPr lang="fr-FR" b="0" i="1" dirty="0">
                <a:solidFill>
                  <a:srgbClr val="0F1115"/>
                </a:solidFill>
                <a:effectLst/>
                <a:latin typeface="quote-cjk-patch"/>
              </a:rPr>
              <a:t> en supprimant les colonnes faiblement corrélées avec la variable cible, afin de réduire le bruit et le surapprentissage.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78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Ces matrices de confusion illustrent la performance par secteur. </a:t>
            </a:r>
          </a:p>
          <a:p>
            <a:endParaRPr lang="fr-FR" dirty="0"/>
          </a:p>
          <a:p>
            <a:r>
              <a:rPr lang="fr-FR" dirty="0"/>
              <a:t>Sur Telecom par exemple, le modèle identifie correctement 1774 clients </a:t>
            </a:r>
            <a:r>
              <a:rPr lang="fr-FR" dirty="0" err="1"/>
              <a:t>churners</a:t>
            </a:r>
            <a:r>
              <a:rPr lang="fr-FR" dirty="0"/>
              <a:t> sur 1869,</a:t>
            </a:r>
          </a:p>
          <a:p>
            <a:endParaRPr lang="fr-FR" dirty="0"/>
          </a:p>
          <a:p>
            <a:r>
              <a:rPr lang="fr-FR" dirty="0"/>
              <a:t> avec seulement 95 faux négatifs. </a:t>
            </a:r>
          </a:p>
          <a:p>
            <a:endParaRPr lang="fr-FR" dirty="0"/>
          </a:p>
          <a:p>
            <a:r>
              <a:rPr lang="fr-FR" dirty="0"/>
              <a:t>Sur </a:t>
            </a:r>
            <a:r>
              <a:rPr lang="fr-FR" dirty="0" err="1"/>
              <a:t>Insurance</a:t>
            </a:r>
            <a:r>
              <a:rPr lang="fr-FR" dirty="0"/>
              <a:t>, malgré un fort déséquilibre initial des classes, le modèle reste performant avec 2684 vrais positifs correctement détectés.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7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courbes de perte montrent une convergence stable entre l'entraînement et la validation sur les quatre </a:t>
            </a:r>
            <a:r>
              <a:rPr lang="fr-FR" dirty="0" err="1"/>
              <a:t>datasets</a:t>
            </a:r>
            <a:r>
              <a:rPr lang="fr-FR" dirty="0"/>
              <a:t>, sans signe d'</a:t>
            </a:r>
            <a:r>
              <a:rPr lang="fr-FR" dirty="0" err="1"/>
              <a:t>overfitting</a:t>
            </a:r>
            <a:r>
              <a:rPr lang="fr-FR" dirty="0"/>
              <a:t> majeur — les courbes train et validation restent proches et décroissent de manière cohérente, ce qui confirme la bonne généralisation du modèle.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93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mené une étude d'ablation sur Telecom pour évaluer la contribution de chaque module. </a:t>
            </a:r>
          </a:p>
          <a:p>
            <a:endParaRPr lang="fr-FR" dirty="0"/>
          </a:p>
          <a:p>
            <a:r>
              <a:rPr lang="fr-FR" dirty="0"/>
              <a:t>L'attention seule atteint 84.77% d'</a:t>
            </a:r>
            <a:r>
              <a:rPr lang="fr-FR" dirty="0" err="1"/>
              <a:t>accuracy</a:t>
            </a:r>
            <a:r>
              <a:rPr lang="fr-FR" dirty="0"/>
              <a:t> — bonnes interactions globales mais manque de localité. </a:t>
            </a:r>
          </a:p>
          <a:p>
            <a:endParaRPr lang="fr-FR" dirty="0"/>
          </a:p>
          <a:p>
            <a:r>
              <a:rPr lang="fr-FR" dirty="0"/>
              <a:t>Le </a:t>
            </a:r>
            <a:r>
              <a:rPr lang="fr-FR" dirty="0" err="1"/>
              <a:t>BiLSTM</a:t>
            </a:r>
            <a:r>
              <a:rPr lang="fr-FR" dirty="0"/>
              <a:t> seul atteint 85.43%, avec la meilleure capture temporelle.</a:t>
            </a:r>
          </a:p>
          <a:p>
            <a:endParaRPr lang="fr-FR" dirty="0"/>
          </a:p>
          <a:p>
            <a:r>
              <a:rPr lang="fr-FR" dirty="0"/>
              <a:t> Le CNN seul atteint 84.43%, efficace pour l'extraction locale. Le modèle complet CCP-Net obtient 85.20% d'</a:t>
            </a:r>
            <a:r>
              <a:rPr lang="fr-FR" dirty="0" err="1"/>
              <a:t>accuracy</a:t>
            </a:r>
            <a:r>
              <a:rPr lang="fr-FR" dirty="0"/>
              <a:t> et 72.18% de F1-score, ce qui représente le meilleur compromis global entre les trois dimensions : globale, temporelle et locale."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520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</a:t>
            </a:r>
            <a:r>
              <a:rPr lang="fr-FR" baseline="0" dirty="0"/>
              <a:t> conclure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0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reproduit et évalué l'architecture hybride CCP-Net pour la prédiction du </a:t>
            </a:r>
            <a:r>
              <a:rPr lang="fr-FR" dirty="0" err="1"/>
              <a:t>churn</a:t>
            </a:r>
            <a:r>
              <a:rPr lang="fr-FR" dirty="0"/>
              <a:t>, en combinant Multi-Head Self-Attention, </a:t>
            </a:r>
            <a:r>
              <a:rPr lang="fr-FR" dirty="0" err="1"/>
              <a:t>BiLSTM</a:t>
            </a:r>
            <a:r>
              <a:rPr lang="fr-FR" dirty="0"/>
              <a:t> et CNN pour exploiter simultanément les informations globales, temporelles et locales. </a:t>
            </a:r>
          </a:p>
          <a:p>
            <a:endParaRPr lang="fr-FR" dirty="0"/>
          </a:p>
          <a:p>
            <a:r>
              <a:rPr lang="fr-FR" dirty="0"/>
              <a:t>L'utilisation d'ADASYN a permis d'améliorer l'équilibrage des classes et de renforcer la robustesse du modèle. Nos résultats montrent que CCP-Net surpasse plusieurs méthodes classiques de Machine Learning et de </a:t>
            </a:r>
            <a:r>
              <a:rPr lang="fr-FR" dirty="0" err="1"/>
              <a:t>Deep</a:t>
            </a:r>
            <a:r>
              <a:rPr lang="fr-FR" dirty="0"/>
              <a:t> Learning sur les quatre secteurs testés.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063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.Et merci pour votre attention.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D3634-63EF-4259-9182-D52BEC8D935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3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1">
                <a:solidFill>
                  <a:srgbClr val="1D3A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‹N°›</a:t>
            </a:fld>
            <a:endParaRPr spc="1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1">
                <a:solidFill>
                  <a:srgbClr val="1D3A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‹N°›</a:t>
            </a:fld>
            <a:endParaRPr spc="1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42" y="7202060"/>
            <a:ext cx="7242809" cy="3085465"/>
          </a:xfrm>
          <a:custGeom>
            <a:avLst/>
            <a:gdLst/>
            <a:ahLst/>
            <a:cxnLst/>
            <a:rect l="l" t="t" r="r" b="b"/>
            <a:pathLst>
              <a:path w="7242809" h="3085465">
                <a:moveTo>
                  <a:pt x="7242249" y="3084883"/>
                </a:moveTo>
                <a:lnTo>
                  <a:pt x="0" y="3084883"/>
                </a:lnTo>
                <a:lnTo>
                  <a:pt x="0" y="2975411"/>
                </a:lnTo>
                <a:lnTo>
                  <a:pt x="2976266" y="0"/>
                </a:lnTo>
                <a:lnTo>
                  <a:pt x="2976266" y="622621"/>
                </a:lnTo>
                <a:lnTo>
                  <a:pt x="7242249" y="3084883"/>
                </a:lnTo>
                <a:close/>
              </a:path>
            </a:pathLst>
          </a:custGeom>
          <a:solidFill>
            <a:srgbClr val="615D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242" y="7201204"/>
            <a:ext cx="2977515" cy="3086100"/>
          </a:xfrm>
          <a:custGeom>
            <a:avLst/>
            <a:gdLst/>
            <a:ahLst/>
            <a:cxnLst/>
            <a:rect l="l" t="t" r="r" b="b"/>
            <a:pathLst>
              <a:path w="2977515" h="3086100">
                <a:moveTo>
                  <a:pt x="521701" y="3085738"/>
                </a:moveTo>
                <a:lnTo>
                  <a:pt x="0" y="3085738"/>
                </a:lnTo>
                <a:lnTo>
                  <a:pt x="0" y="2976267"/>
                </a:lnTo>
                <a:lnTo>
                  <a:pt x="2977122" y="0"/>
                </a:lnTo>
                <a:lnTo>
                  <a:pt x="2977122" y="623476"/>
                </a:lnTo>
                <a:lnTo>
                  <a:pt x="521701" y="3085738"/>
                </a:lnTo>
                <a:close/>
              </a:path>
            </a:pathLst>
          </a:custGeom>
          <a:solidFill>
            <a:srgbClr val="8281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242" y="7182389"/>
            <a:ext cx="1902460" cy="2995295"/>
          </a:xfrm>
          <a:custGeom>
            <a:avLst/>
            <a:gdLst/>
            <a:ahLst/>
            <a:cxnLst/>
            <a:rect l="l" t="t" r="r" b="b"/>
            <a:pathLst>
              <a:path w="1902460" h="2995295">
                <a:moveTo>
                  <a:pt x="0" y="2995082"/>
                </a:moveTo>
                <a:lnTo>
                  <a:pt x="0" y="0"/>
                </a:lnTo>
                <a:lnTo>
                  <a:pt x="1902074" y="1093008"/>
                </a:lnTo>
                <a:lnTo>
                  <a:pt x="0" y="2995082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178443" y="6389550"/>
            <a:ext cx="1022350" cy="1354455"/>
          </a:xfrm>
          <a:custGeom>
            <a:avLst/>
            <a:gdLst/>
            <a:ahLst/>
            <a:cxnLst/>
            <a:rect l="l" t="t" r="r" b="b"/>
            <a:pathLst>
              <a:path w="1022350" h="1354454">
                <a:moveTo>
                  <a:pt x="947683" y="1354072"/>
                </a:moveTo>
                <a:lnTo>
                  <a:pt x="69844" y="1354072"/>
                </a:lnTo>
                <a:lnTo>
                  <a:pt x="0" y="1277291"/>
                </a:lnTo>
                <a:lnTo>
                  <a:pt x="0" y="82760"/>
                </a:lnTo>
                <a:lnTo>
                  <a:pt x="69844" y="0"/>
                </a:lnTo>
                <a:lnTo>
                  <a:pt x="741977" y="0"/>
                </a:lnTo>
                <a:lnTo>
                  <a:pt x="741977" y="294925"/>
                </a:lnTo>
                <a:lnTo>
                  <a:pt x="1021833" y="294925"/>
                </a:lnTo>
                <a:lnTo>
                  <a:pt x="1021833" y="617596"/>
                </a:lnTo>
                <a:lnTo>
                  <a:pt x="991590" y="584064"/>
                </a:lnTo>
                <a:lnTo>
                  <a:pt x="956728" y="555362"/>
                </a:lnTo>
                <a:lnTo>
                  <a:pt x="917814" y="532055"/>
                </a:lnTo>
                <a:lnTo>
                  <a:pt x="875411" y="514708"/>
                </a:lnTo>
                <a:lnTo>
                  <a:pt x="830085" y="503886"/>
                </a:lnTo>
                <a:lnTo>
                  <a:pt x="782401" y="500153"/>
                </a:lnTo>
                <a:lnTo>
                  <a:pt x="733150" y="504131"/>
                </a:lnTo>
                <a:lnTo>
                  <a:pt x="686421" y="515648"/>
                </a:lnTo>
                <a:lnTo>
                  <a:pt x="642841" y="534078"/>
                </a:lnTo>
                <a:lnTo>
                  <a:pt x="603036" y="558791"/>
                </a:lnTo>
                <a:lnTo>
                  <a:pt x="567635" y="589162"/>
                </a:lnTo>
                <a:lnTo>
                  <a:pt x="537264" y="624564"/>
                </a:lnTo>
                <a:lnTo>
                  <a:pt x="512550" y="664368"/>
                </a:lnTo>
                <a:lnTo>
                  <a:pt x="494121" y="707948"/>
                </a:lnTo>
                <a:lnTo>
                  <a:pt x="482604" y="754677"/>
                </a:lnTo>
                <a:lnTo>
                  <a:pt x="478625" y="803928"/>
                </a:lnTo>
                <a:lnTo>
                  <a:pt x="482597" y="853179"/>
                </a:lnTo>
                <a:lnTo>
                  <a:pt x="494098" y="899908"/>
                </a:lnTo>
                <a:lnTo>
                  <a:pt x="512505" y="943488"/>
                </a:lnTo>
                <a:lnTo>
                  <a:pt x="537195" y="983292"/>
                </a:lnTo>
                <a:lnTo>
                  <a:pt x="567545" y="1018694"/>
                </a:lnTo>
                <a:lnTo>
                  <a:pt x="602933" y="1049065"/>
                </a:lnTo>
                <a:lnTo>
                  <a:pt x="642735" y="1073778"/>
                </a:lnTo>
                <a:lnTo>
                  <a:pt x="686329" y="1092208"/>
                </a:lnTo>
                <a:lnTo>
                  <a:pt x="733092" y="1103725"/>
                </a:lnTo>
                <a:lnTo>
                  <a:pt x="782401" y="1107704"/>
                </a:lnTo>
                <a:lnTo>
                  <a:pt x="827440" y="1104373"/>
                </a:lnTo>
                <a:lnTo>
                  <a:pt x="870394" y="1094697"/>
                </a:lnTo>
                <a:lnTo>
                  <a:pt x="910791" y="1079146"/>
                </a:lnTo>
                <a:lnTo>
                  <a:pt x="948162" y="1058191"/>
                </a:lnTo>
                <a:lnTo>
                  <a:pt x="1022072" y="1141908"/>
                </a:lnTo>
                <a:lnTo>
                  <a:pt x="1022072" y="1283750"/>
                </a:lnTo>
                <a:lnTo>
                  <a:pt x="947683" y="1354072"/>
                </a:lnTo>
                <a:close/>
              </a:path>
            </a:pathLst>
          </a:custGeom>
          <a:solidFill>
            <a:srgbClr val="CBC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53563" y="6380708"/>
            <a:ext cx="1379220" cy="1393825"/>
          </a:xfrm>
          <a:custGeom>
            <a:avLst/>
            <a:gdLst/>
            <a:ahLst/>
            <a:cxnLst/>
            <a:rect l="l" t="t" r="r" b="b"/>
            <a:pathLst>
              <a:path w="1379220" h="1393825">
                <a:moveTo>
                  <a:pt x="560425" y="442264"/>
                </a:moveTo>
                <a:lnTo>
                  <a:pt x="558546" y="432981"/>
                </a:lnTo>
                <a:lnTo>
                  <a:pt x="553402" y="425373"/>
                </a:lnTo>
                <a:lnTo>
                  <a:pt x="545795" y="420230"/>
                </a:lnTo>
                <a:lnTo>
                  <a:pt x="536511" y="418350"/>
                </a:lnTo>
                <a:lnTo>
                  <a:pt x="212877" y="418350"/>
                </a:lnTo>
                <a:lnTo>
                  <a:pt x="203593" y="420230"/>
                </a:lnTo>
                <a:lnTo>
                  <a:pt x="195986" y="425373"/>
                </a:lnTo>
                <a:lnTo>
                  <a:pt x="190842" y="432981"/>
                </a:lnTo>
                <a:lnTo>
                  <a:pt x="188963" y="442264"/>
                </a:lnTo>
                <a:lnTo>
                  <a:pt x="190842" y="451548"/>
                </a:lnTo>
                <a:lnTo>
                  <a:pt x="195986" y="459155"/>
                </a:lnTo>
                <a:lnTo>
                  <a:pt x="203593" y="464299"/>
                </a:lnTo>
                <a:lnTo>
                  <a:pt x="212877" y="466191"/>
                </a:lnTo>
                <a:lnTo>
                  <a:pt x="536511" y="466191"/>
                </a:lnTo>
                <a:lnTo>
                  <a:pt x="545795" y="464299"/>
                </a:lnTo>
                <a:lnTo>
                  <a:pt x="553402" y="459155"/>
                </a:lnTo>
                <a:lnTo>
                  <a:pt x="558546" y="451548"/>
                </a:lnTo>
                <a:lnTo>
                  <a:pt x="560425" y="442264"/>
                </a:lnTo>
                <a:close/>
              </a:path>
              <a:path w="1379220" h="1393825">
                <a:moveTo>
                  <a:pt x="1378864" y="1280007"/>
                </a:moveTo>
                <a:lnTo>
                  <a:pt x="1347609" y="1212951"/>
                </a:lnTo>
                <a:lnTo>
                  <a:pt x="1339240" y="1205534"/>
                </a:lnTo>
                <a:lnTo>
                  <a:pt x="1330452" y="1198194"/>
                </a:lnTo>
                <a:lnTo>
                  <a:pt x="1330452" y="1284528"/>
                </a:lnTo>
                <a:lnTo>
                  <a:pt x="1326946" y="1308392"/>
                </a:lnTo>
                <a:lnTo>
                  <a:pt x="1313408" y="1329436"/>
                </a:lnTo>
                <a:lnTo>
                  <a:pt x="1292847" y="1342771"/>
                </a:lnTo>
                <a:lnTo>
                  <a:pt x="1268882" y="1346301"/>
                </a:lnTo>
                <a:lnTo>
                  <a:pt x="1245425" y="1340129"/>
                </a:lnTo>
                <a:lnTo>
                  <a:pt x="1226337" y="1324406"/>
                </a:lnTo>
                <a:lnTo>
                  <a:pt x="1135570" y="1215821"/>
                </a:lnTo>
                <a:lnTo>
                  <a:pt x="1027798" y="1086891"/>
                </a:lnTo>
                <a:lnTo>
                  <a:pt x="1027607" y="1086650"/>
                </a:lnTo>
                <a:lnTo>
                  <a:pt x="1004608" y="1059141"/>
                </a:lnTo>
                <a:lnTo>
                  <a:pt x="1012888" y="1051547"/>
                </a:lnTo>
                <a:lnTo>
                  <a:pt x="1024521" y="1040155"/>
                </a:lnTo>
                <a:lnTo>
                  <a:pt x="1035888" y="1028636"/>
                </a:lnTo>
                <a:lnTo>
                  <a:pt x="1043355" y="1020635"/>
                </a:lnTo>
                <a:lnTo>
                  <a:pt x="1308379" y="1242123"/>
                </a:lnTo>
                <a:lnTo>
                  <a:pt x="1324178" y="1261287"/>
                </a:lnTo>
                <a:lnTo>
                  <a:pt x="1330452" y="1284528"/>
                </a:lnTo>
                <a:lnTo>
                  <a:pt x="1330452" y="1198194"/>
                </a:lnTo>
                <a:lnTo>
                  <a:pt x="1117993" y="1020635"/>
                </a:lnTo>
                <a:lnTo>
                  <a:pt x="1071346" y="981646"/>
                </a:lnTo>
                <a:lnTo>
                  <a:pt x="1094587" y="936244"/>
                </a:lnTo>
                <a:lnTo>
                  <a:pt x="1110170" y="888428"/>
                </a:lnTo>
                <a:lnTo>
                  <a:pt x="1118120" y="839152"/>
                </a:lnTo>
                <a:lnTo>
                  <a:pt x="1118133" y="835812"/>
                </a:lnTo>
                <a:lnTo>
                  <a:pt x="1118400" y="789381"/>
                </a:lnTo>
                <a:lnTo>
                  <a:pt x="1118349" y="789076"/>
                </a:lnTo>
                <a:lnTo>
                  <a:pt x="1111021" y="740041"/>
                </a:lnTo>
                <a:lnTo>
                  <a:pt x="1095971" y="692111"/>
                </a:lnTo>
                <a:lnTo>
                  <a:pt x="1073264" y="646531"/>
                </a:lnTo>
                <a:lnTo>
                  <a:pt x="1073264" y="585063"/>
                </a:lnTo>
                <a:lnTo>
                  <a:pt x="1073264" y="302094"/>
                </a:lnTo>
                <a:lnTo>
                  <a:pt x="1072781" y="301383"/>
                </a:lnTo>
                <a:lnTo>
                  <a:pt x="1072781" y="299948"/>
                </a:lnTo>
                <a:lnTo>
                  <a:pt x="1072540" y="299224"/>
                </a:lnTo>
                <a:lnTo>
                  <a:pt x="1072540" y="298983"/>
                </a:lnTo>
                <a:lnTo>
                  <a:pt x="1072057" y="296202"/>
                </a:lnTo>
                <a:lnTo>
                  <a:pt x="1072057" y="812533"/>
                </a:lnTo>
                <a:lnTo>
                  <a:pt x="1072032" y="812800"/>
                </a:lnTo>
                <a:lnTo>
                  <a:pt x="1066673" y="866419"/>
                </a:lnTo>
                <a:lnTo>
                  <a:pt x="1051166" y="917486"/>
                </a:lnTo>
                <a:lnTo>
                  <a:pt x="1026007" y="964501"/>
                </a:lnTo>
                <a:lnTo>
                  <a:pt x="991692" y="1006284"/>
                </a:lnTo>
                <a:lnTo>
                  <a:pt x="949921" y="1040638"/>
                </a:lnTo>
                <a:lnTo>
                  <a:pt x="902893" y="1065847"/>
                </a:lnTo>
                <a:lnTo>
                  <a:pt x="851827" y="1081366"/>
                </a:lnTo>
                <a:lnTo>
                  <a:pt x="797941" y="1086650"/>
                </a:lnTo>
                <a:lnTo>
                  <a:pt x="743712" y="1081366"/>
                </a:lnTo>
                <a:lnTo>
                  <a:pt x="743953" y="1081366"/>
                </a:lnTo>
                <a:lnTo>
                  <a:pt x="692708" y="1065847"/>
                </a:lnTo>
                <a:lnTo>
                  <a:pt x="692835" y="1065847"/>
                </a:lnTo>
                <a:lnTo>
                  <a:pt x="645858" y="1040638"/>
                </a:lnTo>
                <a:lnTo>
                  <a:pt x="604202" y="1006284"/>
                </a:lnTo>
                <a:lnTo>
                  <a:pt x="572516" y="968349"/>
                </a:lnTo>
                <a:lnTo>
                  <a:pt x="548754" y="926553"/>
                </a:lnTo>
                <a:lnTo>
                  <a:pt x="532917" y="882015"/>
                </a:lnTo>
                <a:lnTo>
                  <a:pt x="525005" y="835812"/>
                </a:lnTo>
                <a:lnTo>
                  <a:pt x="525005" y="789076"/>
                </a:lnTo>
                <a:lnTo>
                  <a:pt x="532917" y="742911"/>
                </a:lnTo>
                <a:lnTo>
                  <a:pt x="548754" y="698398"/>
                </a:lnTo>
                <a:lnTo>
                  <a:pt x="572516" y="656653"/>
                </a:lnTo>
                <a:lnTo>
                  <a:pt x="604202" y="618794"/>
                </a:lnTo>
                <a:lnTo>
                  <a:pt x="645680" y="584669"/>
                </a:lnTo>
                <a:lnTo>
                  <a:pt x="693166" y="559142"/>
                </a:lnTo>
                <a:lnTo>
                  <a:pt x="693293" y="559142"/>
                </a:lnTo>
                <a:lnTo>
                  <a:pt x="744169" y="543687"/>
                </a:lnTo>
                <a:lnTo>
                  <a:pt x="744397" y="543687"/>
                </a:lnTo>
                <a:lnTo>
                  <a:pt x="797941" y="538416"/>
                </a:lnTo>
                <a:lnTo>
                  <a:pt x="851827" y="543687"/>
                </a:lnTo>
                <a:lnTo>
                  <a:pt x="902893" y="559142"/>
                </a:lnTo>
                <a:lnTo>
                  <a:pt x="949921" y="584339"/>
                </a:lnTo>
                <a:lnTo>
                  <a:pt x="991692" y="618794"/>
                </a:lnTo>
                <a:lnTo>
                  <a:pt x="1026045" y="660666"/>
                </a:lnTo>
                <a:lnTo>
                  <a:pt x="1051255" y="707682"/>
                </a:lnTo>
                <a:lnTo>
                  <a:pt x="1066774" y="758685"/>
                </a:lnTo>
                <a:lnTo>
                  <a:pt x="1072057" y="812533"/>
                </a:lnTo>
                <a:lnTo>
                  <a:pt x="1072057" y="296202"/>
                </a:lnTo>
                <a:lnTo>
                  <a:pt x="1071587" y="293484"/>
                </a:lnTo>
                <a:lnTo>
                  <a:pt x="1069428" y="288467"/>
                </a:lnTo>
                <a:lnTo>
                  <a:pt x="1065364" y="284873"/>
                </a:lnTo>
                <a:lnTo>
                  <a:pt x="1059395" y="278892"/>
                </a:lnTo>
                <a:lnTo>
                  <a:pt x="1025423" y="244894"/>
                </a:lnTo>
                <a:lnTo>
                  <a:pt x="1025423" y="326732"/>
                </a:lnTo>
                <a:lnTo>
                  <a:pt x="1025423" y="585063"/>
                </a:lnTo>
                <a:lnTo>
                  <a:pt x="986675" y="551929"/>
                </a:lnTo>
                <a:lnTo>
                  <a:pt x="964653" y="538416"/>
                </a:lnTo>
                <a:lnTo>
                  <a:pt x="943838" y="525640"/>
                </a:lnTo>
                <a:lnTo>
                  <a:pt x="897610" y="506501"/>
                </a:lnTo>
                <a:lnTo>
                  <a:pt x="848741" y="494792"/>
                </a:lnTo>
                <a:lnTo>
                  <a:pt x="797941" y="490816"/>
                </a:lnTo>
                <a:lnTo>
                  <a:pt x="749249" y="494474"/>
                </a:lnTo>
                <a:lnTo>
                  <a:pt x="702335" y="505269"/>
                </a:lnTo>
                <a:lnTo>
                  <a:pt x="657796" y="522909"/>
                </a:lnTo>
                <a:lnTo>
                  <a:pt x="616267" y="547128"/>
                </a:lnTo>
                <a:lnTo>
                  <a:pt x="578370" y="577646"/>
                </a:lnTo>
                <a:lnTo>
                  <a:pt x="212877" y="577646"/>
                </a:lnTo>
                <a:lnTo>
                  <a:pt x="203593" y="579539"/>
                </a:lnTo>
                <a:lnTo>
                  <a:pt x="195986" y="584669"/>
                </a:lnTo>
                <a:lnTo>
                  <a:pt x="190842" y="592277"/>
                </a:lnTo>
                <a:lnTo>
                  <a:pt x="188963" y="601573"/>
                </a:lnTo>
                <a:lnTo>
                  <a:pt x="190842" y="610857"/>
                </a:lnTo>
                <a:lnTo>
                  <a:pt x="195986" y="618464"/>
                </a:lnTo>
                <a:lnTo>
                  <a:pt x="203593" y="623595"/>
                </a:lnTo>
                <a:lnTo>
                  <a:pt x="212877" y="625487"/>
                </a:lnTo>
                <a:lnTo>
                  <a:pt x="536511" y="625487"/>
                </a:lnTo>
                <a:lnTo>
                  <a:pt x="519595" y="651789"/>
                </a:lnTo>
                <a:lnTo>
                  <a:pt x="505472" y="679246"/>
                </a:lnTo>
                <a:lnTo>
                  <a:pt x="494131" y="707682"/>
                </a:lnTo>
                <a:lnTo>
                  <a:pt x="485559" y="736955"/>
                </a:lnTo>
                <a:lnTo>
                  <a:pt x="212877" y="736955"/>
                </a:lnTo>
                <a:lnTo>
                  <a:pt x="203593" y="738835"/>
                </a:lnTo>
                <a:lnTo>
                  <a:pt x="195986" y="743978"/>
                </a:lnTo>
                <a:lnTo>
                  <a:pt x="190842" y="751586"/>
                </a:lnTo>
                <a:lnTo>
                  <a:pt x="188963" y="760869"/>
                </a:lnTo>
                <a:lnTo>
                  <a:pt x="190842" y="770153"/>
                </a:lnTo>
                <a:lnTo>
                  <a:pt x="195986" y="777760"/>
                </a:lnTo>
                <a:lnTo>
                  <a:pt x="203593" y="782904"/>
                </a:lnTo>
                <a:lnTo>
                  <a:pt x="212877" y="784796"/>
                </a:lnTo>
                <a:lnTo>
                  <a:pt x="477431" y="784796"/>
                </a:lnTo>
                <a:lnTo>
                  <a:pt x="476300" y="812800"/>
                </a:lnTo>
                <a:lnTo>
                  <a:pt x="477583" y="840765"/>
                </a:lnTo>
                <a:lnTo>
                  <a:pt x="481228" y="868540"/>
                </a:lnTo>
                <a:lnTo>
                  <a:pt x="487235" y="896010"/>
                </a:lnTo>
                <a:lnTo>
                  <a:pt x="212877" y="896010"/>
                </a:lnTo>
                <a:lnTo>
                  <a:pt x="203593" y="897902"/>
                </a:lnTo>
                <a:lnTo>
                  <a:pt x="195986" y="903046"/>
                </a:lnTo>
                <a:lnTo>
                  <a:pt x="190842" y="910653"/>
                </a:lnTo>
                <a:lnTo>
                  <a:pt x="188963" y="919937"/>
                </a:lnTo>
                <a:lnTo>
                  <a:pt x="190842" y="929220"/>
                </a:lnTo>
                <a:lnTo>
                  <a:pt x="195986" y="936828"/>
                </a:lnTo>
                <a:lnTo>
                  <a:pt x="203593" y="941971"/>
                </a:lnTo>
                <a:lnTo>
                  <a:pt x="212877" y="943851"/>
                </a:lnTo>
                <a:lnTo>
                  <a:pt x="504456" y="943851"/>
                </a:lnTo>
                <a:lnTo>
                  <a:pt x="517296" y="969606"/>
                </a:lnTo>
                <a:lnTo>
                  <a:pt x="550240" y="1017993"/>
                </a:lnTo>
                <a:lnTo>
                  <a:pt x="581482" y="1050531"/>
                </a:lnTo>
                <a:lnTo>
                  <a:pt x="587222" y="1055319"/>
                </a:lnTo>
                <a:lnTo>
                  <a:pt x="212877" y="1055319"/>
                </a:lnTo>
                <a:lnTo>
                  <a:pt x="203593" y="1057211"/>
                </a:lnTo>
                <a:lnTo>
                  <a:pt x="195986" y="1062342"/>
                </a:lnTo>
                <a:lnTo>
                  <a:pt x="190842" y="1069949"/>
                </a:lnTo>
                <a:lnTo>
                  <a:pt x="188963" y="1079233"/>
                </a:lnTo>
                <a:lnTo>
                  <a:pt x="190842" y="1088529"/>
                </a:lnTo>
                <a:lnTo>
                  <a:pt x="195986" y="1096137"/>
                </a:lnTo>
                <a:lnTo>
                  <a:pt x="203593" y="1101267"/>
                </a:lnTo>
                <a:lnTo>
                  <a:pt x="212877" y="1103160"/>
                </a:lnTo>
                <a:lnTo>
                  <a:pt x="660171" y="1103160"/>
                </a:lnTo>
                <a:lnTo>
                  <a:pt x="693407" y="1116698"/>
                </a:lnTo>
                <a:lnTo>
                  <a:pt x="727621" y="1126413"/>
                </a:lnTo>
                <a:lnTo>
                  <a:pt x="762558" y="1132281"/>
                </a:lnTo>
                <a:lnTo>
                  <a:pt x="797941" y="1134249"/>
                </a:lnTo>
                <a:lnTo>
                  <a:pt x="841540" y="1131265"/>
                </a:lnTo>
                <a:lnTo>
                  <a:pt x="884389" y="1122324"/>
                </a:lnTo>
                <a:lnTo>
                  <a:pt x="925931" y="1107516"/>
                </a:lnTo>
                <a:lnTo>
                  <a:pt x="965619" y="1086891"/>
                </a:lnTo>
                <a:lnTo>
                  <a:pt x="1025423" y="1158405"/>
                </a:lnTo>
                <a:lnTo>
                  <a:pt x="1025423" y="1267726"/>
                </a:lnTo>
                <a:lnTo>
                  <a:pt x="1019759" y="1295590"/>
                </a:lnTo>
                <a:lnTo>
                  <a:pt x="1004341" y="1318399"/>
                </a:lnTo>
                <a:lnTo>
                  <a:pt x="981519" y="1333817"/>
                </a:lnTo>
                <a:lnTo>
                  <a:pt x="953655" y="1339481"/>
                </a:lnTo>
                <a:lnTo>
                  <a:pt x="119595" y="1339481"/>
                </a:lnTo>
                <a:lnTo>
                  <a:pt x="91732" y="1333817"/>
                </a:lnTo>
                <a:lnTo>
                  <a:pt x="68910" y="1318399"/>
                </a:lnTo>
                <a:lnTo>
                  <a:pt x="53505" y="1295590"/>
                </a:lnTo>
                <a:lnTo>
                  <a:pt x="47840" y="1267726"/>
                </a:lnTo>
                <a:lnTo>
                  <a:pt x="47840" y="119595"/>
                </a:lnTo>
                <a:lnTo>
                  <a:pt x="53505" y="91732"/>
                </a:lnTo>
                <a:lnTo>
                  <a:pt x="68910" y="68910"/>
                </a:lnTo>
                <a:lnTo>
                  <a:pt x="91732" y="53505"/>
                </a:lnTo>
                <a:lnTo>
                  <a:pt x="119595" y="47840"/>
                </a:lnTo>
                <a:lnTo>
                  <a:pt x="746518" y="47840"/>
                </a:lnTo>
                <a:lnTo>
                  <a:pt x="746518" y="302818"/>
                </a:lnTo>
                <a:lnTo>
                  <a:pt x="748411" y="312102"/>
                </a:lnTo>
                <a:lnTo>
                  <a:pt x="753541" y="319709"/>
                </a:lnTo>
                <a:lnTo>
                  <a:pt x="761149" y="324853"/>
                </a:lnTo>
                <a:lnTo>
                  <a:pt x="770445" y="326732"/>
                </a:lnTo>
                <a:lnTo>
                  <a:pt x="1025423" y="326732"/>
                </a:lnTo>
                <a:lnTo>
                  <a:pt x="1025423" y="244894"/>
                </a:lnTo>
                <a:lnTo>
                  <a:pt x="991450" y="210896"/>
                </a:lnTo>
                <a:lnTo>
                  <a:pt x="991450" y="278892"/>
                </a:lnTo>
                <a:lnTo>
                  <a:pt x="794359" y="278892"/>
                </a:lnTo>
                <a:lnTo>
                  <a:pt x="794359" y="81559"/>
                </a:lnTo>
                <a:lnTo>
                  <a:pt x="991450" y="278892"/>
                </a:lnTo>
                <a:lnTo>
                  <a:pt x="991450" y="210896"/>
                </a:lnTo>
                <a:lnTo>
                  <a:pt x="862228" y="81559"/>
                </a:lnTo>
                <a:lnTo>
                  <a:pt x="828522" y="47840"/>
                </a:lnTo>
                <a:lnTo>
                  <a:pt x="787666" y="6934"/>
                </a:lnTo>
                <a:lnTo>
                  <a:pt x="783120" y="2628"/>
                </a:lnTo>
                <a:lnTo>
                  <a:pt x="776897" y="0"/>
                </a:lnTo>
                <a:lnTo>
                  <a:pt x="119595" y="0"/>
                </a:lnTo>
                <a:lnTo>
                  <a:pt x="73050" y="9398"/>
                </a:lnTo>
                <a:lnTo>
                  <a:pt x="35039" y="35039"/>
                </a:lnTo>
                <a:lnTo>
                  <a:pt x="9398" y="73050"/>
                </a:lnTo>
                <a:lnTo>
                  <a:pt x="0" y="119595"/>
                </a:lnTo>
                <a:lnTo>
                  <a:pt x="0" y="1267726"/>
                </a:lnTo>
                <a:lnTo>
                  <a:pt x="9398" y="1314259"/>
                </a:lnTo>
                <a:lnTo>
                  <a:pt x="35039" y="1352283"/>
                </a:lnTo>
                <a:lnTo>
                  <a:pt x="73050" y="1377911"/>
                </a:lnTo>
                <a:lnTo>
                  <a:pt x="119595" y="1387322"/>
                </a:lnTo>
                <a:lnTo>
                  <a:pt x="953655" y="1387322"/>
                </a:lnTo>
                <a:lnTo>
                  <a:pt x="1000201" y="1377911"/>
                </a:lnTo>
                <a:lnTo>
                  <a:pt x="1038212" y="1352283"/>
                </a:lnTo>
                <a:lnTo>
                  <a:pt x="1063853" y="1314259"/>
                </a:lnTo>
                <a:lnTo>
                  <a:pt x="1073264" y="1267726"/>
                </a:lnTo>
                <a:lnTo>
                  <a:pt x="1073264" y="1215821"/>
                </a:lnTo>
                <a:lnTo>
                  <a:pt x="1189507" y="1354785"/>
                </a:lnTo>
                <a:lnTo>
                  <a:pt x="1220177" y="1380832"/>
                </a:lnTo>
                <a:lnTo>
                  <a:pt x="1252740" y="1393240"/>
                </a:lnTo>
                <a:lnTo>
                  <a:pt x="1285278" y="1393786"/>
                </a:lnTo>
                <a:lnTo>
                  <a:pt x="1315808" y="1384223"/>
                </a:lnTo>
                <a:lnTo>
                  <a:pt x="1342377" y="1366304"/>
                </a:lnTo>
                <a:lnTo>
                  <a:pt x="1359242" y="1346301"/>
                </a:lnTo>
                <a:lnTo>
                  <a:pt x="1363052" y="1341780"/>
                </a:lnTo>
                <a:lnTo>
                  <a:pt x="1375867" y="1312430"/>
                </a:lnTo>
                <a:lnTo>
                  <a:pt x="1378864" y="1280007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1">
                <a:solidFill>
                  <a:srgbClr val="1D3A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2896984" y="2965633"/>
            <a:ext cx="4171950" cy="6101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‹N°›</a:t>
            </a:fld>
            <a:endParaRPr spc="1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3248005" cy="10287000"/>
          </a:xfrm>
          <a:custGeom>
            <a:avLst/>
            <a:gdLst/>
            <a:ahLst/>
            <a:cxnLst/>
            <a:rect l="l" t="t" r="r" b="b"/>
            <a:pathLst>
              <a:path w="13248005" h="10287000">
                <a:moveTo>
                  <a:pt x="13173244" y="5668901"/>
                </a:moveTo>
                <a:lnTo>
                  <a:pt x="8555144" y="10287000"/>
                </a:lnTo>
                <a:lnTo>
                  <a:pt x="5663131" y="10287000"/>
                </a:lnTo>
                <a:lnTo>
                  <a:pt x="83722" y="4707592"/>
                </a:lnTo>
                <a:lnTo>
                  <a:pt x="51453" y="4671961"/>
                </a:lnTo>
                <a:lnTo>
                  <a:pt x="23058" y="4633605"/>
                </a:lnTo>
                <a:lnTo>
                  <a:pt x="0" y="4595067"/>
                </a:lnTo>
                <a:lnTo>
                  <a:pt x="0" y="4133127"/>
                </a:lnTo>
                <a:lnTo>
                  <a:pt x="23058" y="4094588"/>
                </a:lnTo>
                <a:lnTo>
                  <a:pt x="51453" y="4056233"/>
                </a:lnTo>
                <a:lnTo>
                  <a:pt x="83722" y="4020602"/>
                </a:lnTo>
                <a:lnTo>
                  <a:pt x="4104324" y="0"/>
                </a:lnTo>
                <a:lnTo>
                  <a:pt x="8036809" y="0"/>
                </a:lnTo>
                <a:lnTo>
                  <a:pt x="13105140" y="5068331"/>
                </a:lnTo>
                <a:lnTo>
                  <a:pt x="13137410" y="5103963"/>
                </a:lnTo>
                <a:lnTo>
                  <a:pt x="13165805" y="5142318"/>
                </a:lnTo>
                <a:lnTo>
                  <a:pt x="13190193" y="5183080"/>
                </a:lnTo>
                <a:lnTo>
                  <a:pt x="13210443" y="5225928"/>
                </a:lnTo>
                <a:lnTo>
                  <a:pt x="13226423" y="5270546"/>
                </a:lnTo>
                <a:lnTo>
                  <a:pt x="13238000" y="5316614"/>
                </a:lnTo>
                <a:lnTo>
                  <a:pt x="13245044" y="5363813"/>
                </a:lnTo>
                <a:lnTo>
                  <a:pt x="13247421" y="5411826"/>
                </a:lnTo>
                <a:lnTo>
                  <a:pt x="13245044" y="5459839"/>
                </a:lnTo>
                <a:lnTo>
                  <a:pt x="13238001" y="5507039"/>
                </a:lnTo>
                <a:lnTo>
                  <a:pt x="13226423" y="5553107"/>
                </a:lnTo>
                <a:lnTo>
                  <a:pt x="13210443" y="5597724"/>
                </a:lnTo>
                <a:lnTo>
                  <a:pt x="13190193" y="5640573"/>
                </a:lnTo>
                <a:lnTo>
                  <a:pt x="13173244" y="5668901"/>
                </a:lnTo>
                <a:close/>
              </a:path>
            </a:pathLst>
          </a:custGeom>
          <a:solidFill>
            <a:srgbClr val="615DDA">
              <a:alpha val="2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799978" y="0"/>
            <a:ext cx="15488285" cy="10287000"/>
          </a:xfrm>
          <a:custGeom>
            <a:avLst/>
            <a:gdLst/>
            <a:ahLst/>
            <a:cxnLst/>
            <a:rect l="l" t="t" r="r" b="b"/>
            <a:pathLst>
              <a:path w="15488285" h="10287000">
                <a:moveTo>
                  <a:pt x="15472275" y="6253283"/>
                </a:moveTo>
                <a:lnTo>
                  <a:pt x="11438558" y="10287000"/>
                </a:lnTo>
                <a:lnTo>
                  <a:pt x="5769410" y="10287000"/>
                </a:lnTo>
                <a:lnTo>
                  <a:pt x="142280" y="4659870"/>
                </a:lnTo>
                <a:lnTo>
                  <a:pt x="110010" y="4624239"/>
                </a:lnTo>
                <a:lnTo>
                  <a:pt x="81615" y="4585883"/>
                </a:lnTo>
                <a:lnTo>
                  <a:pt x="57227" y="4545122"/>
                </a:lnTo>
                <a:lnTo>
                  <a:pt x="36977" y="4502273"/>
                </a:lnTo>
                <a:lnTo>
                  <a:pt x="20997" y="4457656"/>
                </a:lnTo>
                <a:lnTo>
                  <a:pt x="9420" y="4411588"/>
                </a:lnTo>
                <a:lnTo>
                  <a:pt x="2377" y="4364388"/>
                </a:lnTo>
                <a:lnTo>
                  <a:pt x="0" y="4316375"/>
                </a:lnTo>
                <a:lnTo>
                  <a:pt x="2377" y="4268362"/>
                </a:lnTo>
                <a:lnTo>
                  <a:pt x="9420" y="4221162"/>
                </a:lnTo>
                <a:lnTo>
                  <a:pt x="20997" y="4175095"/>
                </a:lnTo>
                <a:lnTo>
                  <a:pt x="36977" y="4130477"/>
                </a:lnTo>
                <a:lnTo>
                  <a:pt x="57227" y="4087628"/>
                </a:lnTo>
                <a:lnTo>
                  <a:pt x="81615" y="4046867"/>
                </a:lnTo>
                <a:lnTo>
                  <a:pt x="110010" y="4008511"/>
                </a:lnTo>
                <a:lnTo>
                  <a:pt x="142280" y="3972880"/>
                </a:lnTo>
                <a:lnTo>
                  <a:pt x="4115160" y="0"/>
                </a:lnTo>
                <a:lnTo>
                  <a:pt x="9794352" y="0"/>
                </a:lnTo>
                <a:lnTo>
                  <a:pt x="15421404" y="5627052"/>
                </a:lnTo>
                <a:lnTo>
                  <a:pt x="15453674" y="5662683"/>
                </a:lnTo>
                <a:lnTo>
                  <a:pt x="15482069" y="5701038"/>
                </a:lnTo>
                <a:lnTo>
                  <a:pt x="15488022" y="5710988"/>
                </a:lnTo>
                <a:lnTo>
                  <a:pt x="15488022" y="6230103"/>
                </a:lnTo>
                <a:lnTo>
                  <a:pt x="15482068" y="6240055"/>
                </a:lnTo>
                <a:lnTo>
                  <a:pt x="15472275" y="6253283"/>
                </a:lnTo>
                <a:close/>
              </a:path>
            </a:pathLst>
          </a:custGeom>
          <a:solidFill>
            <a:srgbClr val="8281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1">
                <a:solidFill>
                  <a:srgbClr val="1D3A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‹N°›</a:t>
            </a:fld>
            <a:endParaRPr spc="1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565" y="0"/>
            <a:ext cx="17048434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909337" y="8606068"/>
            <a:ext cx="3362960" cy="1681480"/>
          </a:xfrm>
          <a:custGeom>
            <a:avLst/>
            <a:gdLst/>
            <a:ahLst/>
            <a:cxnLst/>
            <a:rect l="l" t="t" r="r" b="b"/>
            <a:pathLst>
              <a:path w="3362959" h="1681479">
                <a:moveTo>
                  <a:pt x="0" y="1680931"/>
                </a:moveTo>
                <a:lnTo>
                  <a:pt x="3362377" y="1680931"/>
                </a:lnTo>
                <a:lnTo>
                  <a:pt x="1681446" y="0"/>
                </a:lnTo>
                <a:lnTo>
                  <a:pt x="0" y="1680931"/>
                </a:lnTo>
                <a:close/>
              </a:path>
            </a:pathLst>
          </a:custGeom>
          <a:solidFill>
            <a:srgbClr val="615D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826996" y="5827455"/>
            <a:ext cx="4459605" cy="4459605"/>
          </a:xfrm>
          <a:custGeom>
            <a:avLst/>
            <a:gdLst/>
            <a:ahLst/>
            <a:cxnLst/>
            <a:rect l="l" t="t" r="r" b="b"/>
            <a:pathLst>
              <a:path w="4459605" h="4459605">
                <a:moveTo>
                  <a:pt x="0" y="4459544"/>
                </a:moveTo>
                <a:lnTo>
                  <a:pt x="1082855" y="4459544"/>
                </a:lnTo>
                <a:lnTo>
                  <a:pt x="2763786" y="2778613"/>
                </a:lnTo>
                <a:lnTo>
                  <a:pt x="2763786" y="2778092"/>
                </a:lnTo>
                <a:lnTo>
                  <a:pt x="2764306" y="2778092"/>
                </a:lnTo>
                <a:lnTo>
                  <a:pt x="4459544" y="1082855"/>
                </a:lnTo>
                <a:lnTo>
                  <a:pt x="4459544" y="0"/>
                </a:lnTo>
                <a:lnTo>
                  <a:pt x="0" y="4459544"/>
                </a:lnTo>
                <a:close/>
              </a:path>
            </a:pathLst>
          </a:custGeom>
          <a:solidFill>
            <a:srgbClr val="8281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909326" y="8605547"/>
            <a:ext cx="1938020" cy="1681480"/>
          </a:xfrm>
          <a:custGeom>
            <a:avLst/>
            <a:gdLst/>
            <a:ahLst/>
            <a:cxnLst/>
            <a:rect l="l" t="t" r="r" b="b"/>
            <a:pathLst>
              <a:path w="1938019" h="1681479">
                <a:moveTo>
                  <a:pt x="0" y="1681451"/>
                </a:moveTo>
                <a:lnTo>
                  <a:pt x="5765" y="1681451"/>
                </a:lnTo>
                <a:lnTo>
                  <a:pt x="1937867" y="256931"/>
                </a:lnTo>
                <a:lnTo>
                  <a:pt x="1680936" y="0"/>
                </a:lnTo>
                <a:lnTo>
                  <a:pt x="0" y="1681451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7037" y="736082"/>
            <a:ext cx="4114799" cy="147637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014384" y="3242812"/>
            <a:ext cx="28575" cy="3821429"/>
          </a:xfrm>
          <a:custGeom>
            <a:avLst/>
            <a:gdLst/>
            <a:ahLst/>
            <a:cxnLst/>
            <a:rect l="l" t="t" r="r" b="b"/>
            <a:pathLst>
              <a:path w="28575" h="3821429">
                <a:moveTo>
                  <a:pt x="0" y="0"/>
                </a:moveTo>
                <a:lnTo>
                  <a:pt x="28575" y="3820814"/>
                </a:lnTo>
              </a:path>
            </a:pathLst>
          </a:custGeom>
          <a:ln w="57149">
            <a:solidFill>
              <a:srgbClr val="2D3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2963" y="0"/>
            <a:ext cx="3533774" cy="3241127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9663784" y="1033008"/>
            <a:ext cx="47625" cy="28575"/>
          </a:xfrm>
          <a:custGeom>
            <a:avLst/>
            <a:gdLst/>
            <a:ahLst/>
            <a:cxnLst/>
            <a:rect l="l" t="t" r="r" b="b"/>
            <a:pathLst>
              <a:path w="47625" h="28575">
                <a:moveTo>
                  <a:pt x="47563" y="28574"/>
                </a:moveTo>
                <a:lnTo>
                  <a:pt x="0" y="28574"/>
                </a:lnTo>
                <a:lnTo>
                  <a:pt x="0" y="0"/>
                </a:lnTo>
                <a:lnTo>
                  <a:pt x="47563" y="0"/>
                </a:lnTo>
                <a:lnTo>
                  <a:pt x="47563" y="28574"/>
                </a:lnTo>
                <a:close/>
              </a:path>
            </a:pathLst>
          </a:custGeom>
          <a:solidFill>
            <a:srgbClr val="0025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‹N°›</a:t>
            </a:fld>
            <a:endParaRPr spc="1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9535" y="15875"/>
            <a:ext cx="16528929" cy="2643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1">
                <a:solidFill>
                  <a:srgbClr val="1D3A5E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9087" y="4480603"/>
            <a:ext cx="11795125" cy="3111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21200" y="9236134"/>
            <a:ext cx="38608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D3780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‹N°›</a:t>
            </a:fld>
            <a:endParaRPr spc="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91962" y="708936"/>
            <a:ext cx="5270500" cy="146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300" b="1" u="heavy" spc="8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Université</a:t>
            </a:r>
            <a:r>
              <a:rPr sz="2300" b="1" u="heavy" spc="21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300" b="1" u="heavy" spc="114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Cadi</a:t>
            </a:r>
            <a:r>
              <a:rPr sz="2300" b="1" u="heavy" spc="21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300" b="1" u="heavy" spc="-2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A</a:t>
            </a:r>
            <a:r>
              <a:rPr sz="2300" b="1" spc="-25" dirty="0">
                <a:solidFill>
                  <a:srgbClr val="002566"/>
                </a:solidFill>
                <a:latin typeface="Tahoma"/>
                <a:cs typeface="Tahoma"/>
              </a:rPr>
              <a:t>yy</a:t>
            </a:r>
            <a:r>
              <a:rPr sz="2300" b="1" u="heavy" spc="-14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300" b="1" u="heavy" spc="3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ad</a:t>
            </a:r>
            <a:endParaRPr sz="2300">
              <a:latin typeface="Tahoma"/>
              <a:cs typeface="Tahoma"/>
            </a:endParaRPr>
          </a:p>
          <a:p>
            <a:pPr marL="12700" marR="5080" algn="ctr">
              <a:lnSpc>
                <a:spcPct val="141700"/>
              </a:lnSpc>
              <a:spcBef>
                <a:spcPts val="900"/>
              </a:spcBef>
            </a:pPr>
            <a:r>
              <a:rPr sz="2250" b="1" u="heavy" spc="12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Master</a:t>
            </a:r>
            <a:r>
              <a:rPr sz="2250" b="1" u="heavy" spc="22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250" b="1" u="heavy" spc="204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Sciences</a:t>
            </a:r>
            <a:r>
              <a:rPr sz="2250" b="1" u="heavy" spc="22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250" b="1" u="heavy" spc="16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des</a:t>
            </a:r>
            <a:r>
              <a:rPr sz="2250" b="1" u="heavy" spc="22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250" b="1" u="heavy" spc="14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Données</a:t>
            </a:r>
            <a:r>
              <a:rPr sz="2250" b="1" u="heavy" spc="220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 </a:t>
            </a:r>
            <a:r>
              <a:rPr sz="2250" b="1" u="heavy" spc="5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et</a:t>
            </a:r>
            <a:r>
              <a:rPr sz="2250" b="1" spc="55" dirty="0">
                <a:solidFill>
                  <a:srgbClr val="002566"/>
                </a:solidFill>
                <a:latin typeface="Tahoma"/>
                <a:cs typeface="Tahoma"/>
              </a:rPr>
              <a:t> </a:t>
            </a:r>
            <a:r>
              <a:rPr sz="2250" b="1" u="heavy" spc="105" dirty="0">
                <a:solidFill>
                  <a:srgbClr val="002566"/>
                </a:solidFill>
                <a:uFill>
                  <a:solidFill>
                    <a:srgbClr val="002566"/>
                  </a:solidFill>
                </a:uFill>
                <a:latin typeface="Tahoma"/>
                <a:cs typeface="Tahoma"/>
              </a:rPr>
              <a:t>Analytiques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1</a:t>
            </a:fld>
            <a:endParaRPr spc="125" dirty="0"/>
          </a:p>
        </p:txBody>
      </p:sp>
      <p:sp>
        <p:nvSpPr>
          <p:cNvPr id="3" name="object 3"/>
          <p:cNvSpPr txBox="1"/>
          <p:nvPr/>
        </p:nvSpPr>
        <p:spPr>
          <a:xfrm>
            <a:off x="1658754" y="3294570"/>
            <a:ext cx="13541375" cy="3509645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8550"/>
              </a:lnSpc>
              <a:spcBef>
                <a:spcPts val="1864"/>
              </a:spcBef>
            </a:pPr>
            <a:r>
              <a:rPr sz="8600" i="1" dirty="0">
                <a:solidFill>
                  <a:srgbClr val="2D3780"/>
                </a:solidFill>
                <a:latin typeface="Cambria"/>
                <a:cs typeface="Cambria"/>
              </a:rPr>
              <a:t>CCP-</a:t>
            </a:r>
            <a:r>
              <a:rPr sz="8600" i="1" spc="-540" dirty="0">
                <a:solidFill>
                  <a:srgbClr val="2D3780"/>
                </a:solidFill>
                <a:latin typeface="Cambria"/>
                <a:cs typeface="Cambria"/>
              </a:rPr>
              <a:t>Net</a:t>
            </a:r>
            <a:r>
              <a:rPr sz="8600" i="1" spc="15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535" dirty="0">
                <a:solidFill>
                  <a:srgbClr val="2D3780"/>
                </a:solidFill>
                <a:latin typeface="Cambria"/>
                <a:cs typeface="Cambria"/>
              </a:rPr>
              <a:t>:</a:t>
            </a:r>
            <a:r>
              <a:rPr sz="8600" i="1" spc="15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605" dirty="0">
                <a:solidFill>
                  <a:srgbClr val="2D3780"/>
                </a:solidFill>
                <a:latin typeface="Cambria"/>
                <a:cs typeface="Cambria"/>
              </a:rPr>
              <a:t>Prédiction</a:t>
            </a:r>
            <a:r>
              <a:rPr sz="8600" i="1" spc="15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855" dirty="0">
                <a:solidFill>
                  <a:srgbClr val="2D3780"/>
                </a:solidFill>
                <a:latin typeface="Cambria"/>
                <a:cs typeface="Cambria"/>
              </a:rPr>
              <a:t>de</a:t>
            </a:r>
            <a:r>
              <a:rPr sz="8600" i="1" spc="15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470" dirty="0">
                <a:solidFill>
                  <a:srgbClr val="2D3780"/>
                </a:solidFill>
                <a:latin typeface="Cambria"/>
                <a:cs typeface="Cambria"/>
              </a:rPr>
              <a:t>l'Attrition </a:t>
            </a:r>
            <a:r>
              <a:rPr sz="8600" i="1" spc="-360" dirty="0">
                <a:solidFill>
                  <a:srgbClr val="2D3780"/>
                </a:solidFill>
                <a:latin typeface="Cambria"/>
                <a:cs typeface="Cambria"/>
              </a:rPr>
              <a:t>Client</a:t>
            </a:r>
            <a:r>
              <a:rPr sz="8600" i="1" spc="13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825" dirty="0">
                <a:solidFill>
                  <a:srgbClr val="2D3780"/>
                </a:solidFill>
                <a:latin typeface="Cambria"/>
                <a:cs typeface="Cambria"/>
              </a:rPr>
              <a:t>par</a:t>
            </a:r>
            <a:r>
              <a:rPr sz="8600" i="1" spc="1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595" dirty="0">
                <a:solidFill>
                  <a:srgbClr val="2D3780"/>
                </a:solidFill>
                <a:latin typeface="Cambria"/>
                <a:cs typeface="Cambria"/>
              </a:rPr>
              <a:t>Réseaux</a:t>
            </a:r>
            <a:r>
              <a:rPr sz="8600" i="1" spc="1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855" dirty="0">
                <a:solidFill>
                  <a:srgbClr val="2D3780"/>
                </a:solidFill>
                <a:latin typeface="Cambria"/>
                <a:cs typeface="Cambria"/>
              </a:rPr>
              <a:t>de</a:t>
            </a:r>
            <a:r>
              <a:rPr sz="8600" i="1" spc="1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8600" i="1" spc="-715" dirty="0">
                <a:solidFill>
                  <a:srgbClr val="2D3780"/>
                </a:solidFill>
                <a:latin typeface="Cambria"/>
                <a:cs typeface="Cambria"/>
              </a:rPr>
              <a:t>Neurones </a:t>
            </a:r>
            <a:r>
              <a:rPr sz="8600" i="1" spc="-530" dirty="0">
                <a:solidFill>
                  <a:srgbClr val="2D3780"/>
                </a:solidFill>
                <a:latin typeface="Cambria"/>
                <a:cs typeface="Cambria"/>
              </a:rPr>
              <a:t>Hybrides</a:t>
            </a:r>
            <a:endParaRPr sz="86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6583" y="7819787"/>
            <a:ext cx="2547620" cy="148717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135" dirty="0">
                <a:solidFill>
                  <a:srgbClr val="2D3780"/>
                </a:solidFill>
                <a:latin typeface="Trebuchet MS"/>
                <a:cs typeface="Trebuchet MS"/>
              </a:rPr>
              <a:t>PRÉSENTÉ</a:t>
            </a:r>
            <a:r>
              <a:rPr sz="2400" b="1" spc="3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2D3780"/>
                </a:solidFill>
                <a:latin typeface="Trebuchet MS"/>
                <a:cs typeface="Trebuchet MS"/>
              </a:rPr>
              <a:t>PAR</a:t>
            </a:r>
            <a:r>
              <a:rPr sz="2400" b="1" spc="3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213360" marR="638175" indent="-27305">
              <a:lnSpc>
                <a:spcPct val="116100"/>
              </a:lnSpc>
              <a:spcBef>
                <a:spcPts val="1080"/>
              </a:spcBef>
            </a:pPr>
            <a:r>
              <a:rPr sz="2100" dirty="0">
                <a:solidFill>
                  <a:srgbClr val="331B0D"/>
                </a:solidFill>
                <a:latin typeface="Trebuchet MS"/>
                <a:cs typeface="Trebuchet MS"/>
              </a:rPr>
              <a:t>Salma</a:t>
            </a:r>
            <a:r>
              <a:rPr sz="2100" spc="-10" dirty="0">
                <a:solidFill>
                  <a:srgbClr val="331B0D"/>
                </a:solidFill>
                <a:latin typeface="Trebuchet MS"/>
                <a:cs typeface="Trebuchet MS"/>
              </a:rPr>
              <a:t> </a:t>
            </a:r>
            <a:r>
              <a:rPr sz="2100" spc="-35" dirty="0">
                <a:solidFill>
                  <a:srgbClr val="331B0D"/>
                </a:solidFill>
                <a:latin typeface="Trebuchet MS"/>
                <a:cs typeface="Trebuchet MS"/>
              </a:rPr>
              <a:t>Belaalia </a:t>
            </a:r>
            <a:r>
              <a:rPr sz="2100" dirty="0">
                <a:solidFill>
                  <a:srgbClr val="331B0D"/>
                </a:solidFill>
                <a:latin typeface="Trebuchet MS"/>
                <a:cs typeface="Trebuchet MS"/>
              </a:rPr>
              <a:t>Sarra</a:t>
            </a:r>
            <a:r>
              <a:rPr sz="2100" spc="-30" dirty="0">
                <a:solidFill>
                  <a:srgbClr val="331B0D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331B0D"/>
                </a:solidFill>
                <a:latin typeface="Trebuchet MS"/>
                <a:cs typeface="Trebuchet MS"/>
              </a:rPr>
              <a:t>Homada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04100"/>
            <a:ext cx="5673090" cy="4482465"/>
            <a:chOff x="13924" y="5800624"/>
            <a:chExt cx="5673090" cy="4482465"/>
          </a:xfrm>
        </p:grpSpPr>
        <p:sp>
          <p:nvSpPr>
            <p:cNvPr id="3" name="object 3"/>
            <p:cNvSpPr/>
            <p:nvPr/>
          </p:nvSpPr>
          <p:spPr>
            <a:xfrm>
              <a:off x="13924" y="6926292"/>
              <a:ext cx="4982210" cy="3357245"/>
            </a:xfrm>
            <a:custGeom>
              <a:avLst/>
              <a:gdLst/>
              <a:ahLst/>
              <a:cxnLst/>
              <a:rect l="l" t="t" r="r" b="b"/>
              <a:pathLst>
                <a:path w="4982210" h="3357245">
                  <a:moveTo>
                    <a:pt x="1906211" y="0"/>
                  </a:moveTo>
                  <a:lnTo>
                    <a:pt x="0" y="2080309"/>
                  </a:lnTo>
                  <a:lnTo>
                    <a:pt x="0" y="3356737"/>
                  </a:lnTo>
                  <a:lnTo>
                    <a:pt x="4981822" y="3356737"/>
                  </a:lnTo>
                  <a:lnTo>
                    <a:pt x="1906211" y="0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924" y="6933294"/>
              <a:ext cx="2832735" cy="3350260"/>
            </a:xfrm>
            <a:custGeom>
              <a:avLst/>
              <a:gdLst/>
              <a:ahLst/>
              <a:cxnLst/>
              <a:rect l="l" t="t" r="r" b="b"/>
              <a:pathLst>
                <a:path w="2832735" h="3350259">
                  <a:moveTo>
                    <a:pt x="1900143" y="0"/>
                  </a:moveTo>
                  <a:lnTo>
                    <a:pt x="0" y="2073307"/>
                  </a:lnTo>
                  <a:lnTo>
                    <a:pt x="0" y="3349736"/>
                  </a:lnTo>
                  <a:lnTo>
                    <a:pt x="742334" y="3349736"/>
                  </a:lnTo>
                  <a:lnTo>
                    <a:pt x="2832245" y="1017517"/>
                  </a:lnTo>
                  <a:lnTo>
                    <a:pt x="1900143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924" y="5800624"/>
              <a:ext cx="5673090" cy="4482465"/>
            </a:xfrm>
            <a:custGeom>
              <a:avLst/>
              <a:gdLst/>
              <a:ahLst/>
              <a:cxnLst/>
              <a:rect l="l" t="t" r="r" b="b"/>
              <a:pathLst>
                <a:path w="5673090" h="4482465">
                  <a:moveTo>
                    <a:pt x="2265665" y="763469"/>
                  </a:moveTo>
                  <a:lnTo>
                    <a:pt x="1561748" y="763469"/>
                  </a:lnTo>
                  <a:lnTo>
                    <a:pt x="4981343" y="4482405"/>
                  </a:lnTo>
                  <a:lnTo>
                    <a:pt x="5673080" y="4482405"/>
                  </a:lnTo>
                  <a:lnTo>
                    <a:pt x="2265665" y="763469"/>
                  </a:lnTo>
                  <a:close/>
                </a:path>
                <a:path w="5673090" h="4482465">
                  <a:moveTo>
                    <a:pt x="1566149" y="0"/>
                  </a:moveTo>
                  <a:lnTo>
                    <a:pt x="1557347" y="0"/>
                  </a:lnTo>
                  <a:lnTo>
                    <a:pt x="0" y="1699304"/>
                  </a:lnTo>
                  <a:lnTo>
                    <a:pt x="0" y="2467577"/>
                  </a:lnTo>
                  <a:lnTo>
                    <a:pt x="1561748" y="763469"/>
                  </a:lnTo>
                  <a:lnTo>
                    <a:pt x="2265665" y="763469"/>
                  </a:lnTo>
                  <a:lnTo>
                    <a:pt x="1566149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4600597" y="6486525"/>
            <a:ext cx="3648075" cy="3800475"/>
            <a:chOff x="14614521" y="6483049"/>
            <a:chExt cx="3648075" cy="3800475"/>
          </a:xfrm>
        </p:grpSpPr>
        <p:sp>
          <p:nvSpPr>
            <p:cNvPr id="7" name="object 7"/>
            <p:cNvSpPr/>
            <p:nvPr/>
          </p:nvSpPr>
          <p:spPr>
            <a:xfrm>
              <a:off x="14614521" y="6507151"/>
              <a:ext cx="3648075" cy="3776979"/>
            </a:xfrm>
            <a:custGeom>
              <a:avLst/>
              <a:gdLst/>
              <a:ahLst/>
              <a:cxnLst/>
              <a:rect l="l" t="t" r="r" b="b"/>
              <a:pathLst>
                <a:path w="3648075" h="3776979">
                  <a:moveTo>
                    <a:pt x="3647759" y="3776373"/>
                  </a:moveTo>
                  <a:lnTo>
                    <a:pt x="3005124" y="3776373"/>
                  </a:lnTo>
                  <a:lnTo>
                    <a:pt x="0" y="762875"/>
                  </a:lnTo>
                  <a:lnTo>
                    <a:pt x="1047" y="0"/>
                  </a:lnTo>
                  <a:lnTo>
                    <a:pt x="3647759" y="3645664"/>
                  </a:lnTo>
                  <a:lnTo>
                    <a:pt x="3647759" y="3776373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931738" y="6483049"/>
              <a:ext cx="2331085" cy="3670300"/>
            </a:xfrm>
            <a:custGeom>
              <a:avLst/>
              <a:gdLst/>
              <a:ahLst/>
              <a:cxnLst/>
              <a:rect l="l" t="t" r="r" b="b"/>
              <a:pathLst>
                <a:path w="2331084" h="3670300">
                  <a:moveTo>
                    <a:pt x="2330542" y="3669765"/>
                  </a:moveTo>
                  <a:lnTo>
                    <a:pt x="0" y="1339223"/>
                  </a:lnTo>
                  <a:lnTo>
                    <a:pt x="2330542" y="0"/>
                  </a:lnTo>
                  <a:lnTo>
                    <a:pt x="2330542" y="3669765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865611" y="19351"/>
            <a:ext cx="16528929" cy="2643041"/>
          </a:xfrm>
          <a:prstGeom prst="rect">
            <a:avLst/>
          </a:prstGeom>
        </p:spPr>
        <p:txBody>
          <a:bodyPr vert="horz" wrap="square" lIns="0" tIns="930909" rIns="0" bIns="0" rtlCol="0">
            <a:spAutoFit/>
          </a:bodyPr>
          <a:lstStyle/>
          <a:p>
            <a:pPr marL="5680710">
              <a:lnSpc>
                <a:spcPct val="100000"/>
              </a:lnSpc>
              <a:spcBef>
                <a:spcPts val="100"/>
              </a:spcBef>
            </a:pPr>
            <a:r>
              <a:rPr spc="-885" dirty="0">
                <a:solidFill>
                  <a:srgbClr val="2D3780"/>
                </a:solidFill>
              </a:rPr>
              <a:t>Sommaire</a:t>
            </a:r>
          </a:p>
        </p:txBody>
      </p:sp>
      <p:sp>
        <p:nvSpPr>
          <p:cNvPr id="10" name="object 10"/>
          <p:cNvSpPr/>
          <p:nvPr/>
        </p:nvSpPr>
        <p:spPr>
          <a:xfrm>
            <a:off x="2772454" y="3032777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79" h="843279">
                <a:moveTo>
                  <a:pt x="421393" y="842786"/>
                </a:moveTo>
                <a:lnTo>
                  <a:pt x="372250" y="839951"/>
                </a:lnTo>
                <a:lnTo>
                  <a:pt x="324771" y="831657"/>
                </a:lnTo>
                <a:lnTo>
                  <a:pt x="279274" y="818220"/>
                </a:lnTo>
                <a:lnTo>
                  <a:pt x="236075" y="799955"/>
                </a:lnTo>
                <a:lnTo>
                  <a:pt x="195489" y="777180"/>
                </a:lnTo>
                <a:lnTo>
                  <a:pt x="157833" y="750211"/>
                </a:lnTo>
                <a:lnTo>
                  <a:pt x="123423" y="719363"/>
                </a:lnTo>
                <a:lnTo>
                  <a:pt x="92575" y="684953"/>
                </a:lnTo>
                <a:lnTo>
                  <a:pt x="65605" y="647297"/>
                </a:lnTo>
                <a:lnTo>
                  <a:pt x="42830" y="606711"/>
                </a:lnTo>
                <a:lnTo>
                  <a:pt x="24566" y="563512"/>
                </a:lnTo>
                <a:lnTo>
                  <a:pt x="11129" y="518015"/>
                </a:lnTo>
                <a:lnTo>
                  <a:pt x="2835" y="470536"/>
                </a:lnTo>
                <a:lnTo>
                  <a:pt x="0" y="421393"/>
                </a:lnTo>
                <a:lnTo>
                  <a:pt x="2835" y="372250"/>
                </a:lnTo>
                <a:lnTo>
                  <a:pt x="11129" y="324771"/>
                </a:lnTo>
                <a:lnTo>
                  <a:pt x="24566" y="279274"/>
                </a:lnTo>
                <a:lnTo>
                  <a:pt x="42830" y="236075"/>
                </a:lnTo>
                <a:lnTo>
                  <a:pt x="65605" y="195489"/>
                </a:lnTo>
                <a:lnTo>
                  <a:pt x="92575" y="157833"/>
                </a:lnTo>
                <a:lnTo>
                  <a:pt x="123423" y="123423"/>
                </a:lnTo>
                <a:lnTo>
                  <a:pt x="157833" y="92575"/>
                </a:lnTo>
                <a:lnTo>
                  <a:pt x="195489" y="65605"/>
                </a:lnTo>
                <a:lnTo>
                  <a:pt x="236075" y="42830"/>
                </a:lnTo>
                <a:lnTo>
                  <a:pt x="279274" y="24566"/>
                </a:lnTo>
                <a:lnTo>
                  <a:pt x="324771" y="11129"/>
                </a:lnTo>
                <a:lnTo>
                  <a:pt x="372250" y="2835"/>
                </a:lnTo>
                <a:lnTo>
                  <a:pt x="421393" y="0"/>
                </a:lnTo>
                <a:lnTo>
                  <a:pt x="470536" y="2835"/>
                </a:lnTo>
                <a:lnTo>
                  <a:pt x="518015" y="11129"/>
                </a:lnTo>
                <a:lnTo>
                  <a:pt x="563512" y="24566"/>
                </a:lnTo>
                <a:lnTo>
                  <a:pt x="606711" y="42830"/>
                </a:lnTo>
                <a:lnTo>
                  <a:pt x="647297" y="65605"/>
                </a:lnTo>
                <a:lnTo>
                  <a:pt x="684953" y="92575"/>
                </a:lnTo>
                <a:lnTo>
                  <a:pt x="719363" y="123423"/>
                </a:lnTo>
                <a:lnTo>
                  <a:pt x="750211" y="157833"/>
                </a:lnTo>
                <a:lnTo>
                  <a:pt x="777180" y="195489"/>
                </a:lnTo>
                <a:lnTo>
                  <a:pt x="799955" y="236075"/>
                </a:lnTo>
                <a:lnTo>
                  <a:pt x="818220" y="279274"/>
                </a:lnTo>
                <a:lnTo>
                  <a:pt x="831657" y="324771"/>
                </a:lnTo>
                <a:lnTo>
                  <a:pt x="839951" y="372250"/>
                </a:lnTo>
                <a:lnTo>
                  <a:pt x="842786" y="421393"/>
                </a:lnTo>
                <a:lnTo>
                  <a:pt x="839951" y="470536"/>
                </a:lnTo>
                <a:lnTo>
                  <a:pt x="831657" y="518015"/>
                </a:lnTo>
                <a:lnTo>
                  <a:pt x="818220" y="563512"/>
                </a:lnTo>
                <a:lnTo>
                  <a:pt x="799955" y="606711"/>
                </a:lnTo>
                <a:lnTo>
                  <a:pt x="777180" y="647297"/>
                </a:lnTo>
                <a:lnTo>
                  <a:pt x="750211" y="684953"/>
                </a:lnTo>
                <a:lnTo>
                  <a:pt x="719363" y="719363"/>
                </a:lnTo>
                <a:lnTo>
                  <a:pt x="684953" y="750211"/>
                </a:lnTo>
                <a:lnTo>
                  <a:pt x="647297" y="777180"/>
                </a:lnTo>
                <a:lnTo>
                  <a:pt x="606711" y="799955"/>
                </a:lnTo>
                <a:lnTo>
                  <a:pt x="563512" y="818220"/>
                </a:lnTo>
                <a:lnTo>
                  <a:pt x="518015" y="831657"/>
                </a:lnTo>
                <a:lnTo>
                  <a:pt x="470536" y="839951"/>
                </a:lnTo>
                <a:lnTo>
                  <a:pt x="421393" y="842786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30323" y="3197908"/>
            <a:ext cx="327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1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72454" y="4161314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79" h="843279">
                <a:moveTo>
                  <a:pt x="421393" y="842786"/>
                </a:moveTo>
                <a:lnTo>
                  <a:pt x="372250" y="839951"/>
                </a:lnTo>
                <a:lnTo>
                  <a:pt x="324771" y="831657"/>
                </a:lnTo>
                <a:lnTo>
                  <a:pt x="279274" y="818220"/>
                </a:lnTo>
                <a:lnTo>
                  <a:pt x="236075" y="799955"/>
                </a:lnTo>
                <a:lnTo>
                  <a:pt x="195489" y="777180"/>
                </a:lnTo>
                <a:lnTo>
                  <a:pt x="157833" y="750211"/>
                </a:lnTo>
                <a:lnTo>
                  <a:pt x="123423" y="719363"/>
                </a:lnTo>
                <a:lnTo>
                  <a:pt x="92575" y="684953"/>
                </a:lnTo>
                <a:lnTo>
                  <a:pt x="65605" y="647297"/>
                </a:lnTo>
                <a:lnTo>
                  <a:pt x="42830" y="606711"/>
                </a:lnTo>
                <a:lnTo>
                  <a:pt x="24566" y="563512"/>
                </a:lnTo>
                <a:lnTo>
                  <a:pt x="11129" y="518015"/>
                </a:lnTo>
                <a:lnTo>
                  <a:pt x="2835" y="470536"/>
                </a:lnTo>
                <a:lnTo>
                  <a:pt x="0" y="421393"/>
                </a:lnTo>
                <a:lnTo>
                  <a:pt x="2835" y="372250"/>
                </a:lnTo>
                <a:lnTo>
                  <a:pt x="11129" y="324771"/>
                </a:lnTo>
                <a:lnTo>
                  <a:pt x="24566" y="279274"/>
                </a:lnTo>
                <a:lnTo>
                  <a:pt x="42830" y="236075"/>
                </a:lnTo>
                <a:lnTo>
                  <a:pt x="65605" y="195489"/>
                </a:lnTo>
                <a:lnTo>
                  <a:pt x="92575" y="157833"/>
                </a:lnTo>
                <a:lnTo>
                  <a:pt x="123423" y="123423"/>
                </a:lnTo>
                <a:lnTo>
                  <a:pt x="157833" y="92575"/>
                </a:lnTo>
                <a:lnTo>
                  <a:pt x="195489" y="65605"/>
                </a:lnTo>
                <a:lnTo>
                  <a:pt x="236075" y="42830"/>
                </a:lnTo>
                <a:lnTo>
                  <a:pt x="279274" y="24566"/>
                </a:lnTo>
                <a:lnTo>
                  <a:pt x="324771" y="11129"/>
                </a:lnTo>
                <a:lnTo>
                  <a:pt x="372250" y="2835"/>
                </a:lnTo>
                <a:lnTo>
                  <a:pt x="421393" y="0"/>
                </a:lnTo>
                <a:lnTo>
                  <a:pt x="470536" y="2835"/>
                </a:lnTo>
                <a:lnTo>
                  <a:pt x="518015" y="11129"/>
                </a:lnTo>
                <a:lnTo>
                  <a:pt x="563512" y="24566"/>
                </a:lnTo>
                <a:lnTo>
                  <a:pt x="606711" y="42830"/>
                </a:lnTo>
                <a:lnTo>
                  <a:pt x="647297" y="65605"/>
                </a:lnTo>
                <a:lnTo>
                  <a:pt x="684953" y="92575"/>
                </a:lnTo>
                <a:lnTo>
                  <a:pt x="719363" y="123423"/>
                </a:lnTo>
                <a:lnTo>
                  <a:pt x="750211" y="157833"/>
                </a:lnTo>
                <a:lnTo>
                  <a:pt x="777180" y="195489"/>
                </a:lnTo>
                <a:lnTo>
                  <a:pt x="799955" y="236075"/>
                </a:lnTo>
                <a:lnTo>
                  <a:pt x="818220" y="279274"/>
                </a:lnTo>
                <a:lnTo>
                  <a:pt x="831657" y="324771"/>
                </a:lnTo>
                <a:lnTo>
                  <a:pt x="839951" y="372250"/>
                </a:lnTo>
                <a:lnTo>
                  <a:pt x="842786" y="421393"/>
                </a:lnTo>
                <a:lnTo>
                  <a:pt x="839951" y="470536"/>
                </a:lnTo>
                <a:lnTo>
                  <a:pt x="831657" y="518015"/>
                </a:lnTo>
                <a:lnTo>
                  <a:pt x="818220" y="563512"/>
                </a:lnTo>
                <a:lnTo>
                  <a:pt x="799955" y="606711"/>
                </a:lnTo>
                <a:lnTo>
                  <a:pt x="777180" y="647297"/>
                </a:lnTo>
                <a:lnTo>
                  <a:pt x="750211" y="684953"/>
                </a:lnTo>
                <a:lnTo>
                  <a:pt x="719363" y="719363"/>
                </a:lnTo>
                <a:lnTo>
                  <a:pt x="684953" y="750211"/>
                </a:lnTo>
                <a:lnTo>
                  <a:pt x="647297" y="777180"/>
                </a:lnTo>
                <a:lnTo>
                  <a:pt x="606711" y="799955"/>
                </a:lnTo>
                <a:lnTo>
                  <a:pt x="563512" y="818220"/>
                </a:lnTo>
                <a:lnTo>
                  <a:pt x="518015" y="831657"/>
                </a:lnTo>
                <a:lnTo>
                  <a:pt x="470536" y="839951"/>
                </a:lnTo>
                <a:lnTo>
                  <a:pt x="421393" y="842786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71983" y="4326445"/>
            <a:ext cx="4432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4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72454" y="5289851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79" h="843279">
                <a:moveTo>
                  <a:pt x="421393" y="842786"/>
                </a:moveTo>
                <a:lnTo>
                  <a:pt x="372250" y="839951"/>
                </a:lnTo>
                <a:lnTo>
                  <a:pt x="324771" y="831657"/>
                </a:lnTo>
                <a:lnTo>
                  <a:pt x="279274" y="818220"/>
                </a:lnTo>
                <a:lnTo>
                  <a:pt x="236075" y="799955"/>
                </a:lnTo>
                <a:lnTo>
                  <a:pt x="195489" y="777181"/>
                </a:lnTo>
                <a:lnTo>
                  <a:pt x="157833" y="750211"/>
                </a:lnTo>
                <a:lnTo>
                  <a:pt x="123423" y="719363"/>
                </a:lnTo>
                <a:lnTo>
                  <a:pt x="92575" y="684953"/>
                </a:lnTo>
                <a:lnTo>
                  <a:pt x="65605" y="647297"/>
                </a:lnTo>
                <a:lnTo>
                  <a:pt x="42830" y="606711"/>
                </a:lnTo>
                <a:lnTo>
                  <a:pt x="24566" y="563512"/>
                </a:lnTo>
                <a:lnTo>
                  <a:pt x="11129" y="518015"/>
                </a:lnTo>
                <a:lnTo>
                  <a:pt x="2835" y="470536"/>
                </a:lnTo>
                <a:lnTo>
                  <a:pt x="0" y="421393"/>
                </a:lnTo>
                <a:lnTo>
                  <a:pt x="2835" y="372249"/>
                </a:lnTo>
                <a:lnTo>
                  <a:pt x="11129" y="324771"/>
                </a:lnTo>
                <a:lnTo>
                  <a:pt x="24566" y="279274"/>
                </a:lnTo>
                <a:lnTo>
                  <a:pt x="42830" y="236075"/>
                </a:lnTo>
                <a:lnTo>
                  <a:pt x="65605" y="195489"/>
                </a:lnTo>
                <a:lnTo>
                  <a:pt x="92575" y="157833"/>
                </a:lnTo>
                <a:lnTo>
                  <a:pt x="123423" y="123423"/>
                </a:lnTo>
                <a:lnTo>
                  <a:pt x="157833" y="92575"/>
                </a:lnTo>
                <a:lnTo>
                  <a:pt x="195489" y="65605"/>
                </a:lnTo>
                <a:lnTo>
                  <a:pt x="236075" y="42830"/>
                </a:lnTo>
                <a:lnTo>
                  <a:pt x="279274" y="24566"/>
                </a:lnTo>
                <a:lnTo>
                  <a:pt x="324771" y="11129"/>
                </a:lnTo>
                <a:lnTo>
                  <a:pt x="372250" y="2835"/>
                </a:lnTo>
                <a:lnTo>
                  <a:pt x="421393" y="0"/>
                </a:lnTo>
                <a:lnTo>
                  <a:pt x="470536" y="2835"/>
                </a:lnTo>
                <a:lnTo>
                  <a:pt x="518015" y="11129"/>
                </a:lnTo>
                <a:lnTo>
                  <a:pt x="563512" y="24566"/>
                </a:lnTo>
                <a:lnTo>
                  <a:pt x="606711" y="42830"/>
                </a:lnTo>
                <a:lnTo>
                  <a:pt x="647297" y="65605"/>
                </a:lnTo>
                <a:lnTo>
                  <a:pt x="684953" y="92575"/>
                </a:lnTo>
                <a:lnTo>
                  <a:pt x="719363" y="123423"/>
                </a:lnTo>
                <a:lnTo>
                  <a:pt x="750211" y="157833"/>
                </a:lnTo>
                <a:lnTo>
                  <a:pt x="777180" y="195489"/>
                </a:lnTo>
                <a:lnTo>
                  <a:pt x="799955" y="236075"/>
                </a:lnTo>
                <a:lnTo>
                  <a:pt x="818220" y="279274"/>
                </a:lnTo>
                <a:lnTo>
                  <a:pt x="831657" y="324771"/>
                </a:lnTo>
                <a:lnTo>
                  <a:pt x="839951" y="372249"/>
                </a:lnTo>
                <a:lnTo>
                  <a:pt x="842786" y="421393"/>
                </a:lnTo>
                <a:lnTo>
                  <a:pt x="839951" y="470536"/>
                </a:lnTo>
                <a:lnTo>
                  <a:pt x="831657" y="518015"/>
                </a:lnTo>
                <a:lnTo>
                  <a:pt x="818220" y="563512"/>
                </a:lnTo>
                <a:lnTo>
                  <a:pt x="799955" y="606711"/>
                </a:lnTo>
                <a:lnTo>
                  <a:pt x="777180" y="647297"/>
                </a:lnTo>
                <a:lnTo>
                  <a:pt x="750211" y="684953"/>
                </a:lnTo>
                <a:lnTo>
                  <a:pt x="719363" y="719363"/>
                </a:lnTo>
                <a:lnTo>
                  <a:pt x="684953" y="750211"/>
                </a:lnTo>
                <a:lnTo>
                  <a:pt x="647297" y="777181"/>
                </a:lnTo>
                <a:lnTo>
                  <a:pt x="606711" y="799955"/>
                </a:lnTo>
                <a:lnTo>
                  <a:pt x="563512" y="818220"/>
                </a:lnTo>
                <a:lnTo>
                  <a:pt x="518015" y="831657"/>
                </a:lnTo>
                <a:lnTo>
                  <a:pt x="470536" y="839951"/>
                </a:lnTo>
                <a:lnTo>
                  <a:pt x="421393" y="842786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88949" y="5454982"/>
            <a:ext cx="409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80277" y="3032777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79" h="843279">
                <a:moveTo>
                  <a:pt x="421393" y="842786"/>
                </a:moveTo>
                <a:lnTo>
                  <a:pt x="372249" y="839951"/>
                </a:lnTo>
                <a:lnTo>
                  <a:pt x="324771" y="831657"/>
                </a:lnTo>
                <a:lnTo>
                  <a:pt x="279274" y="818220"/>
                </a:lnTo>
                <a:lnTo>
                  <a:pt x="236075" y="799955"/>
                </a:lnTo>
                <a:lnTo>
                  <a:pt x="195489" y="777180"/>
                </a:lnTo>
                <a:lnTo>
                  <a:pt x="157833" y="750211"/>
                </a:lnTo>
                <a:lnTo>
                  <a:pt x="123423" y="719363"/>
                </a:lnTo>
                <a:lnTo>
                  <a:pt x="92575" y="684953"/>
                </a:lnTo>
                <a:lnTo>
                  <a:pt x="65605" y="647297"/>
                </a:lnTo>
                <a:lnTo>
                  <a:pt x="42830" y="606711"/>
                </a:lnTo>
                <a:lnTo>
                  <a:pt x="24566" y="563512"/>
                </a:lnTo>
                <a:lnTo>
                  <a:pt x="11129" y="518015"/>
                </a:lnTo>
                <a:lnTo>
                  <a:pt x="2835" y="470536"/>
                </a:lnTo>
                <a:lnTo>
                  <a:pt x="0" y="421393"/>
                </a:lnTo>
                <a:lnTo>
                  <a:pt x="2835" y="372250"/>
                </a:lnTo>
                <a:lnTo>
                  <a:pt x="11129" y="324771"/>
                </a:lnTo>
                <a:lnTo>
                  <a:pt x="24566" y="279274"/>
                </a:lnTo>
                <a:lnTo>
                  <a:pt x="42830" y="236075"/>
                </a:lnTo>
                <a:lnTo>
                  <a:pt x="65605" y="195489"/>
                </a:lnTo>
                <a:lnTo>
                  <a:pt x="92575" y="157833"/>
                </a:lnTo>
                <a:lnTo>
                  <a:pt x="123423" y="123423"/>
                </a:lnTo>
                <a:lnTo>
                  <a:pt x="157833" y="92575"/>
                </a:lnTo>
                <a:lnTo>
                  <a:pt x="195489" y="65605"/>
                </a:lnTo>
                <a:lnTo>
                  <a:pt x="236075" y="42830"/>
                </a:lnTo>
                <a:lnTo>
                  <a:pt x="279274" y="24566"/>
                </a:lnTo>
                <a:lnTo>
                  <a:pt x="324771" y="11129"/>
                </a:lnTo>
                <a:lnTo>
                  <a:pt x="372249" y="2835"/>
                </a:lnTo>
                <a:lnTo>
                  <a:pt x="421393" y="0"/>
                </a:lnTo>
                <a:lnTo>
                  <a:pt x="470536" y="2835"/>
                </a:lnTo>
                <a:lnTo>
                  <a:pt x="518015" y="11129"/>
                </a:lnTo>
                <a:lnTo>
                  <a:pt x="563512" y="24566"/>
                </a:lnTo>
                <a:lnTo>
                  <a:pt x="606711" y="42830"/>
                </a:lnTo>
                <a:lnTo>
                  <a:pt x="647297" y="65605"/>
                </a:lnTo>
                <a:lnTo>
                  <a:pt x="684953" y="92575"/>
                </a:lnTo>
                <a:lnTo>
                  <a:pt x="719363" y="123423"/>
                </a:lnTo>
                <a:lnTo>
                  <a:pt x="750211" y="157833"/>
                </a:lnTo>
                <a:lnTo>
                  <a:pt x="777181" y="195489"/>
                </a:lnTo>
                <a:lnTo>
                  <a:pt x="799955" y="236075"/>
                </a:lnTo>
                <a:lnTo>
                  <a:pt x="818220" y="279274"/>
                </a:lnTo>
                <a:lnTo>
                  <a:pt x="831657" y="324771"/>
                </a:lnTo>
                <a:lnTo>
                  <a:pt x="839951" y="372250"/>
                </a:lnTo>
                <a:lnTo>
                  <a:pt x="842786" y="421393"/>
                </a:lnTo>
                <a:lnTo>
                  <a:pt x="839951" y="470536"/>
                </a:lnTo>
                <a:lnTo>
                  <a:pt x="831657" y="518015"/>
                </a:lnTo>
                <a:lnTo>
                  <a:pt x="818220" y="563512"/>
                </a:lnTo>
                <a:lnTo>
                  <a:pt x="799955" y="606711"/>
                </a:lnTo>
                <a:lnTo>
                  <a:pt x="777181" y="647297"/>
                </a:lnTo>
                <a:lnTo>
                  <a:pt x="750211" y="684953"/>
                </a:lnTo>
                <a:lnTo>
                  <a:pt x="719363" y="719363"/>
                </a:lnTo>
                <a:lnTo>
                  <a:pt x="684953" y="750211"/>
                </a:lnTo>
                <a:lnTo>
                  <a:pt x="647297" y="777180"/>
                </a:lnTo>
                <a:lnTo>
                  <a:pt x="606711" y="799955"/>
                </a:lnTo>
                <a:lnTo>
                  <a:pt x="563512" y="818220"/>
                </a:lnTo>
                <a:lnTo>
                  <a:pt x="518015" y="831657"/>
                </a:lnTo>
                <a:lnTo>
                  <a:pt x="470536" y="839951"/>
                </a:lnTo>
                <a:lnTo>
                  <a:pt x="421393" y="842786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681591" y="3197908"/>
            <a:ext cx="4400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30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80277" y="4161314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79" h="843279">
                <a:moveTo>
                  <a:pt x="421393" y="842786"/>
                </a:moveTo>
                <a:lnTo>
                  <a:pt x="372249" y="839951"/>
                </a:lnTo>
                <a:lnTo>
                  <a:pt x="324771" y="831657"/>
                </a:lnTo>
                <a:lnTo>
                  <a:pt x="279274" y="818220"/>
                </a:lnTo>
                <a:lnTo>
                  <a:pt x="236075" y="799955"/>
                </a:lnTo>
                <a:lnTo>
                  <a:pt x="195489" y="777180"/>
                </a:lnTo>
                <a:lnTo>
                  <a:pt x="157833" y="750211"/>
                </a:lnTo>
                <a:lnTo>
                  <a:pt x="123423" y="719363"/>
                </a:lnTo>
                <a:lnTo>
                  <a:pt x="92575" y="684953"/>
                </a:lnTo>
                <a:lnTo>
                  <a:pt x="65605" y="647297"/>
                </a:lnTo>
                <a:lnTo>
                  <a:pt x="42830" y="606711"/>
                </a:lnTo>
                <a:lnTo>
                  <a:pt x="24566" y="563512"/>
                </a:lnTo>
                <a:lnTo>
                  <a:pt x="11129" y="518015"/>
                </a:lnTo>
                <a:lnTo>
                  <a:pt x="2835" y="470536"/>
                </a:lnTo>
                <a:lnTo>
                  <a:pt x="0" y="421393"/>
                </a:lnTo>
                <a:lnTo>
                  <a:pt x="2835" y="372250"/>
                </a:lnTo>
                <a:lnTo>
                  <a:pt x="11129" y="324771"/>
                </a:lnTo>
                <a:lnTo>
                  <a:pt x="24566" y="279274"/>
                </a:lnTo>
                <a:lnTo>
                  <a:pt x="42830" y="236075"/>
                </a:lnTo>
                <a:lnTo>
                  <a:pt x="65605" y="195489"/>
                </a:lnTo>
                <a:lnTo>
                  <a:pt x="92575" y="157833"/>
                </a:lnTo>
                <a:lnTo>
                  <a:pt x="123423" y="123423"/>
                </a:lnTo>
                <a:lnTo>
                  <a:pt x="157833" y="92575"/>
                </a:lnTo>
                <a:lnTo>
                  <a:pt x="195489" y="65605"/>
                </a:lnTo>
                <a:lnTo>
                  <a:pt x="236075" y="42830"/>
                </a:lnTo>
                <a:lnTo>
                  <a:pt x="279274" y="24566"/>
                </a:lnTo>
                <a:lnTo>
                  <a:pt x="324771" y="11129"/>
                </a:lnTo>
                <a:lnTo>
                  <a:pt x="372249" y="2835"/>
                </a:lnTo>
                <a:lnTo>
                  <a:pt x="421393" y="0"/>
                </a:lnTo>
                <a:lnTo>
                  <a:pt x="470536" y="2835"/>
                </a:lnTo>
                <a:lnTo>
                  <a:pt x="518015" y="11129"/>
                </a:lnTo>
                <a:lnTo>
                  <a:pt x="563512" y="24566"/>
                </a:lnTo>
                <a:lnTo>
                  <a:pt x="606711" y="42830"/>
                </a:lnTo>
                <a:lnTo>
                  <a:pt x="647297" y="65605"/>
                </a:lnTo>
                <a:lnTo>
                  <a:pt x="684953" y="92575"/>
                </a:lnTo>
                <a:lnTo>
                  <a:pt x="719363" y="123423"/>
                </a:lnTo>
                <a:lnTo>
                  <a:pt x="750211" y="157833"/>
                </a:lnTo>
                <a:lnTo>
                  <a:pt x="777181" y="195489"/>
                </a:lnTo>
                <a:lnTo>
                  <a:pt x="799955" y="236075"/>
                </a:lnTo>
                <a:lnTo>
                  <a:pt x="818220" y="279274"/>
                </a:lnTo>
                <a:lnTo>
                  <a:pt x="831657" y="324771"/>
                </a:lnTo>
                <a:lnTo>
                  <a:pt x="839951" y="372250"/>
                </a:lnTo>
                <a:lnTo>
                  <a:pt x="842786" y="421393"/>
                </a:lnTo>
                <a:lnTo>
                  <a:pt x="839951" y="470536"/>
                </a:lnTo>
                <a:lnTo>
                  <a:pt x="831657" y="518015"/>
                </a:lnTo>
                <a:lnTo>
                  <a:pt x="818220" y="563512"/>
                </a:lnTo>
                <a:lnTo>
                  <a:pt x="799955" y="606711"/>
                </a:lnTo>
                <a:lnTo>
                  <a:pt x="777181" y="647297"/>
                </a:lnTo>
                <a:lnTo>
                  <a:pt x="750211" y="684953"/>
                </a:lnTo>
                <a:lnTo>
                  <a:pt x="719363" y="719363"/>
                </a:lnTo>
                <a:lnTo>
                  <a:pt x="684953" y="750211"/>
                </a:lnTo>
                <a:lnTo>
                  <a:pt x="647297" y="777180"/>
                </a:lnTo>
                <a:lnTo>
                  <a:pt x="606711" y="799955"/>
                </a:lnTo>
                <a:lnTo>
                  <a:pt x="563512" y="818220"/>
                </a:lnTo>
                <a:lnTo>
                  <a:pt x="518015" y="831657"/>
                </a:lnTo>
                <a:lnTo>
                  <a:pt x="470536" y="839951"/>
                </a:lnTo>
                <a:lnTo>
                  <a:pt x="421393" y="842786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691414" y="4326445"/>
            <a:ext cx="4203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60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480277" y="5289851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79" h="843279">
                <a:moveTo>
                  <a:pt x="421393" y="842786"/>
                </a:moveTo>
                <a:lnTo>
                  <a:pt x="372249" y="839951"/>
                </a:lnTo>
                <a:lnTo>
                  <a:pt x="324771" y="831657"/>
                </a:lnTo>
                <a:lnTo>
                  <a:pt x="279274" y="818220"/>
                </a:lnTo>
                <a:lnTo>
                  <a:pt x="236075" y="799955"/>
                </a:lnTo>
                <a:lnTo>
                  <a:pt x="195489" y="777181"/>
                </a:lnTo>
                <a:lnTo>
                  <a:pt x="157833" y="750211"/>
                </a:lnTo>
                <a:lnTo>
                  <a:pt x="123423" y="719363"/>
                </a:lnTo>
                <a:lnTo>
                  <a:pt x="92575" y="684953"/>
                </a:lnTo>
                <a:lnTo>
                  <a:pt x="65605" y="647297"/>
                </a:lnTo>
                <a:lnTo>
                  <a:pt x="42830" y="606711"/>
                </a:lnTo>
                <a:lnTo>
                  <a:pt x="24566" y="563512"/>
                </a:lnTo>
                <a:lnTo>
                  <a:pt x="11129" y="518015"/>
                </a:lnTo>
                <a:lnTo>
                  <a:pt x="2835" y="470536"/>
                </a:lnTo>
                <a:lnTo>
                  <a:pt x="0" y="421393"/>
                </a:lnTo>
                <a:lnTo>
                  <a:pt x="2835" y="372249"/>
                </a:lnTo>
                <a:lnTo>
                  <a:pt x="11129" y="324771"/>
                </a:lnTo>
                <a:lnTo>
                  <a:pt x="24566" y="279274"/>
                </a:lnTo>
                <a:lnTo>
                  <a:pt x="42830" y="236075"/>
                </a:lnTo>
                <a:lnTo>
                  <a:pt x="65605" y="195489"/>
                </a:lnTo>
                <a:lnTo>
                  <a:pt x="92575" y="157833"/>
                </a:lnTo>
                <a:lnTo>
                  <a:pt x="123423" y="123423"/>
                </a:lnTo>
                <a:lnTo>
                  <a:pt x="157833" y="92575"/>
                </a:lnTo>
                <a:lnTo>
                  <a:pt x="195489" y="65605"/>
                </a:lnTo>
                <a:lnTo>
                  <a:pt x="236075" y="42830"/>
                </a:lnTo>
                <a:lnTo>
                  <a:pt x="279274" y="24566"/>
                </a:lnTo>
                <a:lnTo>
                  <a:pt x="324771" y="11129"/>
                </a:lnTo>
                <a:lnTo>
                  <a:pt x="372249" y="2835"/>
                </a:lnTo>
                <a:lnTo>
                  <a:pt x="421393" y="0"/>
                </a:lnTo>
                <a:lnTo>
                  <a:pt x="470536" y="2835"/>
                </a:lnTo>
                <a:lnTo>
                  <a:pt x="518015" y="11129"/>
                </a:lnTo>
                <a:lnTo>
                  <a:pt x="563512" y="24566"/>
                </a:lnTo>
                <a:lnTo>
                  <a:pt x="606711" y="42830"/>
                </a:lnTo>
                <a:lnTo>
                  <a:pt x="647297" y="65605"/>
                </a:lnTo>
                <a:lnTo>
                  <a:pt x="684953" y="92575"/>
                </a:lnTo>
                <a:lnTo>
                  <a:pt x="719363" y="123423"/>
                </a:lnTo>
                <a:lnTo>
                  <a:pt x="750211" y="157833"/>
                </a:lnTo>
                <a:lnTo>
                  <a:pt x="777181" y="195489"/>
                </a:lnTo>
                <a:lnTo>
                  <a:pt x="799955" y="236075"/>
                </a:lnTo>
                <a:lnTo>
                  <a:pt x="818220" y="279274"/>
                </a:lnTo>
                <a:lnTo>
                  <a:pt x="831657" y="324771"/>
                </a:lnTo>
                <a:lnTo>
                  <a:pt x="839951" y="372249"/>
                </a:lnTo>
                <a:lnTo>
                  <a:pt x="842786" y="421393"/>
                </a:lnTo>
                <a:lnTo>
                  <a:pt x="839951" y="470536"/>
                </a:lnTo>
                <a:lnTo>
                  <a:pt x="831657" y="518015"/>
                </a:lnTo>
                <a:lnTo>
                  <a:pt x="818220" y="563512"/>
                </a:lnTo>
                <a:lnTo>
                  <a:pt x="799955" y="606711"/>
                </a:lnTo>
                <a:lnTo>
                  <a:pt x="777181" y="647297"/>
                </a:lnTo>
                <a:lnTo>
                  <a:pt x="750211" y="684953"/>
                </a:lnTo>
                <a:lnTo>
                  <a:pt x="719363" y="719363"/>
                </a:lnTo>
                <a:lnTo>
                  <a:pt x="684953" y="750211"/>
                </a:lnTo>
                <a:lnTo>
                  <a:pt x="647297" y="777181"/>
                </a:lnTo>
                <a:lnTo>
                  <a:pt x="606711" y="799955"/>
                </a:lnTo>
                <a:lnTo>
                  <a:pt x="563512" y="818220"/>
                </a:lnTo>
                <a:lnTo>
                  <a:pt x="518015" y="831657"/>
                </a:lnTo>
                <a:lnTo>
                  <a:pt x="470536" y="839951"/>
                </a:lnTo>
                <a:lnTo>
                  <a:pt x="421393" y="842786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698111" y="5454982"/>
            <a:ext cx="4070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17207276" y="9239610"/>
            <a:ext cx="3860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2</a:t>
            </a:fld>
            <a:endParaRPr spc="125" dirty="0"/>
          </a:p>
        </p:txBody>
      </p:sp>
      <p:sp>
        <p:nvSpPr>
          <p:cNvPr id="22" name="object 22"/>
          <p:cNvSpPr txBox="1"/>
          <p:nvPr/>
        </p:nvSpPr>
        <p:spPr>
          <a:xfrm>
            <a:off x="3920793" y="3184993"/>
            <a:ext cx="21126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5" dirty="0">
                <a:solidFill>
                  <a:srgbClr val="2D3780"/>
                </a:solidFill>
                <a:latin typeface="Trebuchet MS"/>
                <a:cs typeface="Trebuchet MS"/>
              </a:rPr>
              <a:t>Introduction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10958" y="4313530"/>
            <a:ext cx="20732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solidFill>
                  <a:srgbClr val="2D3780"/>
                </a:solidFill>
                <a:latin typeface="Trebuchet MS"/>
                <a:cs typeface="Trebuchet MS"/>
              </a:rPr>
              <a:t>État</a:t>
            </a:r>
            <a:r>
              <a:rPr sz="3200" spc="-1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3200" spc="-1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2D3780"/>
                </a:solidFill>
                <a:latin typeface="Trebuchet MS"/>
                <a:cs typeface="Trebuchet MS"/>
              </a:rPr>
              <a:t>l'art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19914" y="3173246"/>
            <a:ext cx="4714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0" dirty="0">
                <a:solidFill>
                  <a:srgbClr val="2D3780"/>
                </a:solidFill>
                <a:latin typeface="Trebuchet MS"/>
                <a:cs typeface="Trebuchet MS"/>
              </a:rPr>
              <a:t>Prétraitement</a:t>
            </a:r>
            <a:r>
              <a:rPr sz="32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32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2D3780"/>
                </a:solidFill>
                <a:latin typeface="Trebuchet MS"/>
                <a:cs typeface="Trebuchet MS"/>
              </a:rPr>
              <a:t>données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18780" y="4313530"/>
            <a:ext cx="42754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5" dirty="0">
                <a:solidFill>
                  <a:srgbClr val="2D3780"/>
                </a:solidFill>
                <a:latin typeface="Trebuchet MS"/>
                <a:cs typeface="Trebuchet MS"/>
              </a:rPr>
              <a:t>Résultats</a:t>
            </a:r>
            <a:r>
              <a:rPr sz="32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200" spc="-90" dirty="0">
                <a:solidFill>
                  <a:srgbClr val="2D3780"/>
                </a:solidFill>
                <a:latin typeface="Trebuchet MS"/>
                <a:cs typeface="Trebuchet MS"/>
              </a:rPr>
              <a:t>Expérimentaux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19914" y="5430320"/>
            <a:ext cx="1946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2D3780"/>
                </a:solidFill>
                <a:latin typeface="Trebuchet MS"/>
                <a:cs typeface="Trebuchet MS"/>
              </a:rPr>
              <a:t>Conclusion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10958" y="5430320"/>
            <a:ext cx="24479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2D3780"/>
                </a:solidFill>
                <a:latin typeface="Trebuchet MS"/>
                <a:cs typeface="Trebuchet MS"/>
              </a:rPr>
              <a:t>Méthodologie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51132" y="3745922"/>
            <a:ext cx="1299019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-1075" dirty="0">
                <a:solidFill>
                  <a:srgbClr val="FFFFFF"/>
                </a:solidFill>
                <a:latin typeface="Verdana"/>
                <a:cs typeface="Verdana"/>
              </a:rPr>
              <a:t>Introduction</a:t>
            </a:r>
            <a:r>
              <a:rPr sz="9200" spc="-1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200" spc="-1590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9200" spc="-10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200" spc="-990" dirty="0">
                <a:solidFill>
                  <a:srgbClr val="FFFFFF"/>
                </a:solidFill>
                <a:latin typeface="Verdana"/>
                <a:cs typeface="Verdana"/>
              </a:rPr>
              <a:t>Contexte</a:t>
            </a:r>
            <a:endParaRPr sz="92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3</a:t>
            </a:fld>
            <a:endParaRPr spc="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2488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105"/>
              </a:spcBef>
            </a:pPr>
            <a:r>
              <a:rPr spc="-690" dirty="0">
                <a:solidFill>
                  <a:srgbClr val="2D3780"/>
                </a:solidFill>
              </a:rPr>
              <a:t>Introduction</a:t>
            </a:r>
          </a:p>
          <a:p>
            <a:pPr marL="148590">
              <a:lnSpc>
                <a:spcPct val="100000"/>
              </a:lnSpc>
              <a:spcBef>
                <a:spcPts val="455"/>
              </a:spcBef>
            </a:pPr>
            <a:r>
              <a:rPr sz="2950" b="0" i="0" dirty="0">
                <a:solidFill>
                  <a:srgbClr val="2D3780"/>
                </a:solidFill>
                <a:latin typeface="Trebuchet MS"/>
                <a:cs typeface="Trebuchet MS"/>
              </a:rPr>
              <a:t>Qu'est-ce</a:t>
            </a:r>
            <a:r>
              <a:rPr sz="2950" b="0" i="0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0" i="0" dirty="0">
                <a:solidFill>
                  <a:srgbClr val="2D3780"/>
                </a:solidFill>
                <a:latin typeface="Trebuchet MS"/>
                <a:cs typeface="Trebuchet MS"/>
              </a:rPr>
              <a:t>que</a:t>
            </a:r>
            <a:r>
              <a:rPr sz="2950" b="0" i="0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0" i="0" spc="-90" dirty="0">
                <a:solidFill>
                  <a:srgbClr val="2D3780"/>
                </a:solidFill>
                <a:latin typeface="Trebuchet MS"/>
                <a:cs typeface="Trebuchet MS"/>
              </a:rPr>
              <a:t>le</a:t>
            </a:r>
            <a:r>
              <a:rPr sz="2950" b="0" i="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0" i="0" spc="-85" dirty="0">
                <a:solidFill>
                  <a:srgbClr val="2D3780"/>
                </a:solidFill>
                <a:latin typeface="Trebuchet MS"/>
                <a:cs typeface="Trebuchet MS"/>
              </a:rPr>
              <a:t>churn</a:t>
            </a:r>
            <a:r>
              <a:rPr sz="2950" b="0" i="0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0" i="0" spc="-100" dirty="0">
                <a:solidFill>
                  <a:srgbClr val="2D3780"/>
                </a:solidFill>
                <a:latin typeface="Trebuchet MS"/>
                <a:cs typeface="Trebuchet MS"/>
              </a:rPr>
              <a:t>client</a:t>
            </a:r>
            <a:r>
              <a:rPr sz="2950" b="0" i="0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0" i="0" spc="370" dirty="0">
                <a:solidFill>
                  <a:srgbClr val="2D3780"/>
                </a:solidFill>
                <a:latin typeface="Trebuchet MS"/>
                <a:cs typeface="Trebuchet MS"/>
              </a:rPr>
              <a:t>?</a:t>
            </a:r>
            <a:endParaRPr sz="295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3454271"/>
            <a:ext cx="171450" cy="171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87408" y="3317775"/>
            <a:ext cx="7206615" cy="17246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319405">
              <a:lnSpc>
                <a:spcPts val="2850"/>
              </a:lnSpc>
              <a:spcBef>
                <a:spcPts val="219"/>
              </a:spcBef>
            </a:pPr>
            <a:r>
              <a:rPr sz="2400" b="1" spc="-95" dirty="0">
                <a:solidFill>
                  <a:srgbClr val="2D3780"/>
                </a:solidFill>
                <a:latin typeface="Trebuchet MS"/>
                <a:cs typeface="Trebuchet MS"/>
              </a:rPr>
              <a:t>Le</a:t>
            </a:r>
            <a:r>
              <a:rPr sz="2400" b="1" spc="-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60" dirty="0">
                <a:solidFill>
                  <a:srgbClr val="2D3780"/>
                </a:solidFill>
                <a:latin typeface="Trebuchet MS"/>
                <a:cs typeface="Trebuchet MS"/>
              </a:rPr>
              <a:t>churn</a:t>
            </a:r>
            <a:r>
              <a:rPr sz="2400" b="1" spc="-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30" dirty="0">
                <a:solidFill>
                  <a:srgbClr val="2D3780"/>
                </a:solidFill>
                <a:latin typeface="Trebuchet MS"/>
                <a:cs typeface="Trebuchet MS"/>
              </a:rPr>
              <a:t>client</a:t>
            </a:r>
            <a:r>
              <a:rPr sz="2400" b="1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4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phénomène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critique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dans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Telecom,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Banque,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Assurance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Médias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ts val="2850"/>
              </a:lnSpc>
              <a:spcBef>
                <a:spcPts val="1945"/>
              </a:spcBef>
            </a:pP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Coût</a:t>
            </a:r>
            <a:r>
              <a:rPr sz="2400" b="1" spc="-1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d'acquisition</a:t>
            </a:r>
            <a:r>
              <a:rPr sz="2400" b="1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d'un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nouveau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client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2D3780"/>
                </a:solidFill>
                <a:latin typeface="Trebuchet MS"/>
                <a:cs typeface="Trebuchet MS"/>
              </a:rPr>
              <a:t>=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5×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le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coût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rétention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4425631"/>
            <a:ext cx="171450" cy="171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5568402"/>
            <a:ext cx="171450" cy="1714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87408" y="5431914"/>
            <a:ext cx="7171055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b="1" spc="114" dirty="0">
                <a:solidFill>
                  <a:srgbClr val="2D3780"/>
                </a:solidFill>
                <a:latin typeface="Trebuchet MS"/>
                <a:cs typeface="Trebuchet MS"/>
              </a:rPr>
              <a:t>ML</a:t>
            </a:r>
            <a:r>
              <a:rPr sz="2400" b="1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2D3780"/>
                </a:solidFill>
                <a:latin typeface="Trebuchet MS"/>
                <a:cs typeface="Trebuchet MS"/>
              </a:rPr>
              <a:t>classique</a:t>
            </a:r>
            <a:r>
              <a:rPr sz="2400" b="1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4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feature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engineering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2D3780"/>
                </a:solidFill>
                <a:latin typeface="Trebuchet MS"/>
                <a:cs typeface="Trebuchet MS"/>
              </a:rPr>
              <a:t>manuel,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2D3780"/>
                </a:solidFill>
                <a:latin typeface="Trebuchet MS"/>
                <a:cs typeface="Trebuchet MS"/>
              </a:rPr>
              <a:t>limité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aux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relations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non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linéaires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complexes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6711183"/>
            <a:ext cx="171450" cy="1714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87408" y="6574686"/>
            <a:ext cx="6545580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b="1" spc="-95" dirty="0">
                <a:solidFill>
                  <a:srgbClr val="2D3780"/>
                </a:solidFill>
                <a:latin typeface="Trebuchet MS"/>
                <a:cs typeface="Trebuchet MS"/>
              </a:rPr>
              <a:t>DL</a:t>
            </a:r>
            <a:r>
              <a:rPr sz="2400" b="1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simple</a:t>
            </a:r>
            <a:r>
              <a:rPr sz="2400" b="1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4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incapable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capturer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simultanément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dépendances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globales,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locales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temporelles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7853954"/>
            <a:ext cx="171450" cy="1714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87408" y="7717467"/>
            <a:ext cx="7103109" cy="7531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Déséquilibre</a:t>
            </a:r>
            <a:r>
              <a:rPr sz="2400" b="1" spc="-1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75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2400" b="1" spc="-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95" dirty="0">
                <a:solidFill>
                  <a:srgbClr val="2D3780"/>
                </a:solidFill>
                <a:latin typeface="Trebuchet MS"/>
                <a:cs typeface="Trebuchet MS"/>
              </a:rPr>
              <a:t>classes</a:t>
            </a:r>
            <a:r>
              <a:rPr sz="2400" b="1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4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datasets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churn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fortement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déséquilibrés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(taux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60" dirty="0">
                <a:solidFill>
                  <a:srgbClr val="2D3780"/>
                </a:solidFill>
                <a:latin typeface="Trebuchet MS"/>
                <a:cs typeface="Trebuchet MS"/>
              </a:rPr>
              <a:t>11-</a:t>
            </a:r>
            <a:r>
              <a:rPr sz="2400" spc="45" dirty="0">
                <a:solidFill>
                  <a:srgbClr val="2D3780"/>
                </a:solidFill>
                <a:latin typeface="Trebuchet MS"/>
                <a:cs typeface="Trebuchet MS"/>
              </a:rPr>
              <a:t>27%)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885226" y="3311424"/>
            <a:ext cx="3714115" cy="1000125"/>
            <a:chOff x="9885226" y="3311424"/>
            <a:chExt cx="3714115" cy="1000125"/>
          </a:xfrm>
        </p:grpSpPr>
        <p:sp>
          <p:nvSpPr>
            <p:cNvPr id="13" name="object 13"/>
            <p:cNvSpPr/>
            <p:nvPr/>
          </p:nvSpPr>
          <p:spPr>
            <a:xfrm>
              <a:off x="9885226" y="3311424"/>
              <a:ext cx="3714115" cy="1000125"/>
            </a:xfrm>
            <a:custGeom>
              <a:avLst/>
              <a:gdLst/>
              <a:ahLst/>
              <a:cxnLst/>
              <a:rect l="l" t="t" r="r" b="b"/>
              <a:pathLst>
                <a:path w="3714115" h="1000125">
                  <a:moveTo>
                    <a:pt x="3634073" y="999934"/>
                  </a:moveTo>
                  <a:lnTo>
                    <a:pt x="80009" y="999934"/>
                  </a:lnTo>
                  <a:lnTo>
                    <a:pt x="48863" y="993647"/>
                  </a:lnTo>
                  <a:lnTo>
                    <a:pt x="23431" y="976502"/>
                  </a:lnTo>
                  <a:lnTo>
                    <a:pt x="6286" y="951071"/>
                  </a:lnTo>
                  <a:lnTo>
                    <a:pt x="0" y="919924"/>
                  </a:lnTo>
                  <a:lnTo>
                    <a:pt x="0" y="80009"/>
                  </a:lnTo>
                  <a:lnTo>
                    <a:pt x="6286" y="48863"/>
                  </a:lnTo>
                  <a:lnTo>
                    <a:pt x="23431" y="23431"/>
                  </a:lnTo>
                  <a:lnTo>
                    <a:pt x="48863" y="6286"/>
                  </a:lnTo>
                  <a:lnTo>
                    <a:pt x="80009" y="0"/>
                  </a:lnTo>
                  <a:lnTo>
                    <a:pt x="3634073" y="0"/>
                  </a:lnTo>
                  <a:lnTo>
                    <a:pt x="3665219" y="6286"/>
                  </a:lnTo>
                  <a:lnTo>
                    <a:pt x="3690651" y="23431"/>
                  </a:lnTo>
                  <a:lnTo>
                    <a:pt x="3707795" y="48863"/>
                  </a:lnTo>
                  <a:lnTo>
                    <a:pt x="3714082" y="80009"/>
                  </a:lnTo>
                  <a:lnTo>
                    <a:pt x="3714082" y="919924"/>
                  </a:lnTo>
                  <a:lnTo>
                    <a:pt x="3707795" y="951071"/>
                  </a:lnTo>
                  <a:lnTo>
                    <a:pt x="3690651" y="976502"/>
                  </a:lnTo>
                  <a:lnTo>
                    <a:pt x="3665219" y="993647"/>
                  </a:lnTo>
                  <a:lnTo>
                    <a:pt x="3634073" y="999934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13784" y="3539980"/>
              <a:ext cx="571500" cy="414655"/>
            </a:xfrm>
            <a:custGeom>
              <a:avLst/>
              <a:gdLst/>
              <a:ahLst/>
              <a:cxnLst/>
              <a:rect l="l" t="t" r="r" b="b"/>
              <a:pathLst>
                <a:path w="571500" h="414654">
                  <a:moveTo>
                    <a:pt x="285695" y="185776"/>
                  </a:moveTo>
                  <a:lnTo>
                    <a:pt x="249560" y="178470"/>
                  </a:lnTo>
                  <a:lnTo>
                    <a:pt x="220035" y="158552"/>
                  </a:lnTo>
                  <a:lnTo>
                    <a:pt x="200119" y="129025"/>
                  </a:lnTo>
                  <a:lnTo>
                    <a:pt x="192813" y="92888"/>
                  </a:lnTo>
                  <a:lnTo>
                    <a:pt x="200119" y="56751"/>
                  </a:lnTo>
                  <a:lnTo>
                    <a:pt x="220035" y="27223"/>
                  </a:lnTo>
                  <a:lnTo>
                    <a:pt x="249560" y="7306"/>
                  </a:lnTo>
                  <a:lnTo>
                    <a:pt x="285695" y="0"/>
                  </a:lnTo>
                  <a:lnTo>
                    <a:pt x="321830" y="7306"/>
                  </a:lnTo>
                  <a:lnTo>
                    <a:pt x="351356" y="27223"/>
                  </a:lnTo>
                  <a:lnTo>
                    <a:pt x="371272" y="56751"/>
                  </a:lnTo>
                  <a:lnTo>
                    <a:pt x="378577" y="92888"/>
                  </a:lnTo>
                  <a:lnTo>
                    <a:pt x="371272" y="129025"/>
                  </a:lnTo>
                  <a:lnTo>
                    <a:pt x="351356" y="158552"/>
                  </a:lnTo>
                  <a:lnTo>
                    <a:pt x="321830" y="178470"/>
                  </a:lnTo>
                  <a:lnTo>
                    <a:pt x="285695" y="185776"/>
                  </a:lnTo>
                  <a:close/>
                </a:path>
                <a:path w="571500" h="414654">
                  <a:moveTo>
                    <a:pt x="85737" y="192921"/>
                  </a:moveTo>
                  <a:lnTo>
                    <a:pt x="60739" y="187857"/>
                  </a:lnTo>
                  <a:lnTo>
                    <a:pt x="40296" y="174057"/>
                  </a:lnTo>
                  <a:lnTo>
                    <a:pt x="26498" y="153613"/>
                  </a:lnTo>
                  <a:lnTo>
                    <a:pt x="21434" y="128614"/>
                  </a:lnTo>
                  <a:lnTo>
                    <a:pt x="26511" y="103574"/>
                  </a:lnTo>
                  <a:lnTo>
                    <a:pt x="40313" y="83134"/>
                  </a:lnTo>
                  <a:lnTo>
                    <a:pt x="60765" y="69357"/>
                  </a:lnTo>
                  <a:lnTo>
                    <a:pt x="85737" y="64307"/>
                  </a:lnTo>
                  <a:lnTo>
                    <a:pt x="110735" y="69357"/>
                  </a:lnTo>
                  <a:lnTo>
                    <a:pt x="131178" y="83134"/>
                  </a:lnTo>
                  <a:lnTo>
                    <a:pt x="144976" y="103574"/>
                  </a:lnTo>
                  <a:lnTo>
                    <a:pt x="150040" y="128614"/>
                  </a:lnTo>
                  <a:lnTo>
                    <a:pt x="144984" y="153613"/>
                  </a:lnTo>
                  <a:lnTo>
                    <a:pt x="131202" y="174057"/>
                  </a:lnTo>
                  <a:lnTo>
                    <a:pt x="110754" y="187857"/>
                  </a:lnTo>
                  <a:lnTo>
                    <a:pt x="85737" y="192921"/>
                  </a:lnTo>
                  <a:close/>
                </a:path>
                <a:path w="571500" h="414654">
                  <a:moveTo>
                    <a:pt x="400107" y="414328"/>
                  </a:moveTo>
                  <a:lnTo>
                    <a:pt x="171474" y="414328"/>
                  </a:lnTo>
                  <a:lnTo>
                    <a:pt x="160337" y="412086"/>
                  </a:lnTo>
                  <a:lnTo>
                    <a:pt x="151254" y="405968"/>
                  </a:lnTo>
                  <a:lnTo>
                    <a:pt x="145137" y="396885"/>
                  </a:lnTo>
                  <a:lnTo>
                    <a:pt x="142895" y="385747"/>
                  </a:lnTo>
                  <a:lnTo>
                    <a:pt x="142895" y="371457"/>
                  </a:lnTo>
                  <a:lnTo>
                    <a:pt x="150175" y="326267"/>
                  </a:lnTo>
                  <a:lnTo>
                    <a:pt x="170450" y="287035"/>
                  </a:lnTo>
                  <a:lnTo>
                    <a:pt x="201375" y="256108"/>
                  </a:lnTo>
                  <a:lnTo>
                    <a:pt x="240603" y="235832"/>
                  </a:lnTo>
                  <a:lnTo>
                    <a:pt x="285790" y="228552"/>
                  </a:lnTo>
                  <a:lnTo>
                    <a:pt x="330977" y="235832"/>
                  </a:lnTo>
                  <a:lnTo>
                    <a:pt x="370206" y="256108"/>
                  </a:lnTo>
                  <a:lnTo>
                    <a:pt x="401131" y="287035"/>
                  </a:lnTo>
                  <a:lnTo>
                    <a:pt x="421406" y="326267"/>
                  </a:lnTo>
                  <a:lnTo>
                    <a:pt x="428686" y="371457"/>
                  </a:lnTo>
                  <a:lnTo>
                    <a:pt x="428686" y="385747"/>
                  </a:lnTo>
                  <a:lnTo>
                    <a:pt x="426444" y="396885"/>
                  </a:lnTo>
                  <a:lnTo>
                    <a:pt x="420326" y="405968"/>
                  </a:lnTo>
                  <a:lnTo>
                    <a:pt x="411244" y="412086"/>
                  </a:lnTo>
                  <a:lnTo>
                    <a:pt x="400107" y="414328"/>
                  </a:lnTo>
                  <a:close/>
                </a:path>
                <a:path w="571500" h="414654">
                  <a:moveTo>
                    <a:pt x="106028" y="414328"/>
                  </a:moveTo>
                  <a:lnTo>
                    <a:pt x="28579" y="414328"/>
                  </a:lnTo>
                  <a:lnTo>
                    <a:pt x="17442" y="412086"/>
                  </a:lnTo>
                  <a:lnTo>
                    <a:pt x="8359" y="405968"/>
                  </a:lnTo>
                  <a:lnTo>
                    <a:pt x="2241" y="396885"/>
                  </a:lnTo>
                  <a:lnTo>
                    <a:pt x="0" y="385747"/>
                  </a:lnTo>
                  <a:lnTo>
                    <a:pt x="0" y="357166"/>
                  </a:lnTo>
                  <a:lnTo>
                    <a:pt x="8980" y="312656"/>
                  </a:lnTo>
                  <a:lnTo>
                    <a:pt x="33473" y="276318"/>
                  </a:lnTo>
                  <a:lnTo>
                    <a:pt x="69808" y="251823"/>
                  </a:lnTo>
                  <a:lnTo>
                    <a:pt x="114316" y="242842"/>
                  </a:lnTo>
                  <a:lnTo>
                    <a:pt x="122815" y="243159"/>
                  </a:lnTo>
                  <a:lnTo>
                    <a:pt x="131154" y="244093"/>
                  </a:lnTo>
                  <a:lnTo>
                    <a:pt x="139314" y="245616"/>
                  </a:lnTo>
                  <a:lnTo>
                    <a:pt x="147277" y="247701"/>
                  </a:lnTo>
                  <a:lnTo>
                    <a:pt x="127516" y="274219"/>
                  </a:lnTo>
                  <a:lnTo>
                    <a:pt x="112649" y="304077"/>
                  </a:lnTo>
                  <a:lnTo>
                    <a:pt x="103283" y="336686"/>
                  </a:lnTo>
                  <a:lnTo>
                    <a:pt x="100026" y="371457"/>
                  </a:lnTo>
                  <a:lnTo>
                    <a:pt x="100026" y="385747"/>
                  </a:lnTo>
                  <a:lnTo>
                    <a:pt x="100415" y="393281"/>
                  </a:lnTo>
                  <a:lnTo>
                    <a:pt x="101562" y="400573"/>
                  </a:lnTo>
                  <a:lnTo>
                    <a:pt x="103442" y="407598"/>
                  </a:lnTo>
                  <a:lnTo>
                    <a:pt x="106028" y="414328"/>
                  </a:lnTo>
                  <a:close/>
                </a:path>
                <a:path w="571500" h="414654">
                  <a:moveTo>
                    <a:pt x="542907" y="414328"/>
                  </a:moveTo>
                  <a:lnTo>
                    <a:pt x="465458" y="414328"/>
                  </a:lnTo>
                  <a:lnTo>
                    <a:pt x="468003" y="407598"/>
                  </a:lnTo>
                  <a:lnTo>
                    <a:pt x="469887" y="400573"/>
                  </a:lnTo>
                  <a:lnTo>
                    <a:pt x="471057" y="393281"/>
                  </a:lnTo>
                  <a:lnTo>
                    <a:pt x="471459" y="385747"/>
                  </a:lnTo>
                  <a:lnTo>
                    <a:pt x="471459" y="371457"/>
                  </a:lnTo>
                  <a:lnTo>
                    <a:pt x="468216" y="336686"/>
                  </a:lnTo>
                  <a:lnTo>
                    <a:pt x="458873" y="304077"/>
                  </a:lnTo>
                  <a:lnTo>
                    <a:pt x="444010" y="274219"/>
                  </a:lnTo>
                  <a:lnTo>
                    <a:pt x="424208" y="247701"/>
                  </a:lnTo>
                  <a:lnTo>
                    <a:pt x="432172" y="245616"/>
                  </a:lnTo>
                  <a:lnTo>
                    <a:pt x="440332" y="244093"/>
                  </a:lnTo>
                  <a:lnTo>
                    <a:pt x="448670" y="243159"/>
                  </a:lnTo>
                  <a:lnTo>
                    <a:pt x="457170" y="242842"/>
                  </a:lnTo>
                  <a:lnTo>
                    <a:pt x="501677" y="251823"/>
                  </a:lnTo>
                  <a:lnTo>
                    <a:pt x="538013" y="276318"/>
                  </a:lnTo>
                  <a:lnTo>
                    <a:pt x="562506" y="312656"/>
                  </a:lnTo>
                  <a:lnTo>
                    <a:pt x="571486" y="357166"/>
                  </a:lnTo>
                  <a:lnTo>
                    <a:pt x="571486" y="385747"/>
                  </a:lnTo>
                  <a:lnTo>
                    <a:pt x="569244" y="396885"/>
                  </a:lnTo>
                  <a:lnTo>
                    <a:pt x="563127" y="405968"/>
                  </a:lnTo>
                  <a:lnTo>
                    <a:pt x="554044" y="412086"/>
                  </a:lnTo>
                  <a:lnTo>
                    <a:pt x="542907" y="414328"/>
                  </a:lnTo>
                  <a:close/>
                </a:path>
                <a:path w="571500" h="414654">
                  <a:moveTo>
                    <a:pt x="485749" y="192921"/>
                  </a:moveTo>
                  <a:lnTo>
                    <a:pt x="460711" y="187870"/>
                  </a:lnTo>
                  <a:lnTo>
                    <a:pt x="440272" y="174093"/>
                  </a:lnTo>
                  <a:lnTo>
                    <a:pt x="426496" y="153653"/>
                  </a:lnTo>
                  <a:lnTo>
                    <a:pt x="421446" y="128614"/>
                  </a:lnTo>
                  <a:lnTo>
                    <a:pt x="426523" y="103574"/>
                  </a:lnTo>
                  <a:lnTo>
                    <a:pt x="440325" y="83134"/>
                  </a:lnTo>
                  <a:lnTo>
                    <a:pt x="460777" y="69357"/>
                  </a:lnTo>
                  <a:lnTo>
                    <a:pt x="485749" y="64307"/>
                  </a:lnTo>
                  <a:lnTo>
                    <a:pt x="510787" y="69357"/>
                  </a:lnTo>
                  <a:lnTo>
                    <a:pt x="531225" y="83134"/>
                  </a:lnTo>
                  <a:lnTo>
                    <a:pt x="545001" y="103574"/>
                  </a:lnTo>
                  <a:lnTo>
                    <a:pt x="550052" y="128614"/>
                  </a:lnTo>
                  <a:lnTo>
                    <a:pt x="545001" y="153653"/>
                  </a:lnTo>
                  <a:lnTo>
                    <a:pt x="531225" y="174093"/>
                  </a:lnTo>
                  <a:lnTo>
                    <a:pt x="510787" y="187870"/>
                  </a:lnTo>
                  <a:lnTo>
                    <a:pt x="485749" y="1929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729603" y="3603620"/>
            <a:ext cx="16325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FFFFFF"/>
                </a:solidFill>
                <a:latin typeface="Trebuchet MS"/>
                <a:cs typeface="Trebuchet MS"/>
              </a:rPr>
              <a:t>Churn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-20" dirty="0">
                <a:solidFill>
                  <a:srgbClr val="FFFFFF"/>
                </a:solidFill>
                <a:latin typeface="Trebuchet MS"/>
                <a:cs typeface="Trebuchet MS"/>
              </a:rPr>
              <a:t>client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463680" y="4425631"/>
            <a:ext cx="386080" cy="514350"/>
          </a:xfrm>
          <a:custGeom>
            <a:avLst/>
            <a:gdLst/>
            <a:ahLst/>
            <a:cxnLst/>
            <a:rect l="l" t="t" r="r" b="b"/>
            <a:pathLst>
              <a:path w="386079" h="514350">
                <a:moveTo>
                  <a:pt x="224980" y="404431"/>
                </a:moveTo>
                <a:lnTo>
                  <a:pt x="160782" y="404431"/>
                </a:lnTo>
                <a:lnTo>
                  <a:pt x="160782" y="32099"/>
                </a:lnTo>
                <a:lnTo>
                  <a:pt x="163306" y="19609"/>
                </a:lnTo>
                <a:lnTo>
                  <a:pt x="170188" y="9405"/>
                </a:lnTo>
                <a:lnTo>
                  <a:pt x="180391" y="2524"/>
                </a:lnTo>
                <a:lnTo>
                  <a:pt x="192881" y="0"/>
                </a:lnTo>
                <a:lnTo>
                  <a:pt x="205371" y="2524"/>
                </a:lnTo>
                <a:lnTo>
                  <a:pt x="215574" y="9405"/>
                </a:lnTo>
                <a:lnTo>
                  <a:pt x="222456" y="19609"/>
                </a:lnTo>
                <a:lnTo>
                  <a:pt x="224980" y="32099"/>
                </a:lnTo>
                <a:lnTo>
                  <a:pt x="224980" y="404431"/>
                </a:lnTo>
                <a:close/>
              </a:path>
              <a:path w="386079" h="514350">
                <a:moveTo>
                  <a:pt x="195495" y="513746"/>
                </a:moveTo>
                <a:lnTo>
                  <a:pt x="190267" y="513746"/>
                </a:lnTo>
                <a:lnTo>
                  <a:pt x="180766" y="511897"/>
                </a:lnTo>
                <a:lnTo>
                  <a:pt x="169833" y="504637"/>
                </a:lnTo>
                <a:lnTo>
                  <a:pt x="9334" y="344138"/>
                </a:lnTo>
                <a:lnTo>
                  <a:pt x="2262" y="333488"/>
                </a:lnTo>
                <a:lnTo>
                  <a:pt x="0" y="321373"/>
                </a:lnTo>
                <a:lnTo>
                  <a:pt x="2262" y="309258"/>
                </a:lnTo>
                <a:lnTo>
                  <a:pt x="9334" y="298608"/>
                </a:lnTo>
                <a:lnTo>
                  <a:pt x="19984" y="291536"/>
                </a:lnTo>
                <a:lnTo>
                  <a:pt x="32099" y="289178"/>
                </a:lnTo>
                <a:lnTo>
                  <a:pt x="44213" y="291536"/>
                </a:lnTo>
                <a:lnTo>
                  <a:pt x="54864" y="298608"/>
                </a:lnTo>
                <a:lnTo>
                  <a:pt x="160782" y="404431"/>
                </a:lnTo>
                <a:lnTo>
                  <a:pt x="316039" y="404431"/>
                </a:lnTo>
                <a:lnTo>
                  <a:pt x="215834" y="504637"/>
                </a:lnTo>
                <a:lnTo>
                  <a:pt x="215574" y="504872"/>
                </a:lnTo>
                <a:lnTo>
                  <a:pt x="204995" y="511897"/>
                </a:lnTo>
                <a:lnTo>
                  <a:pt x="195495" y="513746"/>
                </a:lnTo>
                <a:close/>
              </a:path>
              <a:path w="386079" h="514350">
                <a:moveTo>
                  <a:pt x="316039" y="404431"/>
                </a:moveTo>
                <a:lnTo>
                  <a:pt x="224980" y="404431"/>
                </a:lnTo>
                <a:lnTo>
                  <a:pt x="330803" y="298608"/>
                </a:lnTo>
                <a:lnTo>
                  <a:pt x="341453" y="291536"/>
                </a:lnTo>
                <a:lnTo>
                  <a:pt x="353568" y="289178"/>
                </a:lnTo>
                <a:lnTo>
                  <a:pt x="365682" y="291536"/>
                </a:lnTo>
                <a:lnTo>
                  <a:pt x="376332" y="298608"/>
                </a:lnTo>
                <a:lnTo>
                  <a:pt x="383405" y="309258"/>
                </a:lnTo>
                <a:lnTo>
                  <a:pt x="385762" y="321373"/>
                </a:lnTo>
                <a:lnTo>
                  <a:pt x="383405" y="333488"/>
                </a:lnTo>
                <a:lnTo>
                  <a:pt x="376332" y="344138"/>
                </a:lnTo>
                <a:lnTo>
                  <a:pt x="316039" y="404431"/>
                </a:lnTo>
                <a:close/>
              </a:path>
            </a:pathLst>
          </a:custGeom>
          <a:solidFill>
            <a:srgbClr val="0025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9885226" y="5139862"/>
            <a:ext cx="3714115" cy="1000125"/>
            <a:chOff x="9885226" y="5139862"/>
            <a:chExt cx="3714115" cy="1000125"/>
          </a:xfrm>
        </p:grpSpPr>
        <p:sp>
          <p:nvSpPr>
            <p:cNvPr id="18" name="object 18"/>
            <p:cNvSpPr/>
            <p:nvPr/>
          </p:nvSpPr>
          <p:spPr>
            <a:xfrm>
              <a:off x="9885226" y="5139862"/>
              <a:ext cx="3714115" cy="1000125"/>
            </a:xfrm>
            <a:custGeom>
              <a:avLst/>
              <a:gdLst/>
              <a:ahLst/>
              <a:cxnLst/>
              <a:rect l="l" t="t" r="r" b="b"/>
              <a:pathLst>
                <a:path w="3714115" h="1000125">
                  <a:moveTo>
                    <a:pt x="3634073" y="999934"/>
                  </a:moveTo>
                  <a:lnTo>
                    <a:pt x="80009" y="999934"/>
                  </a:lnTo>
                  <a:lnTo>
                    <a:pt x="48863" y="993647"/>
                  </a:lnTo>
                  <a:lnTo>
                    <a:pt x="23431" y="976502"/>
                  </a:lnTo>
                  <a:lnTo>
                    <a:pt x="6286" y="951071"/>
                  </a:lnTo>
                  <a:lnTo>
                    <a:pt x="0" y="919924"/>
                  </a:lnTo>
                  <a:lnTo>
                    <a:pt x="0" y="80009"/>
                  </a:lnTo>
                  <a:lnTo>
                    <a:pt x="6286" y="48863"/>
                  </a:lnTo>
                  <a:lnTo>
                    <a:pt x="23431" y="23431"/>
                  </a:lnTo>
                  <a:lnTo>
                    <a:pt x="48863" y="6286"/>
                  </a:lnTo>
                  <a:lnTo>
                    <a:pt x="80009" y="0"/>
                  </a:lnTo>
                  <a:lnTo>
                    <a:pt x="3634073" y="0"/>
                  </a:lnTo>
                  <a:lnTo>
                    <a:pt x="3665219" y="6286"/>
                  </a:lnTo>
                  <a:lnTo>
                    <a:pt x="3690651" y="23431"/>
                  </a:lnTo>
                  <a:lnTo>
                    <a:pt x="3707795" y="48863"/>
                  </a:lnTo>
                  <a:lnTo>
                    <a:pt x="3714082" y="80009"/>
                  </a:lnTo>
                  <a:lnTo>
                    <a:pt x="3714082" y="919924"/>
                  </a:lnTo>
                  <a:lnTo>
                    <a:pt x="3707795" y="951071"/>
                  </a:lnTo>
                  <a:lnTo>
                    <a:pt x="3690651" y="976502"/>
                  </a:lnTo>
                  <a:lnTo>
                    <a:pt x="3665219" y="993647"/>
                  </a:lnTo>
                  <a:lnTo>
                    <a:pt x="3634073" y="999934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13785" y="5354137"/>
              <a:ext cx="571500" cy="429259"/>
            </a:xfrm>
            <a:custGeom>
              <a:avLst/>
              <a:gdLst/>
              <a:ahLst/>
              <a:cxnLst/>
              <a:rect l="l" t="t" r="r" b="b"/>
              <a:pathLst>
                <a:path w="571500" h="429260">
                  <a:moveTo>
                    <a:pt x="314369" y="57161"/>
                  </a:moveTo>
                  <a:lnTo>
                    <a:pt x="257116" y="57161"/>
                  </a:lnTo>
                  <a:lnTo>
                    <a:pt x="257116" y="0"/>
                  </a:lnTo>
                  <a:lnTo>
                    <a:pt x="314369" y="0"/>
                  </a:lnTo>
                  <a:lnTo>
                    <a:pt x="314369" y="57161"/>
                  </a:lnTo>
                  <a:close/>
                </a:path>
                <a:path w="571500" h="429260">
                  <a:moveTo>
                    <a:pt x="400107" y="428714"/>
                  </a:moveTo>
                  <a:lnTo>
                    <a:pt x="171474" y="428714"/>
                  </a:lnTo>
                  <a:lnTo>
                    <a:pt x="138103" y="421975"/>
                  </a:lnTo>
                  <a:lnTo>
                    <a:pt x="110851" y="403598"/>
                  </a:lnTo>
                  <a:lnTo>
                    <a:pt x="92475" y="376344"/>
                  </a:lnTo>
                  <a:lnTo>
                    <a:pt x="85737" y="342971"/>
                  </a:lnTo>
                  <a:lnTo>
                    <a:pt x="85737" y="142904"/>
                  </a:lnTo>
                  <a:lnTo>
                    <a:pt x="92475" y="109531"/>
                  </a:lnTo>
                  <a:lnTo>
                    <a:pt x="110851" y="82277"/>
                  </a:lnTo>
                  <a:lnTo>
                    <a:pt x="138103" y="63900"/>
                  </a:lnTo>
                  <a:lnTo>
                    <a:pt x="171474" y="57161"/>
                  </a:lnTo>
                  <a:lnTo>
                    <a:pt x="400107" y="57161"/>
                  </a:lnTo>
                  <a:lnTo>
                    <a:pt x="433477" y="63900"/>
                  </a:lnTo>
                  <a:lnTo>
                    <a:pt x="460730" y="82277"/>
                  </a:lnTo>
                  <a:lnTo>
                    <a:pt x="479106" y="109531"/>
                  </a:lnTo>
                  <a:lnTo>
                    <a:pt x="485844" y="142904"/>
                  </a:lnTo>
                  <a:lnTo>
                    <a:pt x="485844" y="157195"/>
                  </a:lnTo>
                  <a:lnTo>
                    <a:pt x="200053" y="157195"/>
                  </a:lnTo>
                  <a:lnTo>
                    <a:pt x="183388" y="160571"/>
                  </a:lnTo>
                  <a:lnTo>
                    <a:pt x="169759" y="169770"/>
                  </a:lnTo>
                  <a:lnTo>
                    <a:pt x="160560" y="183400"/>
                  </a:lnTo>
                  <a:lnTo>
                    <a:pt x="157184" y="200066"/>
                  </a:lnTo>
                  <a:lnTo>
                    <a:pt x="160560" y="216732"/>
                  </a:lnTo>
                  <a:lnTo>
                    <a:pt x="169759" y="230362"/>
                  </a:lnTo>
                  <a:lnTo>
                    <a:pt x="183388" y="239561"/>
                  </a:lnTo>
                  <a:lnTo>
                    <a:pt x="200053" y="242937"/>
                  </a:lnTo>
                  <a:lnTo>
                    <a:pt x="485844" y="242937"/>
                  </a:lnTo>
                  <a:lnTo>
                    <a:pt x="485844" y="307149"/>
                  </a:lnTo>
                  <a:lnTo>
                    <a:pt x="164329" y="307149"/>
                  </a:lnTo>
                  <a:lnTo>
                    <a:pt x="155956" y="308824"/>
                  </a:lnTo>
                  <a:lnTo>
                    <a:pt x="149147" y="313401"/>
                  </a:lnTo>
                  <a:lnTo>
                    <a:pt x="144570" y="320212"/>
                  </a:lnTo>
                  <a:lnTo>
                    <a:pt x="142895" y="328585"/>
                  </a:lnTo>
                  <a:lnTo>
                    <a:pt x="144570" y="336958"/>
                  </a:lnTo>
                  <a:lnTo>
                    <a:pt x="149147" y="343769"/>
                  </a:lnTo>
                  <a:lnTo>
                    <a:pt x="155956" y="348346"/>
                  </a:lnTo>
                  <a:lnTo>
                    <a:pt x="164329" y="350021"/>
                  </a:lnTo>
                  <a:lnTo>
                    <a:pt x="484421" y="350021"/>
                  </a:lnTo>
                  <a:lnTo>
                    <a:pt x="479106" y="376344"/>
                  </a:lnTo>
                  <a:lnTo>
                    <a:pt x="460730" y="403598"/>
                  </a:lnTo>
                  <a:lnTo>
                    <a:pt x="433477" y="421975"/>
                  </a:lnTo>
                  <a:lnTo>
                    <a:pt x="400107" y="428714"/>
                  </a:lnTo>
                  <a:close/>
                </a:path>
                <a:path w="571500" h="429260">
                  <a:moveTo>
                    <a:pt x="371432" y="242937"/>
                  </a:moveTo>
                  <a:lnTo>
                    <a:pt x="200053" y="242937"/>
                  </a:lnTo>
                  <a:lnTo>
                    <a:pt x="216718" y="239561"/>
                  </a:lnTo>
                  <a:lnTo>
                    <a:pt x="230347" y="230362"/>
                  </a:lnTo>
                  <a:lnTo>
                    <a:pt x="239546" y="216732"/>
                  </a:lnTo>
                  <a:lnTo>
                    <a:pt x="242922" y="200066"/>
                  </a:lnTo>
                  <a:lnTo>
                    <a:pt x="239546" y="183400"/>
                  </a:lnTo>
                  <a:lnTo>
                    <a:pt x="230347" y="169770"/>
                  </a:lnTo>
                  <a:lnTo>
                    <a:pt x="216718" y="160571"/>
                  </a:lnTo>
                  <a:lnTo>
                    <a:pt x="200053" y="157195"/>
                  </a:lnTo>
                  <a:lnTo>
                    <a:pt x="371432" y="157195"/>
                  </a:lnTo>
                  <a:lnTo>
                    <a:pt x="354767" y="160571"/>
                  </a:lnTo>
                  <a:lnTo>
                    <a:pt x="341139" y="169770"/>
                  </a:lnTo>
                  <a:lnTo>
                    <a:pt x="331940" y="183400"/>
                  </a:lnTo>
                  <a:lnTo>
                    <a:pt x="328564" y="200066"/>
                  </a:lnTo>
                  <a:lnTo>
                    <a:pt x="331940" y="216732"/>
                  </a:lnTo>
                  <a:lnTo>
                    <a:pt x="341139" y="230362"/>
                  </a:lnTo>
                  <a:lnTo>
                    <a:pt x="354767" y="239561"/>
                  </a:lnTo>
                  <a:lnTo>
                    <a:pt x="371432" y="242937"/>
                  </a:lnTo>
                  <a:close/>
                </a:path>
                <a:path w="571500" h="429260">
                  <a:moveTo>
                    <a:pt x="485844" y="242937"/>
                  </a:moveTo>
                  <a:lnTo>
                    <a:pt x="371432" y="242937"/>
                  </a:lnTo>
                  <a:lnTo>
                    <a:pt x="388098" y="239561"/>
                  </a:lnTo>
                  <a:lnTo>
                    <a:pt x="401726" y="230362"/>
                  </a:lnTo>
                  <a:lnTo>
                    <a:pt x="410925" y="216732"/>
                  </a:lnTo>
                  <a:lnTo>
                    <a:pt x="414301" y="200066"/>
                  </a:lnTo>
                  <a:lnTo>
                    <a:pt x="410925" y="183400"/>
                  </a:lnTo>
                  <a:lnTo>
                    <a:pt x="401726" y="169770"/>
                  </a:lnTo>
                  <a:lnTo>
                    <a:pt x="388098" y="160571"/>
                  </a:lnTo>
                  <a:lnTo>
                    <a:pt x="371432" y="157195"/>
                  </a:lnTo>
                  <a:lnTo>
                    <a:pt x="485844" y="157195"/>
                  </a:lnTo>
                  <a:lnTo>
                    <a:pt x="485844" y="242937"/>
                  </a:lnTo>
                  <a:close/>
                </a:path>
                <a:path w="571500" h="429260">
                  <a:moveTo>
                    <a:pt x="271501" y="350021"/>
                  </a:moveTo>
                  <a:lnTo>
                    <a:pt x="192908" y="350021"/>
                  </a:lnTo>
                  <a:lnTo>
                    <a:pt x="201281" y="348346"/>
                  </a:lnTo>
                  <a:lnTo>
                    <a:pt x="208091" y="343769"/>
                  </a:lnTo>
                  <a:lnTo>
                    <a:pt x="212668" y="336958"/>
                  </a:lnTo>
                  <a:lnTo>
                    <a:pt x="214343" y="328585"/>
                  </a:lnTo>
                  <a:lnTo>
                    <a:pt x="212668" y="320212"/>
                  </a:lnTo>
                  <a:lnTo>
                    <a:pt x="208091" y="313401"/>
                  </a:lnTo>
                  <a:lnTo>
                    <a:pt x="201281" y="308824"/>
                  </a:lnTo>
                  <a:lnTo>
                    <a:pt x="192908" y="307149"/>
                  </a:lnTo>
                  <a:lnTo>
                    <a:pt x="271501" y="307149"/>
                  </a:lnTo>
                  <a:lnTo>
                    <a:pt x="263128" y="308824"/>
                  </a:lnTo>
                  <a:lnTo>
                    <a:pt x="256318" y="313401"/>
                  </a:lnTo>
                  <a:lnTo>
                    <a:pt x="251741" y="320212"/>
                  </a:lnTo>
                  <a:lnTo>
                    <a:pt x="250067" y="328585"/>
                  </a:lnTo>
                  <a:lnTo>
                    <a:pt x="251741" y="336958"/>
                  </a:lnTo>
                  <a:lnTo>
                    <a:pt x="256318" y="343769"/>
                  </a:lnTo>
                  <a:lnTo>
                    <a:pt x="263128" y="348346"/>
                  </a:lnTo>
                  <a:lnTo>
                    <a:pt x="271501" y="350021"/>
                  </a:lnTo>
                  <a:close/>
                </a:path>
                <a:path w="571500" h="429260">
                  <a:moveTo>
                    <a:pt x="378672" y="350021"/>
                  </a:moveTo>
                  <a:lnTo>
                    <a:pt x="300080" y="350021"/>
                  </a:lnTo>
                  <a:lnTo>
                    <a:pt x="308453" y="348346"/>
                  </a:lnTo>
                  <a:lnTo>
                    <a:pt x="315263" y="343769"/>
                  </a:lnTo>
                  <a:lnTo>
                    <a:pt x="319840" y="336958"/>
                  </a:lnTo>
                  <a:lnTo>
                    <a:pt x="321514" y="328585"/>
                  </a:lnTo>
                  <a:lnTo>
                    <a:pt x="319840" y="320212"/>
                  </a:lnTo>
                  <a:lnTo>
                    <a:pt x="315263" y="313401"/>
                  </a:lnTo>
                  <a:lnTo>
                    <a:pt x="308453" y="308824"/>
                  </a:lnTo>
                  <a:lnTo>
                    <a:pt x="300080" y="307149"/>
                  </a:lnTo>
                  <a:lnTo>
                    <a:pt x="378672" y="307149"/>
                  </a:lnTo>
                  <a:lnTo>
                    <a:pt x="370300" y="308824"/>
                  </a:lnTo>
                  <a:lnTo>
                    <a:pt x="363490" y="313401"/>
                  </a:lnTo>
                  <a:lnTo>
                    <a:pt x="358913" y="320212"/>
                  </a:lnTo>
                  <a:lnTo>
                    <a:pt x="357238" y="328585"/>
                  </a:lnTo>
                  <a:lnTo>
                    <a:pt x="358913" y="336958"/>
                  </a:lnTo>
                  <a:lnTo>
                    <a:pt x="363490" y="343769"/>
                  </a:lnTo>
                  <a:lnTo>
                    <a:pt x="370300" y="348346"/>
                  </a:lnTo>
                  <a:lnTo>
                    <a:pt x="378672" y="350021"/>
                  </a:lnTo>
                  <a:close/>
                </a:path>
                <a:path w="571500" h="429260">
                  <a:moveTo>
                    <a:pt x="484421" y="350021"/>
                  </a:moveTo>
                  <a:lnTo>
                    <a:pt x="407252" y="350021"/>
                  </a:lnTo>
                  <a:lnTo>
                    <a:pt x="415624" y="348346"/>
                  </a:lnTo>
                  <a:lnTo>
                    <a:pt x="422434" y="343769"/>
                  </a:lnTo>
                  <a:lnTo>
                    <a:pt x="427011" y="336958"/>
                  </a:lnTo>
                  <a:lnTo>
                    <a:pt x="428686" y="328585"/>
                  </a:lnTo>
                  <a:lnTo>
                    <a:pt x="427011" y="320212"/>
                  </a:lnTo>
                  <a:lnTo>
                    <a:pt x="422434" y="313401"/>
                  </a:lnTo>
                  <a:lnTo>
                    <a:pt x="415624" y="308824"/>
                  </a:lnTo>
                  <a:lnTo>
                    <a:pt x="407252" y="307149"/>
                  </a:lnTo>
                  <a:lnTo>
                    <a:pt x="485844" y="307149"/>
                  </a:lnTo>
                  <a:lnTo>
                    <a:pt x="485844" y="342971"/>
                  </a:lnTo>
                  <a:lnTo>
                    <a:pt x="484421" y="350021"/>
                  </a:lnTo>
                  <a:close/>
                </a:path>
                <a:path w="571500" h="429260">
                  <a:moveTo>
                    <a:pt x="28579" y="314390"/>
                  </a:moveTo>
                  <a:lnTo>
                    <a:pt x="0" y="285809"/>
                  </a:lnTo>
                  <a:lnTo>
                    <a:pt x="0" y="200066"/>
                  </a:lnTo>
                  <a:lnTo>
                    <a:pt x="2241" y="188928"/>
                  </a:lnTo>
                  <a:lnTo>
                    <a:pt x="8359" y="179845"/>
                  </a:lnTo>
                  <a:lnTo>
                    <a:pt x="17442" y="173727"/>
                  </a:lnTo>
                  <a:lnTo>
                    <a:pt x="28579" y="171485"/>
                  </a:lnTo>
                  <a:lnTo>
                    <a:pt x="39716" y="173727"/>
                  </a:lnTo>
                  <a:lnTo>
                    <a:pt x="48798" y="179845"/>
                  </a:lnTo>
                  <a:lnTo>
                    <a:pt x="54916" y="188928"/>
                  </a:lnTo>
                  <a:lnTo>
                    <a:pt x="57158" y="200066"/>
                  </a:lnTo>
                  <a:lnTo>
                    <a:pt x="57158" y="285809"/>
                  </a:lnTo>
                  <a:lnTo>
                    <a:pt x="54916" y="296947"/>
                  </a:lnTo>
                  <a:lnTo>
                    <a:pt x="48798" y="306030"/>
                  </a:lnTo>
                  <a:lnTo>
                    <a:pt x="39716" y="312148"/>
                  </a:lnTo>
                  <a:lnTo>
                    <a:pt x="28579" y="314390"/>
                  </a:lnTo>
                  <a:close/>
                </a:path>
                <a:path w="571500" h="429260">
                  <a:moveTo>
                    <a:pt x="542907" y="314390"/>
                  </a:moveTo>
                  <a:lnTo>
                    <a:pt x="531770" y="312148"/>
                  </a:lnTo>
                  <a:lnTo>
                    <a:pt x="522687" y="306030"/>
                  </a:lnTo>
                  <a:lnTo>
                    <a:pt x="516570" y="296947"/>
                  </a:lnTo>
                  <a:lnTo>
                    <a:pt x="514328" y="285809"/>
                  </a:lnTo>
                  <a:lnTo>
                    <a:pt x="514328" y="200066"/>
                  </a:lnTo>
                  <a:lnTo>
                    <a:pt x="516570" y="188928"/>
                  </a:lnTo>
                  <a:lnTo>
                    <a:pt x="522687" y="179845"/>
                  </a:lnTo>
                  <a:lnTo>
                    <a:pt x="531770" y="173727"/>
                  </a:lnTo>
                  <a:lnTo>
                    <a:pt x="542907" y="171485"/>
                  </a:lnTo>
                  <a:lnTo>
                    <a:pt x="554044" y="173727"/>
                  </a:lnTo>
                  <a:lnTo>
                    <a:pt x="563127" y="179845"/>
                  </a:lnTo>
                  <a:lnTo>
                    <a:pt x="569244" y="188928"/>
                  </a:lnTo>
                  <a:lnTo>
                    <a:pt x="571486" y="200066"/>
                  </a:lnTo>
                  <a:lnTo>
                    <a:pt x="571486" y="285809"/>
                  </a:lnTo>
                  <a:lnTo>
                    <a:pt x="569244" y="296947"/>
                  </a:lnTo>
                  <a:lnTo>
                    <a:pt x="563127" y="306030"/>
                  </a:lnTo>
                  <a:lnTo>
                    <a:pt x="554044" y="312148"/>
                  </a:lnTo>
                  <a:lnTo>
                    <a:pt x="542907" y="3143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729603" y="5432058"/>
            <a:ext cx="21310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65" dirty="0">
                <a:solidFill>
                  <a:srgbClr val="FFFFFF"/>
                </a:solidFill>
                <a:latin typeface="Trebuchet MS"/>
                <a:cs typeface="Trebuchet MS"/>
              </a:rPr>
              <a:t>Modèles</a:t>
            </a:r>
            <a:r>
              <a:rPr sz="225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Trebuchet MS"/>
                <a:cs typeface="Trebuchet MS"/>
              </a:rPr>
              <a:t>limités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463680" y="6254069"/>
            <a:ext cx="386080" cy="514350"/>
          </a:xfrm>
          <a:custGeom>
            <a:avLst/>
            <a:gdLst/>
            <a:ahLst/>
            <a:cxnLst/>
            <a:rect l="l" t="t" r="r" b="b"/>
            <a:pathLst>
              <a:path w="386079" h="514350">
                <a:moveTo>
                  <a:pt x="224980" y="404431"/>
                </a:moveTo>
                <a:lnTo>
                  <a:pt x="160782" y="404431"/>
                </a:lnTo>
                <a:lnTo>
                  <a:pt x="160782" y="32099"/>
                </a:lnTo>
                <a:lnTo>
                  <a:pt x="163306" y="19609"/>
                </a:lnTo>
                <a:lnTo>
                  <a:pt x="170188" y="9406"/>
                </a:lnTo>
                <a:lnTo>
                  <a:pt x="180391" y="2524"/>
                </a:lnTo>
                <a:lnTo>
                  <a:pt x="192881" y="0"/>
                </a:lnTo>
                <a:lnTo>
                  <a:pt x="205371" y="2524"/>
                </a:lnTo>
                <a:lnTo>
                  <a:pt x="215574" y="9406"/>
                </a:lnTo>
                <a:lnTo>
                  <a:pt x="222456" y="19609"/>
                </a:lnTo>
                <a:lnTo>
                  <a:pt x="224980" y="32099"/>
                </a:lnTo>
                <a:lnTo>
                  <a:pt x="224980" y="404431"/>
                </a:lnTo>
                <a:close/>
              </a:path>
              <a:path w="386079" h="514350">
                <a:moveTo>
                  <a:pt x="195495" y="513746"/>
                </a:moveTo>
                <a:lnTo>
                  <a:pt x="190267" y="513746"/>
                </a:lnTo>
                <a:lnTo>
                  <a:pt x="180766" y="511897"/>
                </a:lnTo>
                <a:lnTo>
                  <a:pt x="169833" y="504637"/>
                </a:lnTo>
                <a:lnTo>
                  <a:pt x="9334" y="344138"/>
                </a:lnTo>
                <a:lnTo>
                  <a:pt x="2262" y="333488"/>
                </a:lnTo>
                <a:lnTo>
                  <a:pt x="0" y="321373"/>
                </a:lnTo>
                <a:lnTo>
                  <a:pt x="2262" y="309259"/>
                </a:lnTo>
                <a:lnTo>
                  <a:pt x="9334" y="298608"/>
                </a:lnTo>
                <a:lnTo>
                  <a:pt x="19984" y="291536"/>
                </a:lnTo>
                <a:lnTo>
                  <a:pt x="32099" y="289179"/>
                </a:lnTo>
                <a:lnTo>
                  <a:pt x="44213" y="291536"/>
                </a:lnTo>
                <a:lnTo>
                  <a:pt x="54864" y="298608"/>
                </a:lnTo>
                <a:lnTo>
                  <a:pt x="160782" y="404431"/>
                </a:lnTo>
                <a:lnTo>
                  <a:pt x="316039" y="404431"/>
                </a:lnTo>
                <a:lnTo>
                  <a:pt x="215834" y="504637"/>
                </a:lnTo>
                <a:lnTo>
                  <a:pt x="215574" y="504872"/>
                </a:lnTo>
                <a:lnTo>
                  <a:pt x="204995" y="511897"/>
                </a:lnTo>
                <a:lnTo>
                  <a:pt x="195495" y="513746"/>
                </a:lnTo>
                <a:close/>
              </a:path>
              <a:path w="386079" h="514350">
                <a:moveTo>
                  <a:pt x="316039" y="404431"/>
                </a:moveTo>
                <a:lnTo>
                  <a:pt x="224980" y="404431"/>
                </a:lnTo>
                <a:lnTo>
                  <a:pt x="330803" y="298608"/>
                </a:lnTo>
                <a:lnTo>
                  <a:pt x="341453" y="291536"/>
                </a:lnTo>
                <a:lnTo>
                  <a:pt x="353568" y="289179"/>
                </a:lnTo>
                <a:lnTo>
                  <a:pt x="365682" y="291536"/>
                </a:lnTo>
                <a:lnTo>
                  <a:pt x="376332" y="298608"/>
                </a:lnTo>
                <a:lnTo>
                  <a:pt x="383405" y="309259"/>
                </a:lnTo>
                <a:lnTo>
                  <a:pt x="385762" y="321373"/>
                </a:lnTo>
                <a:lnTo>
                  <a:pt x="383405" y="333488"/>
                </a:lnTo>
                <a:lnTo>
                  <a:pt x="376332" y="344138"/>
                </a:lnTo>
                <a:lnTo>
                  <a:pt x="316039" y="404431"/>
                </a:lnTo>
                <a:close/>
              </a:path>
            </a:pathLst>
          </a:custGeom>
          <a:solidFill>
            <a:srgbClr val="0025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9885226" y="6968310"/>
            <a:ext cx="3714115" cy="1000125"/>
            <a:chOff x="9885226" y="6968310"/>
            <a:chExt cx="3714115" cy="1000125"/>
          </a:xfrm>
        </p:grpSpPr>
        <p:sp>
          <p:nvSpPr>
            <p:cNvPr id="23" name="object 23"/>
            <p:cNvSpPr/>
            <p:nvPr/>
          </p:nvSpPr>
          <p:spPr>
            <a:xfrm>
              <a:off x="9885226" y="6968310"/>
              <a:ext cx="3714115" cy="1000125"/>
            </a:xfrm>
            <a:custGeom>
              <a:avLst/>
              <a:gdLst/>
              <a:ahLst/>
              <a:cxnLst/>
              <a:rect l="l" t="t" r="r" b="b"/>
              <a:pathLst>
                <a:path w="3714115" h="1000125">
                  <a:moveTo>
                    <a:pt x="3634073" y="999934"/>
                  </a:moveTo>
                  <a:lnTo>
                    <a:pt x="80009" y="999934"/>
                  </a:lnTo>
                  <a:lnTo>
                    <a:pt x="48863" y="993647"/>
                  </a:lnTo>
                  <a:lnTo>
                    <a:pt x="23431" y="976502"/>
                  </a:lnTo>
                  <a:lnTo>
                    <a:pt x="6286" y="951071"/>
                  </a:lnTo>
                  <a:lnTo>
                    <a:pt x="0" y="919924"/>
                  </a:lnTo>
                  <a:lnTo>
                    <a:pt x="0" y="80009"/>
                  </a:lnTo>
                  <a:lnTo>
                    <a:pt x="6286" y="48863"/>
                  </a:lnTo>
                  <a:lnTo>
                    <a:pt x="23431" y="23431"/>
                  </a:lnTo>
                  <a:lnTo>
                    <a:pt x="48863" y="6286"/>
                  </a:lnTo>
                  <a:lnTo>
                    <a:pt x="80009" y="0"/>
                  </a:lnTo>
                  <a:lnTo>
                    <a:pt x="3634073" y="0"/>
                  </a:lnTo>
                  <a:lnTo>
                    <a:pt x="3665219" y="6286"/>
                  </a:lnTo>
                  <a:lnTo>
                    <a:pt x="3690651" y="23431"/>
                  </a:lnTo>
                  <a:lnTo>
                    <a:pt x="3707795" y="48863"/>
                  </a:lnTo>
                  <a:lnTo>
                    <a:pt x="3714082" y="80009"/>
                  </a:lnTo>
                  <a:lnTo>
                    <a:pt x="3714082" y="919924"/>
                  </a:lnTo>
                  <a:lnTo>
                    <a:pt x="3707795" y="951071"/>
                  </a:lnTo>
                  <a:lnTo>
                    <a:pt x="3690651" y="976502"/>
                  </a:lnTo>
                  <a:lnTo>
                    <a:pt x="3665219" y="993647"/>
                  </a:lnTo>
                  <a:lnTo>
                    <a:pt x="3634073" y="999934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28059" y="7182584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61533" y="342862"/>
                  </a:moveTo>
                  <a:lnTo>
                    <a:pt x="81366" y="342862"/>
                  </a:lnTo>
                  <a:lnTo>
                    <a:pt x="75350" y="328295"/>
                  </a:lnTo>
                  <a:lnTo>
                    <a:pt x="67324" y="314497"/>
                  </a:lnTo>
                  <a:lnTo>
                    <a:pt x="57744" y="301520"/>
                  </a:lnTo>
                  <a:lnTo>
                    <a:pt x="47066" y="289418"/>
                  </a:lnTo>
                  <a:lnTo>
                    <a:pt x="27372" y="264479"/>
                  </a:lnTo>
                  <a:lnTo>
                    <a:pt x="12564" y="236093"/>
                  </a:lnTo>
                  <a:lnTo>
                    <a:pt x="3240" y="204884"/>
                  </a:lnTo>
                  <a:lnTo>
                    <a:pt x="115" y="172666"/>
                  </a:lnTo>
                  <a:lnTo>
                    <a:pt x="0" y="171479"/>
                  </a:lnTo>
                  <a:lnTo>
                    <a:pt x="6119" y="125896"/>
                  </a:lnTo>
                  <a:lnTo>
                    <a:pt x="23392" y="84935"/>
                  </a:lnTo>
                  <a:lnTo>
                    <a:pt x="50186" y="50229"/>
                  </a:lnTo>
                  <a:lnTo>
                    <a:pt x="84873" y="23414"/>
                  </a:lnTo>
                  <a:lnTo>
                    <a:pt x="125822" y="6126"/>
                  </a:lnTo>
                  <a:lnTo>
                    <a:pt x="171402" y="0"/>
                  </a:lnTo>
                  <a:lnTo>
                    <a:pt x="216989" y="6126"/>
                  </a:lnTo>
                  <a:lnTo>
                    <a:pt x="257955" y="23414"/>
                  </a:lnTo>
                  <a:lnTo>
                    <a:pt x="292665" y="50229"/>
                  </a:lnTo>
                  <a:lnTo>
                    <a:pt x="298020" y="57159"/>
                  </a:lnTo>
                  <a:lnTo>
                    <a:pt x="164351" y="57159"/>
                  </a:lnTo>
                  <a:lnTo>
                    <a:pt x="122602" y="65572"/>
                  </a:lnTo>
                  <a:lnTo>
                    <a:pt x="88535" y="88526"/>
                  </a:lnTo>
                  <a:lnTo>
                    <a:pt x="65579" y="122589"/>
                  </a:lnTo>
                  <a:lnTo>
                    <a:pt x="57165" y="164334"/>
                  </a:lnTo>
                  <a:lnTo>
                    <a:pt x="58840" y="172666"/>
                  </a:lnTo>
                  <a:lnTo>
                    <a:pt x="63418" y="179481"/>
                  </a:lnTo>
                  <a:lnTo>
                    <a:pt x="70229" y="184080"/>
                  </a:lnTo>
                  <a:lnTo>
                    <a:pt x="78603" y="185768"/>
                  </a:lnTo>
                  <a:lnTo>
                    <a:pt x="341513" y="185768"/>
                  </a:lnTo>
                  <a:lnTo>
                    <a:pt x="339659" y="204884"/>
                  </a:lnTo>
                  <a:lnTo>
                    <a:pt x="330335" y="236093"/>
                  </a:lnTo>
                  <a:lnTo>
                    <a:pt x="315527" y="264479"/>
                  </a:lnTo>
                  <a:lnTo>
                    <a:pt x="295833" y="289418"/>
                  </a:lnTo>
                  <a:lnTo>
                    <a:pt x="285155" y="301520"/>
                  </a:lnTo>
                  <a:lnTo>
                    <a:pt x="275575" y="314497"/>
                  </a:lnTo>
                  <a:lnTo>
                    <a:pt x="267549" y="328295"/>
                  </a:lnTo>
                  <a:lnTo>
                    <a:pt x="261533" y="342862"/>
                  </a:lnTo>
                  <a:close/>
                </a:path>
                <a:path w="342900" h="457200">
                  <a:moveTo>
                    <a:pt x="341513" y="185768"/>
                  </a:moveTo>
                  <a:lnTo>
                    <a:pt x="78603" y="185768"/>
                  </a:lnTo>
                  <a:lnTo>
                    <a:pt x="86996" y="184080"/>
                  </a:lnTo>
                  <a:lnTo>
                    <a:pt x="93811" y="179481"/>
                  </a:lnTo>
                  <a:lnTo>
                    <a:pt x="98373" y="172666"/>
                  </a:lnTo>
                  <a:lnTo>
                    <a:pt x="105091" y="139295"/>
                  </a:lnTo>
                  <a:lnTo>
                    <a:pt x="118869" y="118856"/>
                  </a:lnTo>
                  <a:lnTo>
                    <a:pt x="139310" y="105080"/>
                  </a:lnTo>
                  <a:lnTo>
                    <a:pt x="172725" y="98354"/>
                  </a:lnTo>
                  <a:lnTo>
                    <a:pt x="179536" y="93777"/>
                  </a:lnTo>
                  <a:lnTo>
                    <a:pt x="184114" y="86967"/>
                  </a:lnTo>
                  <a:lnTo>
                    <a:pt x="185789" y="78594"/>
                  </a:lnTo>
                  <a:lnTo>
                    <a:pt x="184114" y="70221"/>
                  </a:lnTo>
                  <a:lnTo>
                    <a:pt x="179536" y="63411"/>
                  </a:lnTo>
                  <a:lnTo>
                    <a:pt x="172725" y="58834"/>
                  </a:lnTo>
                  <a:lnTo>
                    <a:pt x="164351" y="57159"/>
                  </a:lnTo>
                  <a:lnTo>
                    <a:pt x="298020" y="57159"/>
                  </a:lnTo>
                  <a:lnTo>
                    <a:pt x="319483" y="84935"/>
                  </a:lnTo>
                  <a:lnTo>
                    <a:pt x="336773" y="125896"/>
                  </a:lnTo>
                  <a:lnTo>
                    <a:pt x="342900" y="171479"/>
                  </a:lnTo>
                  <a:lnTo>
                    <a:pt x="341513" y="185768"/>
                  </a:lnTo>
                  <a:close/>
                </a:path>
                <a:path w="342900" h="457200">
                  <a:moveTo>
                    <a:pt x="226442" y="457190"/>
                  </a:moveTo>
                  <a:lnTo>
                    <a:pt x="116552" y="457190"/>
                  </a:lnTo>
                  <a:lnTo>
                    <a:pt x="106685" y="450537"/>
                  </a:lnTo>
                  <a:lnTo>
                    <a:pt x="91367" y="427825"/>
                  </a:lnTo>
                  <a:lnTo>
                    <a:pt x="85748" y="400022"/>
                  </a:lnTo>
                  <a:lnTo>
                    <a:pt x="85748" y="385732"/>
                  </a:lnTo>
                  <a:lnTo>
                    <a:pt x="257246" y="385732"/>
                  </a:lnTo>
                  <a:lnTo>
                    <a:pt x="257246" y="400022"/>
                  </a:lnTo>
                  <a:lnTo>
                    <a:pt x="251628" y="427825"/>
                  </a:lnTo>
                  <a:lnTo>
                    <a:pt x="236309" y="450537"/>
                  </a:lnTo>
                  <a:lnTo>
                    <a:pt x="226442" y="4571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729603" y="7260505"/>
            <a:ext cx="11506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90" dirty="0">
                <a:solidFill>
                  <a:srgbClr val="FFFFFF"/>
                </a:solidFill>
                <a:latin typeface="Trebuchet MS"/>
                <a:cs typeface="Trebuchet MS"/>
              </a:rPr>
              <a:t>CCP-</a:t>
            </a:r>
            <a:r>
              <a:rPr sz="2250" b="1" spc="-25" dirty="0">
                <a:solidFill>
                  <a:srgbClr val="FFFFFF"/>
                </a:solidFill>
                <a:latin typeface="Trebuchet MS"/>
                <a:cs typeface="Trebuchet MS"/>
              </a:rPr>
              <a:t>Net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72244" y="3601953"/>
            <a:ext cx="38011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solidFill>
                  <a:srgbClr val="2D3780"/>
                </a:solidFill>
                <a:latin typeface="Trebuchet MS"/>
                <a:cs typeface="Trebuchet MS"/>
              </a:rPr>
              <a:t>Perte</a:t>
            </a:r>
            <a:r>
              <a:rPr sz="20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0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2D3780"/>
                </a:solidFill>
                <a:latin typeface="Trebuchet MS"/>
                <a:cs typeface="Trebuchet MS"/>
              </a:rPr>
              <a:t>clients</a:t>
            </a:r>
            <a:r>
              <a:rPr sz="20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2D3780"/>
                </a:solidFill>
                <a:latin typeface="Trebuchet MS"/>
                <a:cs typeface="Trebuchet MS"/>
              </a:rPr>
              <a:t>=</a:t>
            </a:r>
            <a:r>
              <a:rPr sz="20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2D3780"/>
                </a:solidFill>
                <a:latin typeface="Trebuchet MS"/>
                <a:cs typeface="Trebuchet MS"/>
              </a:rPr>
              <a:t>perte</a:t>
            </a:r>
            <a:r>
              <a:rPr sz="20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0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2D3780"/>
                </a:solidFill>
                <a:latin typeface="Trebuchet MS"/>
                <a:cs typeface="Trebuchet MS"/>
              </a:rPr>
              <a:t>revenus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72244" y="5430400"/>
            <a:ext cx="28765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2D3780"/>
                </a:solidFill>
                <a:latin typeface="Trebuchet MS"/>
                <a:cs typeface="Trebuchet MS"/>
              </a:rPr>
              <a:t>ML/DL</a:t>
            </a:r>
            <a:r>
              <a:rPr sz="20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2D3780"/>
                </a:solidFill>
                <a:latin typeface="Trebuchet MS"/>
                <a:cs typeface="Trebuchet MS"/>
              </a:rPr>
              <a:t>simples </a:t>
            </a:r>
            <a:r>
              <a:rPr sz="2000" spc="-45" dirty="0">
                <a:solidFill>
                  <a:srgbClr val="2D3780"/>
                </a:solidFill>
                <a:latin typeface="Trebuchet MS"/>
                <a:cs typeface="Trebuchet MS"/>
              </a:rPr>
              <a:t>insuffisants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72244" y="7258838"/>
            <a:ext cx="333247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5" dirty="0">
                <a:solidFill>
                  <a:srgbClr val="2D3780"/>
                </a:solidFill>
                <a:latin typeface="Trebuchet MS"/>
                <a:cs typeface="Trebuchet MS"/>
              </a:rPr>
              <a:t>Architecture</a:t>
            </a:r>
            <a:r>
              <a:rPr sz="20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2D3780"/>
                </a:solidFill>
                <a:latin typeface="Trebuchet MS"/>
                <a:cs typeface="Trebuchet MS"/>
              </a:rPr>
              <a:t>hybride</a:t>
            </a:r>
            <a:r>
              <a:rPr sz="20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2D3780"/>
                </a:solidFill>
                <a:latin typeface="Trebuchet MS"/>
                <a:cs typeface="Trebuchet MS"/>
              </a:rPr>
              <a:t>proposée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314446" y="0"/>
            <a:ext cx="5974080" cy="2517140"/>
            <a:chOff x="12314446" y="0"/>
            <a:chExt cx="5974080" cy="2517140"/>
          </a:xfrm>
        </p:grpSpPr>
        <p:sp>
          <p:nvSpPr>
            <p:cNvPr id="30" name="object 30"/>
            <p:cNvSpPr/>
            <p:nvPr/>
          </p:nvSpPr>
          <p:spPr>
            <a:xfrm>
              <a:off x="12314446" y="0"/>
              <a:ext cx="5687060" cy="2495550"/>
            </a:xfrm>
            <a:custGeom>
              <a:avLst/>
              <a:gdLst/>
              <a:ahLst/>
              <a:cxnLst/>
              <a:rect l="l" t="t" r="r" b="b"/>
              <a:pathLst>
                <a:path w="5687059" h="2495550">
                  <a:moveTo>
                    <a:pt x="5686979" y="0"/>
                  </a:moveTo>
                  <a:lnTo>
                    <a:pt x="3091466" y="2495355"/>
                  </a:lnTo>
                  <a:lnTo>
                    <a:pt x="3103608" y="1872852"/>
                  </a:lnTo>
                  <a:lnTo>
                    <a:pt x="0" y="0"/>
                  </a:lnTo>
                  <a:lnTo>
                    <a:pt x="5686979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405040" y="0"/>
              <a:ext cx="2596515" cy="2496820"/>
            </a:xfrm>
            <a:custGeom>
              <a:avLst/>
              <a:gdLst/>
              <a:ahLst/>
              <a:cxnLst/>
              <a:rect l="l" t="t" r="r" b="b"/>
              <a:pathLst>
                <a:path w="2596515" h="2496820">
                  <a:moveTo>
                    <a:pt x="2596385" y="0"/>
                  </a:moveTo>
                  <a:lnTo>
                    <a:pt x="0" y="2496193"/>
                  </a:lnTo>
                  <a:lnTo>
                    <a:pt x="12159" y="1872835"/>
                  </a:lnTo>
                  <a:lnTo>
                    <a:pt x="1954097" y="0"/>
                  </a:lnTo>
                  <a:lnTo>
                    <a:pt x="2596385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500834" y="0"/>
              <a:ext cx="1787525" cy="2517140"/>
            </a:xfrm>
            <a:custGeom>
              <a:avLst/>
              <a:gdLst/>
              <a:ahLst/>
              <a:cxnLst/>
              <a:rect l="l" t="t" r="r" b="b"/>
              <a:pathLst>
                <a:path w="1787525" h="2517140">
                  <a:moveTo>
                    <a:pt x="1787164" y="0"/>
                  </a:moveTo>
                  <a:lnTo>
                    <a:pt x="1787164" y="2517045"/>
                  </a:lnTo>
                  <a:lnTo>
                    <a:pt x="0" y="1443170"/>
                  </a:lnTo>
                  <a:lnTo>
                    <a:pt x="1500592" y="0"/>
                  </a:lnTo>
                  <a:lnTo>
                    <a:pt x="1787164" y="0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25" dirty="0"/>
              <a:t>4</a:t>
            </a:fld>
            <a:endParaRPr spc="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8111" y="4221128"/>
            <a:ext cx="7118984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00"/>
              </a:spcBef>
            </a:pP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Comment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concevoir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un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modèle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prédiction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l'attrition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client</a:t>
            </a: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capable</a:t>
            </a: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d'extraire</a:t>
            </a: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simultanément</a:t>
            </a: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les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dépendances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globales,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temporelles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locales,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tout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en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gérant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efficacement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le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déséquilibre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classes,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afin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d'améliorer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la</a:t>
            </a:r>
            <a:r>
              <a:rPr sz="2400" spc="-1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précision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la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robustesse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des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prédictions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sur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différents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secteurs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d'activité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265" dirty="0">
                <a:solidFill>
                  <a:srgbClr val="2D3780"/>
                </a:solidFill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40580" y="3221527"/>
            <a:ext cx="9545955" cy="7065645"/>
            <a:chOff x="8740580" y="3221527"/>
            <a:chExt cx="9545955" cy="70656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0580" y="3221527"/>
              <a:ext cx="8260473" cy="52906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951551" y="8648269"/>
              <a:ext cx="3278504" cy="1638935"/>
            </a:xfrm>
            <a:custGeom>
              <a:avLst/>
              <a:gdLst/>
              <a:ahLst/>
              <a:cxnLst/>
              <a:rect l="l" t="t" r="r" b="b"/>
              <a:pathLst>
                <a:path w="3278505" h="1638934">
                  <a:moveTo>
                    <a:pt x="0" y="1638729"/>
                  </a:moveTo>
                  <a:lnTo>
                    <a:pt x="3277961" y="1638729"/>
                  </a:lnTo>
                  <a:lnTo>
                    <a:pt x="1639231" y="0"/>
                  </a:lnTo>
                  <a:lnTo>
                    <a:pt x="0" y="1638729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869198" y="5869656"/>
              <a:ext cx="4417695" cy="4417695"/>
            </a:xfrm>
            <a:custGeom>
              <a:avLst/>
              <a:gdLst/>
              <a:ahLst/>
              <a:cxnLst/>
              <a:rect l="l" t="t" r="r" b="b"/>
              <a:pathLst>
                <a:path w="4417694" h="4417695">
                  <a:moveTo>
                    <a:pt x="0" y="4417342"/>
                  </a:moveTo>
                  <a:lnTo>
                    <a:pt x="1082855" y="4417342"/>
                  </a:lnTo>
                  <a:lnTo>
                    <a:pt x="2721584" y="2778613"/>
                  </a:lnTo>
                  <a:lnTo>
                    <a:pt x="2721584" y="2778092"/>
                  </a:lnTo>
                  <a:lnTo>
                    <a:pt x="2722105" y="2778092"/>
                  </a:lnTo>
                  <a:lnTo>
                    <a:pt x="4417342" y="1082855"/>
                  </a:lnTo>
                  <a:lnTo>
                    <a:pt x="4417342" y="0"/>
                  </a:lnTo>
                  <a:lnTo>
                    <a:pt x="0" y="4417342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951516" y="8647749"/>
              <a:ext cx="1896110" cy="1639570"/>
            </a:xfrm>
            <a:custGeom>
              <a:avLst/>
              <a:gdLst/>
              <a:ahLst/>
              <a:cxnLst/>
              <a:rect l="l" t="t" r="r" b="b"/>
              <a:pathLst>
                <a:path w="1896109" h="1639570">
                  <a:moveTo>
                    <a:pt x="0" y="1639249"/>
                  </a:moveTo>
                  <a:lnTo>
                    <a:pt x="20815" y="1639249"/>
                  </a:lnTo>
                  <a:lnTo>
                    <a:pt x="1895678" y="256931"/>
                  </a:lnTo>
                  <a:lnTo>
                    <a:pt x="1638747" y="0"/>
                  </a:lnTo>
                  <a:lnTo>
                    <a:pt x="0" y="1639249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907" y="0"/>
            <a:ext cx="4457065" cy="3526790"/>
            <a:chOff x="10907" y="0"/>
            <a:chExt cx="4457065" cy="3526790"/>
          </a:xfrm>
        </p:grpSpPr>
        <p:sp>
          <p:nvSpPr>
            <p:cNvPr id="9" name="object 9"/>
            <p:cNvSpPr/>
            <p:nvPr/>
          </p:nvSpPr>
          <p:spPr>
            <a:xfrm>
              <a:off x="10907" y="0"/>
              <a:ext cx="3914775" cy="2639060"/>
            </a:xfrm>
            <a:custGeom>
              <a:avLst/>
              <a:gdLst/>
              <a:ahLst/>
              <a:cxnLst/>
              <a:rect l="l" t="t" r="r" b="b"/>
              <a:pathLst>
                <a:path w="3914775" h="2639060">
                  <a:moveTo>
                    <a:pt x="1496663" y="2638583"/>
                  </a:moveTo>
                  <a:lnTo>
                    <a:pt x="0" y="1005226"/>
                  </a:lnTo>
                  <a:lnTo>
                    <a:pt x="0" y="0"/>
                  </a:lnTo>
                  <a:lnTo>
                    <a:pt x="3914265" y="0"/>
                  </a:lnTo>
                  <a:lnTo>
                    <a:pt x="1496663" y="2638583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07" y="0"/>
              <a:ext cx="2223770" cy="2633345"/>
            </a:xfrm>
            <a:custGeom>
              <a:avLst/>
              <a:gdLst/>
              <a:ahLst/>
              <a:cxnLst/>
              <a:rect l="l" t="t" r="r" b="b"/>
              <a:pathLst>
                <a:path w="2223770" h="2633345">
                  <a:moveTo>
                    <a:pt x="1491898" y="2633086"/>
                  </a:moveTo>
                  <a:lnTo>
                    <a:pt x="0" y="1005226"/>
                  </a:lnTo>
                  <a:lnTo>
                    <a:pt x="0" y="0"/>
                  </a:lnTo>
                  <a:lnTo>
                    <a:pt x="580121" y="0"/>
                  </a:lnTo>
                  <a:lnTo>
                    <a:pt x="2223739" y="1834181"/>
                  </a:lnTo>
                  <a:lnTo>
                    <a:pt x="1491898" y="2633086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07" y="0"/>
              <a:ext cx="4457065" cy="3526790"/>
            </a:xfrm>
            <a:custGeom>
              <a:avLst/>
              <a:gdLst/>
              <a:ahLst/>
              <a:cxnLst/>
              <a:rect l="l" t="t" r="r" b="b"/>
              <a:pathLst>
                <a:path w="4457065" h="3526790">
                  <a:moveTo>
                    <a:pt x="1226208" y="3526173"/>
                  </a:moveTo>
                  <a:lnTo>
                    <a:pt x="0" y="2188191"/>
                  </a:lnTo>
                  <a:lnTo>
                    <a:pt x="0" y="1584982"/>
                  </a:lnTo>
                  <a:lnTo>
                    <a:pt x="1226208" y="2922964"/>
                  </a:lnTo>
                  <a:lnTo>
                    <a:pt x="3913898" y="0"/>
                  </a:lnTo>
                  <a:lnTo>
                    <a:pt x="4457007" y="0"/>
                  </a:lnTo>
                  <a:lnTo>
                    <a:pt x="1226208" y="3526173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909" rIns="0" bIns="0" rtlCol="0">
            <a:spAutoFit/>
          </a:bodyPr>
          <a:lstStyle/>
          <a:p>
            <a:pPr marL="5591810">
              <a:lnSpc>
                <a:spcPct val="100000"/>
              </a:lnSpc>
              <a:spcBef>
                <a:spcPts val="100"/>
              </a:spcBef>
            </a:pPr>
            <a:r>
              <a:rPr i="0" spc="-620" dirty="0">
                <a:solidFill>
                  <a:srgbClr val="2D3780"/>
                </a:solidFill>
                <a:latin typeface="Cambria"/>
                <a:cs typeface="Cambria"/>
              </a:rPr>
              <a:t>Problématique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808916" y="9377728"/>
            <a:ext cx="1651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2D3780"/>
                </a:solidFill>
                <a:latin typeface="Trebuchet MS"/>
                <a:cs typeface="Trebuchet MS"/>
              </a:rPr>
              <a:t>5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1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5" dirty="0">
                <a:solidFill>
                  <a:srgbClr val="2D3780"/>
                </a:solidFill>
              </a:rPr>
              <a:t>Objectifs</a:t>
            </a:r>
            <a:r>
              <a:rPr spc="100" dirty="0">
                <a:solidFill>
                  <a:srgbClr val="2D3780"/>
                </a:solidFill>
              </a:rPr>
              <a:t> </a:t>
            </a:r>
            <a:r>
              <a:rPr spc="-835" dirty="0">
                <a:solidFill>
                  <a:srgbClr val="2D3780"/>
                </a:solidFill>
              </a:rPr>
              <a:t>du</a:t>
            </a:r>
            <a:r>
              <a:rPr spc="100" dirty="0">
                <a:solidFill>
                  <a:srgbClr val="2D3780"/>
                </a:solidFill>
              </a:rPr>
              <a:t> </a:t>
            </a:r>
            <a:r>
              <a:rPr spc="-690" dirty="0">
                <a:solidFill>
                  <a:srgbClr val="2D3780"/>
                </a:solidFill>
              </a:rPr>
              <a:t>Projet</a:t>
            </a:r>
          </a:p>
        </p:txBody>
      </p:sp>
      <p:sp>
        <p:nvSpPr>
          <p:cNvPr id="3" name="object 3"/>
          <p:cNvSpPr/>
          <p:nvPr/>
        </p:nvSpPr>
        <p:spPr>
          <a:xfrm>
            <a:off x="953825" y="2326395"/>
            <a:ext cx="8181975" cy="3238500"/>
          </a:xfrm>
          <a:custGeom>
            <a:avLst/>
            <a:gdLst/>
            <a:ahLst/>
            <a:cxnLst/>
            <a:rect l="l" t="t" r="r" b="b"/>
            <a:pathLst>
              <a:path w="8181975" h="3238500">
                <a:moveTo>
                  <a:pt x="102738" y="3238499"/>
                </a:moveTo>
                <a:lnTo>
                  <a:pt x="67412" y="3231364"/>
                </a:lnTo>
                <a:lnTo>
                  <a:pt x="32308" y="3207688"/>
                </a:lnTo>
                <a:lnTo>
                  <a:pt x="8679" y="3172636"/>
                </a:lnTo>
                <a:lnTo>
                  <a:pt x="0" y="3129729"/>
                </a:lnTo>
                <a:lnTo>
                  <a:pt x="0" y="110296"/>
                </a:lnTo>
                <a:lnTo>
                  <a:pt x="8661" y="67345"/>
                </a:lnTo>
                <a:lnTo>
                  <a:pt x="32288" y="32288"/>
                </a:lnTo>
                <a:lnTo>
                  <a:pt x="67345" y="8661"/>
                </a:lnTo>
                <a:lnTo>
                  <a:pt x="110296" y="0"/>
                </a:lnTo>
                <a:lnTo>
                  <a:pt x="8071158" y="0"/>
                </a:lnTo>
                <a:lnTo>
                  <a:pt x="8114108" y="8661"/>
                </a:lnTo>
                <a:lnTo>
                  <a:pt x="8149165" y="32288"/>
                </a:lnTo>
                <a:lnTo>
                  <a:pt x="8172792" y="67345"/>
                </a:lnTo>
                <a:lnTo>
                  <a:pt x="8181454" y="110296"/>
                </a:lnTo>
                <a:lnTo>
                  <a:pt x="8181454" y="3129729"/>
                </a:lnTo>
                <a:lnTo>
                  <a:pt x="8172792" y="3172680"/>
                </a:lnTo>
                <a:lnTo>
                  <a:pt x="8149165" y="3207737"/>
                </a:lnTo>
                <a:lnTo>
                  <a:pt x="8114108" y="3231364"/>
                </a:lnTo>
                <a:lnTo>
                  <a:pt x="8078727" y="3238499"/>
                </a:lnTo>
              </a:path>
            </a:pathLst>
          </a:custGeom>
          <a:ln w="28597">
            <a:solidFill>
              <a:srgbClr val="D6DE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59976" y="2941069"/>
            <a:ext cx="6882130" cy="224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5730" algn="ctr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2D3780"/>
                </a:solidFill>
                <a:latin typeface="Trebuchet MS"/>
                <a:cs typeface="Trebuchet MS"/>
              </a:rPr>
              <a:t>Étudier</a:t>
            </a:r>
            <a:r>
              <a:rPr sz="2400" b="1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b="1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techniques</a:t>
            </a:r>
            <a:r>
              <a:rPr sz="2400" b="1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existantes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9800"/>
              </a:lnSpc>
            </a:pP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Analyser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méthodes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Machine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Learning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Deep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Learning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appliquées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100" dirty="0">
                <a:solidFill>
                  <a:srgbClr val="2D3780"/>
                </a:solidFill>
                <a:latin typeface="Trebuchet MS"/>
                <a:cs typeface="Trebuchet MS"/>
              </a:rPr>
              <a:t>à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la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prédiction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du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churn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client, 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identifier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leurs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forces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limitations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respectives.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06623" y="2311790"/>
            <a:ext cx="8211184" cy="3267710"/>
            <a:chOff x="9106623" y="2311790"/>
            <a:chExt cx="8211184" cy="3267710"/>
          </a:xfrm>
        </p:grpSpPr>
        <p:sp>
          <p:nvSpPr>
            <p:cNvPr id="6" name="object 6"/>
            <p:cNvSpPr/>
            <p:nvPr/>
          </p:nvSpPr>
          <p:spPr>
            <a:xfrm>
              <a:off x="9121121" y="2326395"/>
              <a:ext cx="8181340" cy="3240405"/>
            </a:xfrm>
            <a:custGeom>
              <a:avLst/>
              <a:gdLst/>
              <a:ahLst/>
              <a:cxnLst/>
              <a:rect l="l" t="t" r="r" b="b"/>
              <a:pathLst>
                <a:path w="8181340" h="3240404">
                  <a:moveTo>
                    <a:pt x="8071390" y="3240080"/>
                  </a:moveTo>
                  <a:lnTo>
                    <a:pt x="110299" y="3240080"/>
                  </a:lnTo>
                  <a:lnTo>
                    <a:pt x="67414" y="3231457"/>
                  </a:lnTo>
                  <a:lnTo>
                    <a:pt x="32342" y="3207829"/>
                  </a:lnTo>
                  <a:lnTo>
                    <a:pt x="8689" y="3172771"/>
                  </a:lnTo>
                  <a:lnTo>
                    <a:pt x="0" y="3129819"/>
                  </a:lnTo>
                  <a:lnTo>
                    <a:pt x="0" y="110299"/>
                  </a:lnTo>
                  <a:lnTo>
                    <a:pt x="8661" y="67347"/>
                  </a:lnTo>
                  <a:lnTo>
                    <a:pt x="32289" y="32289"/>
                  </a:lnTo>
                  <a:lnTo>
                    <a:pt x="67347" y="8661"/>
                  </a:lnTo>
                  <a:lnTo>
                    <a:pt x="110299" y="0"/>
                  </a:lnTo>
                  <a:lnTo>
                    <a:pt x="8071390" y="0"/>
                  </a:lnTo>
                  <a:lnTo>
                    <a:pt x="8114341" y="8661"/>
                  </a:lnTo>
                  <a:lnTo>
                    <a:pt x="8149399" y="32289"/>
                  </a:lnTo>
                  <a:lnTo>
                    <a:pt x="8173027" y="67347"/>
                  </a:lnTo>
                  <a:lnTo>
                    <a:pt x="8180966" y="106714"/>
                  </a:lnTo>
                  <a:lnTo>
                    <a:pt x="8180966" y="3133404"/>
                  </a:lnTo>
                  <a:lnTo>
                    <a:pt x="8173027" y="3172771"/>
                  </a:lnTo>
                  <a:lnTo>
                    <a:pt x="8149399" y="3207829"/>
                  </a:lnTo>
                  <a:lnTo>
                    <a:pt x="8114341" y="3231457"/>
                  </a:lnTo>
                  <a:lnTo>
                    <a:pt x="8071390" y="3240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21228" y="2326395"/>
              <a:ext cx="8181975" cy="3238500"/>
            </a:xfrm>
            <a:custGeom>
              <a:avLst/>
              <a:gdLst/>
              <a:ahLst/>
              <a:cxnLst/>
              <a:rect l="l" t="t" r="r" b="b"/>
              <a:pathLst>
                <a:path w="8181975" h="3238500">
                  <a:moveTo>
                    <a:pt x="102739" y="3238499"/>
                  </a:moveTo>
                  <a:lnTo>
                    <a:pt x="67412" y="3231364"/>
                  </a:lnTo>
                  <a:lnTo>
                    <a:pt x="32308" y="3207688"/>
                  </a:lnTo>
                  <a:lnTo>
                    <a:pt x="8679" y="3172636"/>
                  </a:lnTo>
                  <a:lnTo>
                    <a:pt x="0" y="3129729"/>
                  </a:lnTo>
                  <a:lnTo>
                    <a:pt x="0" y="110296"/>
                  </a:lnTo>
                  <a:lnTo>
                    <a:pt x="8661" y="67345"/>
                  </a:lnTo>
                  <a:lnTo>
                    <a:pt x="32288" y="32288"/>
                  </a:lnTo>
                  <a:lnTo>
                    <a:pt x="67345" y="8661"/>
                  </a:lnTo>
                  <a:lnTo>
                    <a:pt x="110296" y="0"/>
                  </a:lnTo>
                  <a:lnTo>
                    <a:pt x="8071157" y="0"/>
                  </a:lnTo>
                  <a:lnTo>
                    <a:pt x="8114108" y="8661"/>
                  </a:lnTo>
                  <a:lnTo>
                    <a:pt x="8149165" y="32288"/>
                  </a:lnTo>
                  <a:lnTo>
                    <a:pt x="8172793" y="67345"/>
                  </a:lnTo>
                  <a:lnTo>
                    <a:pt x="8181455" y="110296"/>
                  </a:lnTo>
                  <a:lnTo>
                    <a:pt x="8181454" y="3129730"/>
                  </a:lnTo>
                  <a:lnTo>
                    <a:pt x="8172792" y="3172680"/>
                  </a:lnTo>
                  <a:lnTo>
                    <a:pt x="8149165" y="3207737"/>
                  </a:lnTo>
                  <a:lnTo>
                    <a:pt x="8114108" y="3231364"/>
                  </a:lnTo>
                  <a:lnTo>
                    <a:pt x="8078727" y="3238499"/>
                  </a:lnTo>
                </a:path>
              </a:pathLst>
            </a:custGeom>
            <a:ln w="28597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527368" y="2941069"/>
            <a:ext cx="7360920" cy="224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325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Concevoir</a:t>
            </a:r>
            <a:r>
              <a:rPr sz="2400" b="1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2D3780"/>
                </a:solidFill>
                <a:latin typeface="Trebuchet MS"/>
                <a:cs typeface="Trebuchet MS"/>
              </a:rPr>
              <a:t>l'architecture</a:t>
            </a:r>
            <a:r>
              <a:rPr sz="2400" b="1" spc="-6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100" dirty="0">
                <a:solidFill>
                  <a:srgbClr val="2D3780"/>
                </a:solidFill>
                <a:latin typeface="Trebuchet MS"/>
                <a:cs typeface="Trebuchet MS"/>
              </a:rPr>
              <a:t>CCP-</a:t>
            </a:r>
            <a:r>
              <a:rPr sz="2400" b="1" spc="-25" dirty="0">
                <a:solidFill>
                  <a:srgbClr val="2D3780"/>
                </a:solidFill>
                <a:latin typeface="Trebuchet MS"/>
                <a:cs typeface="Trebuchet MS"/>
              </a:rPr>
              <a:t>Net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9800"/>
              </a:lnSpc>
            </a:pP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Développer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une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architecture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hybride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combinant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Multi-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Head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Self-</a:t>
            </a:r>
            <a:r>
              <a:rPr sz="2400" spc="-114" dirty="0">
                <a:solidFill>
                  <a:srgbClr val="2D3780"/>
                </a:solidFill>
                <a:latin typeface="Trebuchet MS"/>
                <a:cs typeface="Trebuchet MS"/>
              </a:rPr>
              <a:t>Attention,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BiLSTM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CNN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pour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une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extraction </a:t>
            </a:r>
            <a:r>
              <a:rPr sz="2400" spc="-114" dirty="0">
                <a:solidFill>
                  <a:srgbClr val="2D3780"/>
                </a:solidFill>
                <a:latin typeface="Trebuchet MS"/>
                <a:cs typeface="Trebuchet MS"/>
              </a:rPr>
              <a:t>multi-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niveaux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caractéristiques.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3825" y="5963973"/>
            <a:ext cx="8181975" cy="3238500"/>
          </a:xfrm>
          <a:custGeom>
            <a:avLst/>
            <a:gdLst/>
            <a:ahLst/>
            <a:cxnLst/>
            <a:rect l="l" t="t" r="r" b="b"/>
            <a:pathLst>
              <a:path w="8181975" h="3238500">
                <a:moveTo>
                  <a:pt x="102738" y="3238499"/>
                </a:moveTo>
                <a:lnTo>
                  <a:pt x="67411" y="3231364"/>
                </a:lnTo>
                <a:lnTo>
                  <a:pt x="32308" y="3207688"/>
                </a:lnTo>
                <a:lnTo>
                  <a:pt x="8679" y="3172636"/>
                </a:lnTo>
                <a:lnTo>
                  <a:pt x="0" y="3129729"/>
                </a:lnTo>
                <a:lnTo>
                  <a:pt x="0" y="110296"/>
                </a:lnTo>
                <a:lnTo>
                  <a:pt x="8661" y="67345"/>
                </a:lnTo>
                <a:lnTo>
                  <a:pt x="32288" y="32288"/>
                </a:lnTo>
                <a:lnTo>
                  <a:pt x="67345" y="8661"/>
                </a:lnTo>
                <a:lnTo>
                  <a:pt x="110296" y="0"/>
                </a:lnTo>
                <a:lnTo>
                  <a:pt x="8071158" y="0"/>
                </a:lnTo>
                <a:lnTo>
                  <a:pt x="8114108" y="8661"/>
                </a:lnTo>
                <a:lnTo>
                  <a:pt x="8149165" y="32288"/>
                </a:lnTo>
                <a:lnTo>
                  <a:pt x="8172792" y="67345"/>
                </a:lnTo>
                <a:lnTo>
                  <a:pt x="8181454" y="110296"/>
                </a:lnTo>
                <a:lnTo>
                  <a:pt x="8181454" y="3129729"/>
                </a:lnTo>
                <a:lnTo>
                  <a:pt x="8172792" y="3172680"/>
                </a:lnTo>
                <a:lnTo>
                  <a:pt x="8149165" y="3207737"/>
                </a:lnTo>
                <a:lnTo>
                  <a:pt x="8114108" y="3231364"/>
                </a:lnTo>
                <a:lnTo>
                  <a:pt x="8078727" y="3238499"/>
                </a:lnTo>
              </a:path>
            </a:pathLst>
          </a:custGeom>
          <a:ln w="28597">
            <a:solidFill>
              <a:srgbClr val="D6DE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9976" y="6578657"/>
            <a:ext cx="6922134" cy="224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2035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D3780"/>
                </a:solidFill>
                <a:latin typeface="Trebuchet MS"/>
                <a:cs typeface="Trebuchet MS"/>
              </a:rPr>
              <a:t>Équilibrer</a:t>
            </a:r>
            <a:r>
              <a:rPr sz="2400" b="1" spc="-1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avec</a:t>
            </a:r>
            <a:r>
              <a:rPr sz="2400" b="1" spc="-1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85" dirty="0">
                <a:solidFill>
                  <a:srgbClr val="2D3780"/>
                </a:solidFill>
                <a:latin typeface="Trebuchet MS"/>
                <a:cs typeface="Trebuchet MS"/>
              </a:rPr>
              <a:t>ADASYN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9800"/>
              </a:lnSpc>
            </a:pPr>
            <a:r>
              <a:rPr sz="2400" spc="-125" dirty="0">
                <a:solidFill>
                  <a:srgbClr val="2D3780"/>
                </a:solidFill>
                <a:latin typeface="Trebuchet MS"/>
                <a:cs typeface="Trebuchet MS"/>
              </a:rPr>
              <a:t>Utiliser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l'algorithme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60" dirty="0">
                <a:solidFill>
                  <a:srgbClr val="2D3780"/>
                </a:solidFill>
                <a:latin typeface="Trebuchet MS"/>
                <a:cs typeface="Trebuchet MS"/>
              </a:rPr>
              <a:t>ADASYN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pour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générer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des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échantillons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synthétiques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résoudre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le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problème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déséquilibre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classes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dans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datasets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churn.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06623" y="5949368"/>
            <a:ext cx="8211184" cy="3267710"/>
            <a:chOff x="9106623" y="5949368"/>
            <a:chExt cx="8211184" cy="3267710"/>
          </a:xfrm>
        </p:grpSpPr>
        <p:sp>
          <p:nvSpPr>
            <p:cNvPr id="12" name="object 12"/>
            <p:cNvSpPr/>
            <p:nvPr/>
          </p:nvSpPr>
          <p:spPr>
            <a:xfrm>
              <a:off x="9121121" y="5963973"/>
              <a:ext cx="8181340" cy="3240405"/>
            </a:xfrm>
            <a:custGeom>
              <a:avLst/>
              <a:gdLst/>
              <a:ahLst/>
              <a:cxnLst/>
              <a:rect l="l" t="t" r="r" b="b"/>
              <a:pathLst>
                <a:path w="8181340" h="3240404">
                  <a:moveTo>
                    <a:pt x="8071390" y="3240080"/>
                  </a:moveTo>
                  <a:lnTo>
                    <a:pt x="110299" y="3240080"/>
                  </a:lnTo>
                  <a:lnTo>
                    <a:pt x="67414" y="3231457"/>
                  </a:lnTo>
                  <a:lnTo>
                    <a:pt x="32342" y="3207829"/>
                  </a:lnTo>
                  <a:lnTo>
                    <a:pt x="8689" y="3172771"/>
                  </a:lnTo>
                  <a:lnTo>
                    <a:pt x="0" y="3129819"/>
                  </a:lnTo>
                  <a:lnTo>
                    <a:pt x="0" y="110299"/>
                  </a:lnTo>
                  <a:lnTo>
                    <a:pt x="8661" y="67347"/>
                  </a:lnTo>
                  <a:lnTo>
                    <a:pt x="32289" y="32289"/>
                  </a:lnTo>
                  <a:lnTo>
                    <a:pt x="67347" y="8661"/>
                  </a:lnTo>
                  <a:lnTo>
                    <a:pt x="110299" y="0"/>
                  </a:lnTo>
                  <a:lnTo>
                    <a:pt x="8071390" y="0"/>
                  </a:lnTo>
                  <a:lnTo>
                    <a:pt x="8114341" y="8661"/>
                  </a:lnTo>
                  <a:lnTo>
                    <a:pt x="8149399" y="32289"/>
                  </a:lnTo>
                  <a:lnTo>
                    <a:pt x="8173027" y="67347"/>
                  </a:lnTo>
                  <a:lnTo>
                    <a:pt x="8180966" y="106714"/>
                  </a:lnTo>
                  <a:lnTo>
                    <a:pt x="8180966" y="3133404"/>
                  </a:lnTo>
                  <a:lnTo>
                    <a:pt x="8173027" y="3172771"/>
                  </a:lnTo>
                  <a:lnTo>
                    <a:pt x="8149399" y="3207829"/>
                  </a:lnTo>
                  <a:lnTo>
                    <a:pt x="8114341" y="3231457"/>
                  </a:lnTo>
                  <a:lnTo>
                    <a:pt x="8071390" y="32400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21228" y="5963973"/>
              <a:ext cx="8181975" cy="3238500"/>
            </a:xfrm>
            <a:custGeom>
              <a:avLst/>
              <a:gdLst/>
              <a:ahLst/>
              <a:cxnLst/>
              <a:rect l="l" t="t" r="r" b="b"/>
              <a:pathLst>
                <a:path w="8181975" h="3238500">
                  <a:moveTo>
                    <a:pt x="102738" y="3238499"/>
                  </a:moveTo>
                  <a:lnTo>
                    <a:pt x="67411" y="3231364"/>
                  </a:lnTo>
                  <a:lnTo>
                    <a:pt x="32308" y="3207688"/>
                  </a:lnTo>
                  <a:lnTo>
                    <a:pt x="8679" y="3172636"/>
                  </a:lnTo>
                  <a:lnTo>
                    <a:pt x="0" y="3129729"/>
                  </a:lnTo>
                  <a:lnTo>
                    <a:pt x="0" y="110296"/>
                  </a:lnTo>
                  <a:lnTo>
                    <a:pt x="8661" y="67345"/>
                  </a:lnTo>
                  <a:lnTo>
                    <a:pt x="32288" y="32288"/>
                  </a:lnTo>
                  <a:lnTo>
                    <a:pt x="67345" y="8661"/>
                  </a:lnTo>
                  <a:lnTo>
                    <a:pt x="110296" y="0"/>
                  </a:lnTo>
                  <a:lnTo>
                    <a:pt x="8071157" y="0"/>
                  </a:lnTo>
                  <a:lnTo>
                    <a:pt x="8114108" y="8661"/>
                  </a:lnTo>
                  <a:lnTo>
                    <a:pt x="8149165" y="32288"/>
                  </a:lnTo>
                  <a:lnTo>
                    <a:pt x="8172793" y="67345"/>
                  </a:lnTo>
                  <a:lnTo>
                    <a:pt x="8181455" y="110296"/>
                  </a:lnTo>
                  <a:lnTo>
                    <a:pt x="8181454" y="3129729"/>
                  </a:lnTo>
                  <a:lnTo>
                    <a:pt x="8172792" y="3172680"/>
                  </a:lnTo>
                  <a:lnTo>
                    <a:pt x="8149165" y="3207737"/>
                  </a:lnTo>
                  <a:lnTo>
                    <a:pt x="8114108" y="3231364"/>
                  </a:lnTo>
                  <a:lnTo>
                    <a:pt x="8078727" y="3238499"/>
                  </a:lnTo>
                </a:path>
              </a:pathLst>
            </a:custGeom>
            <a:ln w="28597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527368" y="6578657"/>
            <a:ext cx="7061200" cy="224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2035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2D3780"/>
                </a:solidFill>
                <a:latin typeface="Trebuchet MS"/>
                <a:cs typeface="Trebuchet MS"/>
              </a:rPr>
              <a:t>Évaluer</a:t>
            </a:r>
            <a:r>
              <a:rPr sz="2400" b="1" spc="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cross-</a:t>
            </a: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sectoriel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19800"/>
              </a:lnSpc>
            </a:pPr>
            <a:r>
              <a:rPr sz="2400" spc="-130" dirty="0">
                <a:solidFill>
                  <a:srgbClr val="2D3780"/>
                </a:solidFill>
                <a:latin typeface="Trebuchet MS"/>
                <a:cs typeface="Trebuchet MS"/>
              </a:rPr>
              <a:t>Tester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le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modèle</a:t>
            </a:r>
            <a:r>
              <a:rPr sz="2400" spc="-1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sur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185" dirty="0">
                <a:solidFill>
                  <a:srgbClr val="2D3780"/>
                </a:solidFill>
                <a:latin typeface="Trebuchet MS"/>
                <a:cs typeface="Trebuchet MS"/>
              </a:rPr>
              <a:t>4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datasets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secteurs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différents </a:t>
            </a:r>
            <a:r>
              <a:rPr sz="2400" spc="-130" dirty="0">
                <a:solidFill>
                  <a:srgbClr val="2D3780"/>
                </a:solidFill>
                <a:latin typeface="Trebuchet MS"/>
                <a:cs typeface="Trebuchet MS"/>
              </a:rPr>
              <a:t>(Telecom,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2D3780"/>
                </a:solidFill>
                <a:latin typeface="Trebuchet MS"/>
                <a:cs typeface="Trebuchet MS"/>
              </a:rPr>
              <a:t>Bank,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Insurance,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News)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comparer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avec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55" dirty="0">
                <a:solidFill>
                  <a:srgbClr val="2D3780"/>
                </a:solidFill>
                <a:latin typeface="Trebuchet MS"/>
                <a:cs typeface="Trebuchet MS"/>
              </a:rPr>
              <a:t>18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modèles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référence.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64481" y="0"/>
            <a:ext cx="16812895" cy="3350260"/>
            <a:chOff x="1464481" y="0"/>
            <a:chExt cx="16812895" cy="3350260"/>
          </a:xfrm>
        </p:grpSpPr>
        <p:sp>
          <p:nvSpPr>
            <p:cNvPr id="16" name="object 16"/>
            <p:cNvSpPr/>
            <p:nvPr/>
          </p:nvSpPr>
          <p:spPr>
            <a:xfrm>
              <a:off x="15474812" y="0"/>
              <a:ext cx="2611120" cy="1424940"/>
            </a:xfrm>
            <a:custGeom>
              <a:avLst/>
              <a:gdLst/>
              <a:ahLst/>
              <a:cxnLst/>
              <a:rect l="l" t="t" r="r" b="b"/>
              <a:pathLst>
                <a:path w="2611119" h="1424940">
                  <a:moveTo>
                    <a:pt x="1305498" y="1424827"/>
                  </a:moveTo>
                  <a:lnTo>
                    <a:pt x="2611084" y="0"/>
                  </a:lnTo>
                  <a:lnTo>
                    <a:pt x="0" y="0"/>
                  </a:lnTo>
                  <a:lnTo>
                    <a:pt x="1305498" y="1424827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53234" y="0"/>
              <a:ext cx="2032635" cy="1419860"/>
            </a:xfrm>
            <a:custGeom>
              <a:avLst/>
              <a:gdLst/>
              <a:ahLst/>
              <a:cxnLst/>
              <a:rect l="l" t="t" r="r" b="b"/>
              <a:pathLst>
                <a:path w="2032634" h="1419860">
                  <a:moveTo>
                    <a:pt x="731840" y="1419330"/>
                  </a:moveTo>
                  <a:lnTo>
                    <a:pt x="2032627" y="0"/>
                  </a:lnTo>
                  <a:lnTo>
                    <a:pt x="555966" y="0"/>
                  </a:lnTo>
                  <a:lnTo>
                    <a:pt x="0" y="620426"/>
                  </a:lnTo>
                  <a:lnTo>
                    <a:pt x="731840" y="141933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932050" y="0"/>
              <a:ext cx="3345179" cy="2310765"/>
            </a:xfrm>
            <a:custGeom>
              <a:avLst/>
              <a:gdLst/>
              <a:ahLst/>
              <a:cxnLst/>
              <a:rect l="l" t="t" r="r" b="b"/>
              <a:pathLst>
                <a:path w="3345180" h="2310765">
                  <a:moveTo>
                    <a:pt x="1566034" y="1709208"/>
                  </a:moveTo>
                  <a:lnTo>
                    <a:pt x="2118715" y="1709208"/>
                  </a:lnTo>
                  <a:lnTo>
                    <a:pt x="547083" y="0"/>
                  </a:lnTo>
                  <a:lnTo>
                    <a:pt x="0" y="0"/>
                  </a:lnTo>
                  <a:lnTo>
                    <a:pt x="1566034" y="1709208"/>
                  </a:lnTo>
                  <a:close/>
                </a:path>
                <a:path w="3345180" h="2310765">
                  <a:moveTo>
                    <a:pt x="2116952" y="2310494"/>
                  </a:moveTo>
                  <a:lnTo>
                    <a:pt x="2120478" y="2310494"/>
                  </a:lnTo>
                  <a:lnTo>
                    <a:pt x="3344923" y="974436"/>
                  </a:lnTo>
                  <a:lnTo>
                    <a:pt x="3344923" y="371226"/>
                  </a:lnTo>
                  <a:lnTo>
                    <a:pt x="2118715" y="1709208"/>
                  </a:lnTo>
                  <a:lnTo>
                    <a:pt x="1566034" y="1709208"/>
                  </a:lnTo>
                  <a:lnTo>
                    <a:pt x="2116952" y="2310494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64475" y="2879597"/>
              <a:ext cx="8681720" cy="471170"/>
            </a:xfrm>
            <a:custGeom>
              <a:avLst/>
              <a:gdLst/>
              <a:ahLst/>
              <a:cxnLst/>
              <a:rect l="l" t="t" r="r" b="b"/>
              <a:pathLst>
                <a:path w="8681720" h="471170">
                  <a:moveTo>
                    <a:pt x="457009" y="428485"/>
                  </a:moveTo>
                  <a:lnTo>
                    <a:pt x="454926" y="417728"/>
                  </a:lnTo>
                  <a:lnTo>
                    <a:pt x="448652" y="408279"/>
                  </a:lnTo>
                  <a:lnTo>
                    <a:pt x="375996" y="335622"/>
                  </a:lnTo>
                  <a:lnTo>
                    <a:pt x="354571" y="314198"/>
                  </a:lnTo>
                  <a:lnTo>
                    <a:pt x="335610" y="295236"/>
                  </a:lnTo>
                  <a:lnTo>
                    <a:pt x="350634" y="270941"/>
                  </a:lnTo>
                  <a:lnTo>
                    <a:pt x="361861" y="244335"/>
                  </a:lnTo>
                  <a:lnTo>
                    <a:pt x="368884" y="215785"/>
                  </a:lnTo>
                  <a:lnTo>
                    <a:pt x="371411" y="185623"/>
                  </a:lnTo>
                  <a:lnTo>
                    <a:pt x="371360" y="185267"/>
                  </a:lnTo>
                  <a:lnTo>
                    <a:pt x="364782" y="136334"/>
                  </a:lnTo>
                  <a:lnTo>
                    <a:pt x="346062" y="91973"/>
                  </a:lnTo>
                  <a:lnTo>
                    <a:pt x="319151" y="57137"/>
                  </a:lnTo>
                  <a:lnTo>
                    <a:pt x="317030" y="54394"/>
                  </a:lnTo>
                  <a:lnTo>
                    <a:pt x="314274" y="52273"/>
                  </a:lnTo>
                  <a:lnTo>
                    <a:pt x="314274" y="185623"/>
                  </a:lnTo>
                  <a:lnTo>
                    <a:pt x="304165" y="235635"/>
                  </a:lnTo>
                  <a:lnTo>
                    <a:pt x="276593" y="276517"/>
                  </a:lnTo>
                  <a:lnTo>
                    <a:pt x="235724" y="304076"/>
                  </a:lnTo>
                  <a:lnTo>
                    <a:pt x="185686" y="314198"/>
                  </a:lnTo>
                  <a:lnTo>
                    <a:pt x="185254" y="314198"/>
                  </a:lnTo>
                  <a:lnTo>
                    <a:pt x="135204" y="304076"/>
                  </a:lnTo>
                  <a:lnTo>
                    <a:pt x="135534" y="304076"/>
                  </a:lnTo>
                  <a:lnTo>
                    <a:pt x="98983" y="279425"/>
                  </a:lnTo>
                  <a:lnTo>
                    <a:pt x="73037" y="244335"/>
                  </a:lnTo>
                  <a:lnTo>
                    <a:pt x="57150" y="185623"/>
                  </a:lnTo>
                  <a:lnTo>
                    <a:pt x="57226" y="185267"/>
                  </a:lnTo>
                  <a:lnTo>
                    <a:pt x="67106" y="136334"/>
                  </a:lnTo>
                  <a:lnTo>
                    <a:pt x="67297" y="135610"/>
                  </a:lnTo>
                  <a:lnTo>
                    <a:pt x="94881" y="94767"/>
                  </a:lnTo>
                  <a:lnTo>
                    <a:pt x="135750" y="67233"/>
                  </a:lnTo>
                  <a:lnTo>
                    <a:pt x="185699" y="57137"/>
                  </a:lnTo>
                  <a:lnTo>
                    <a:pt x="235724" y="67233"/>
                  </a:lnTo>
                  <a:lnTo>
                    <a:pt x="276593" y="94767"/>
                  </a:lnTo>
                  <a:lnTo>
                    <a:pt x="304165" y="135610"/>
                  </a:lnTo>
                  <a:lnTo>
                    <a:pt x="314274" y="185623"/>
                  </a:lnTo>
                  <a:lnTo>
                    <a:pt x="314274" y="52273"/>
                  </a:lnTo>
                  <a:lnTo>
                    <a:pt x="279438" y="25349"/>
                  </a:lnTo>
                  <a:lnTo>
                    <a:pt x="235077" y="6629"/>
                  </a:lnTo>
                  <a:lnTo>
                    <a:pt x="185699" y="0"/>
                  </a:lnTo>
                  <a:lnTo>
                    <a:pt x="136334" y="6629"/>
                  </a:lnTo>
                  <a:lnTo>
                    <a:pt x="91960" y="25349"/>
                  </a:lnTo>
                  <a:lnTo>
                    <a:pt x="54381" y="54394"/>
                  </a:lnTo>
                  <a:lnTo>
                    <a:pt x="25336" y="91973"/>
                  </a:lnTo>
                  <a:lnTo>
                    <a:pt x="6616" y="136334"/>
                  </a:lnTo>
                  <a:lnTo>
                    <a:pt x="0" y="185623"/>
                  </a:lnTo>
                  <a:lnTo>
                    <a:pt x="6616" y="235077"/>
                  </a:lnTo>
                  <a:lnTo>
                    <a:pt x="25336" y="279425"/>
                  </a:lnTo>
                  <a:lnTo>
                    <a:pt x="54381" y="316992"/>
                  </a:lnTo>
                  <a:lnTo>
                    <a:pt x="91960" y="345998"/>
                  </a:lnTo>
                  <a:lnTo>
                    <a:pt x="136334" y="364705"/>
                  </a:lnTo>
                  <a:lnTo>
                    <a:pt x="185699" y="371335"/>
                  </a:lnTo>
                  <a:lnTo>
                    <a:pt x="215785" y="368896"/>
                  </a:lnTo>
                  <a:lnTo>
                    <a:pt x="244322" y="361873"/>
                  </a:lnTo>
                  <a:lnTo>
                    <a:pt x="270941" y="350647"/>
                  </a:lnTo>
                  <a:lnTo>
                    <a:pt x="295224" y="335622"/>
                  </a:lnTo>
                  <a:lnTo>
                    <a:pt x="408178" y="448767"/>
                  </a:lnTo>
                  <a:lnTo>
                    <a:pt x="417677" y="455041"/>
                  </a:lnTo>
                  <a:lnTo>
                    <a:pt x="428459" y="457149"/>
                  </a:lnTo>
                  <a:lnTo>
                    <a:pt x="439254" y="455041"/>
                  </a:lnTo>
                  <a:lnTo>
                    <a:pt x="448652" y="448767"/>
                  </a:lnTo>
                  <a:lnTo>
                    <a:pt x="454926" y="439267"/>
                  </a:lnTo>
                  <a:lnTo>
                    <a:pt x="457009" y="428485"/>
                  </a:lnTo>
                  <a:close/>
                </a:path>
                <a:path w="8681720" h="471170">
                  <a:moveTo>
                    <a:pt x="8681656" y="113563"/>
                  </a:moveTo>
                  <a:lnTo>
                    <a:pt x="8678291" y="96901"/>
                  </a:lnTo>
                  <a:lnTo>
                    <a:pt x="8669083" y="83273"/>
                  </a:lnTo>
                  <a:lnTo>
                    <a:pt x="8655469" y="74079"/>
                  </a:lnTo>
                  <a:lnTo>
                    <a:pt x="8638807" y="70700"/>
                  </a:lnTo>
                  <a:lnTo>
                    <a:pt x="8553094" y="70700"/>
                  </a:lnTo>
                  <a:lnTo>
                    <a:pt x="8536432" y="74079"/>
                  </a:lnTo>
                  <a:lnTo>
                    <a:pt x="8522805" y="83273"/>
                  </a:lnTo>
                  <a:lnTo>
                    <a:pt x="8513610" y="96901"/>
                  </a:lnTo>
                  <a:lnTo>
                    <a:pt x="8510232" y="113563"/>
                  </a:lnTo>
                  <a:lnTo>
                    <a:pt x="8510232" y="127850"/>
                  </a:lnTo>
                  <a:lnTo>
                    <a:pt x="8395944" y="127850"/>
                  </a:lnTo>
                  <a:lnTo>
                    <a:pt x="8395944" y="113563"/>
                  </a:lnTo>
                  <a:lnTo>
                    <a:pt x="8392566" y="96862"/>
                  </a:lnTo>
                  <a:lnTo>
                    <a:pt x="8383371" y="83235"/>
                  </a:lnTo>
                  <a:lnTo>
                    <a:pt x="8369744" y="74066"/>
                  </a:lnTo>
                  <a:lnTo>
                    <a:pt x="8353082" y="70700"/>
                  </a:lnTo>
                  <a:lnTo>
                    <a:pt x="8267370" y="70700"/>
                  </a:lnTo>
                  <a:lnTo>
                    <a:pt x="8250707" y="74066"/>
                  </a:lnTo>
                  <a:lnTo>
                    <a:pt x="8237080" y="83235"/>
                  </a:lnTo>
                  <a:lnTo>
                    <a:pt x="8227885" y="96862"/>
                  </a:lnTo>
                  <a:lnTo>
                    <a:pt x="8224520" y="113563"/>
                  </a:lnTo>
                  <a:lnTo>
                    <a:pt x="8224520" y="199275"/>
                  </a:lnTo>
                  <a:lnTo>
                    <a:pt x="8227885" y="215938"/>
                  </a:lnTo>
                  <a:lnTo>
                    <a:pt x="8237080" y="229565"/>
                  </a:lnTo>
                  <a:lnTo>
                    <a:pt x="8250707" y="238760"/>
                  </a:lnTo>
                  <a:lnTo>
                    <a:pt x="8267370" y="242138"/>
                  </a:lnTo>
                  <a:lnTo>
                    <a:pt x="8338807" y="242138"/>
                  </a:lnTo>
                  <a:lnTo>
                    <a:pt x="8400034" y="323748"/>
                  </a:lnTo>
                  <a:lnTo>
                    <a:pt x="8397468" y="329272"/>
                  </a:lnTo>
                  <a:lnTo>
                    <a:pt x="8395944" y="335559"/>
                  </a:lnTo>
                  <a:lnTo>
                    <a:pt x="8395944" y="427748"/>
                  </a:lnTo>
                  <a:lnTo>
                    <a:pt x="8399323" y="444411"/>
                  </a:lnTo>
                  <a:lnTo>
                    <a:pt x="8408517" y="458038"/>
                  </a:lnTo>
                  <a:lnTo>
                    <a:pt x="8422145" y="467233"/>
                  </a:lnTo>
                  <a:lnTo>
                    <a:pt x="8438807" y="470611"/>
                  </a:lnTo>
                  <a:lnTo>
                    <a:pt x="8524519" y="470611"/>
                  </a:lnTo>
                  <a:lnTo>
                    <a:pt x="8541182" y="467233"/>
                  </a:lnTo>
                  <a:lnTo>
                    <a:pt x="8554809" y="458038"/>
                  </a:lnTo>
                  <a:lnTo>
                    <a:pt x="8564004" y="444411"/>
                  </a:lnTo>
                  <a:lnTo>
                    <a:pt x="8567369" y="427748"/>
                  </a:lnTo>
                  <a:lnTo>
                    <a:pt x="8567369" y="342036"/>
                  </a:lnTo>
                  <a:lnTo>
                    <a:pt x="8564004" y="325374"/>
                  </a:lnTo>
                  <a:lnTo>
                    <a:pt x="8554809" y="311746"/>
                  </a:lnTo>
                  <a:lnTo>
                    <a:pt x="8541182" y="302552"/>
                  </a:lnTo>
                  <a:lnTo>
                    <a:pt x="8524519" y="299173"/>
                  </a:lnTo>
                  <a:lnTo>
                    <a:pt x="8453082" y="299173"/>
                  </a:lnTo>
                  <a:lnTo>
                    <a:pt x="8391855" y="217563"/>
                  </a:lnTo>
                  <a:lnTo>
                    <a:pt x="8394420" y="212039"/>
                  </a:lnTo>
                  <a:lnTo>
                    <a:pt x="8395944" y="205752"/>
                  </a:lnTo>
                  <a:lnTo>
                    <a:pt x="8395944" y="184988"/>
                  </a:lnTo>
                  <a:lnTo>
                    <a:pt x="8510232" y="184988"/>
                  </a:lnTo>
                  <a:lnTo>
                    <a:pt x="8510232" y="199275"/>
                  </a:lnTo>
                  <a:lnTo>
                    <a:pt x="8513610" y="215938"/>
                  </a:lnTo>
                  <a:lnTo>
                    <a:pt x="8522805" y="229565"/>
                  </a:lnTo>
                  <a:lnTo>
                    <a:pt x="8536432" y="238760"/>
                  </a:lnTo>
                  <a:lnTo>
                    <a:pt x="8553094" y="242138"/>
                  </a:lnTo>
                  <a:lnTo>
                    <a:pt x="8638807" y="242138"/>
                  </a:lnTo>
                  <a:lnTo>
                    <a:pt x="8655469" y="238760"/>
                  </a:lnTo>
                  <a:lnTo>
                    <a:pt x="8669083" y="229565"/>
                  </a:lnTo>
                  <a:lnTo>
                    <a:pt x="8678291" y="215938"/>
                  </a:lnTo>
                  <a:lnTo>
                    <a:pt x="8681656" y="199275"/>
                  </a:lnTo>
                  <a:lnTo>
                    <a:pt x="8681656" y="113563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464487" y="6518134"/>
            <a:ext cx="8681720" cy="457200"/>
          </a:xfrm>
          <a:custGeom>
            <a:avLst/>
            <a:gdLst/>
            <a:ahLst/>
            <a:cxnLst/>
            <a:rect l="l" t="t" r="r" b="b"/>
            <a:pathLst>
              <a:path w="8681720" h="457200">
                <a:moveTo>
                  <a:pt x="226415" y="293471"/>
                </a:moveTo>
                <a:lnTo>
                  <a:pt x="177888" y="200571"/>
                </a:lnTo>
                <a:lnTo>
                  <a:pt x="177888" y="285610"/>
                </a:lnTo>
                <a:lnTo>
                  <a:pt x="48552" y="285610"/>
                </a:lnTo>
                <a:lnTo>
                  <a:pt x="113169" y="174840"/>
                </a:lnTo>
                <a:lnTo>
                  <a:pt x="177888" y="285610"/>
                </a:lnTo>
                <a:lnTo>
                  <a:pt x="177888" y="200571"/>
                </a:lnTo>
                <a:lnTo>
                  <a:pt x="162839" y="174752"/>
                </a:lnTo>
                <a:lnTo>
                  <a:pt x="134683" y="126466"/>
                </a:lnTo>
                <a:lnTo>
                  <a:pt x="130098" y="118757"/>
                </a:lnTo>
                <a:lnTo>
                  <a:pt x="129781" y="118757"/>
                </a:lnTo>
                <a:lnTo>
                  <a:pt x="121907" y="114185"/>
                </a:lnTo>
                <a:lnTo>
                  <a:pt x="104533" y="114185"/>
                </a:lnTo>
                <a:lnTo>
                  <a:pt x="96342" y="118757"/>
                </a:lnTo>
                <a:lnTo>
                  <a:pt x="6794" y="272186"/>
                </a:lnTo>
                <a:lnTo>
                  <a:pt x="0" y="293471"/>
                </a:lnTo>
                <a:lnTo>
                  <a:pt x="736" y="300850"/>
                </a:lnTo>
                <a:lnTo>
                  <a:pt x="14452" y="328739"/>
                </a:lnTo>
                <a:lnTo>
                  <a:pt x="39408" y="351091"/>
                </a:lnTo>
                <a:lnTo>
                  <a:pt x="39255" y="351091"/>
                </a:lnTo>
                <a:lnTo>
                  <a:pt x="73063" y="365937"/>
                </a:lnTo>
                <a:lnTo>
                  <a:pt x="72504" y="365937"/>
                </a:lnTo>
                <a:lnTo>
                  <a:pt x="112509" y="371335"/>
                </a:lnTo>
                <a:lnTo>
                  <a:pt x="113931" y="371335"/>
                </a:lnTo>
                <a:lnTo>
                  <a:pt x="153847" y="365937"/>
                </a:lnTo>
                <a:lnTo>
                  <a:pt x="153365" y="365937"/>
                </a:lnTo>
                <a:lnTo>
                  <a:pt x="187032" y="351091"/>
                </a:lnTo>
                <a:lnTo>
                  <a:pt x="212013" y="328739"/>
                </a:lnTo>
                <a:lnTo>
                  <a:pt x="225704" y="300850"/>
                </a:lnTo>
                <a:lnTo>
                  <a:pt x="226415" y="293471"/>
                </a:lnTo>
                <a:close/>
              </a:path>
              <a:path w="8681720" h="457200">
                <a:moveTo>
                  <a:pt x="485609" y="57137"/>
                </a:moveTo>
                <a:lnTo>
                  <a:pt x="483362" y="45999"/>
                </a:lnTo>
                <a:lnTo>
                  <a:pt x="477240" y="36918"/>
                </a:lnTo>
                <a:lnTo>
                  <a:pt x="468160" y="30810"/>
                </a:lnTo>
                <a:lnTo>
                  <a:pt x="457034" y="28562"/>
                </a:lnTo>
                <a:lnTo>
                  <a:pt x="342836" y="28562"/>
                </a:lnTo>
                <a:lnTo>
                  <a:pt x="331698" y="16789"/>
                </a:lnTo>
                <a:lnTo>
                  <a:pt x="318160" y="7785"/>
                </a:lnTo>
                <a:lnTo>
                  <a:pt x="302679" y="2019"/>
                </a:lnTo>
                <a:lnTo>
                  <a:pt x="285699" y="0"/>
                </a:lnTo>
                <a:lnTo>
                  <a:pt x="268719" y="2019"/>
                </a:lnTo>
                <a:lnTo>
                  <a:pt x="253238" y="7785"/>
                </a:lnTo>
                <a:lnTo>
                  <a:pt x="239687" y="16789"/>
                </a:lnTo>
                <a:lnTo>
                  <a:pt x="228549" y="28562"/>
                </a:lnTo>
                <a:lnTo>
                  <a:pt x="114261" y="28562"/>
                </a:lnTo>
                <a:lnTo>
                  <a:pt x="103136" y="30810"/>
                </a:lnTo>
                <a:lnTo>
                  <a:pt x="94056" y="36918"/>
                </a:lnTo>
                <a:lnTo>
                  <a:pt x="87934" y="45999"/>
                </a:lnTo>
                <a:lnTo>
                  <a:pt x="85699" y="57137"/>
                </a:lnTo>
                <a:lnTo>
                  <a:pt x="87934" y="68275"/>
                </a:lnTo>
                <a:lnTo>
                  <a:pt x="94056" y="77355"/>
                </a:lnTo>
                <a:lnTo>
                  <a:pt x="103136" y="83464"/>
                </a:lnTo>
                <a:lnTo>
                  <a:pt x="114261" y="85712"/>
                </a:lnTo>
                <a:lnTo>
                  <a:pt x="215696" y="85712"/>
                </a:lnTo>
                <a:lnTo>
                  <a:pt x="221195" y="102082"/>
                </a:lnTo>
                <a:lnTo>
                  <a:pt x="230301" y="116420"/>
                </a:lnTo>
                <a:lnTo>
                  <a:pt x="242468" y="128193"/>
                </a:lnTo>
                <a:lnTo>
                  <a:pt x="257124" y="136855"/>
                </a:lnTo>
                <a:lnTo>
                  <a:pt x="257124" y="399897"/>
                </a:lnTo>
                <a:lnTo>
                  <a:pt x="114261" y="399897"/>
                </a:lnTo>
                <a:lnTo>
                  <a:pt x="103136" y="402145"/>
                </a:lnTo>
                <a:lnTo>
                  <a:pt x="94056" y="408254"/>
                </a:lnTo>
                <a:lnTo>
                  <a:pt x="87934" y="417334"/>
                </a:lnTo>
                <a:lnTo>
                  <a:pt x="85699" y="428472"/>
                </a:lnTo>
                <a:lnTo>
                  <a:pt x="87934" y="439610"/>
                </a:lnTo>
                <a:lnTo>
                  <a:pt x="94056" y="448691"/>
                </a:lnTo>
                <a:lnTo>
                  <a:pt x="103136" y="454799"/>
                </a:lnTo>
                <a:lnTo>
                  <a:pt x="114261" y="457047"/>
                </a:lnTo>
                <a:lnTo>
                  <a:pt x="457034" y="457047"/>
                </a:lnTo>
                <a:lnTo>
                  <a:pt x="468160" y="454799"/>
                </a:lnTo>
                <a:lnTo>
                  <a:pt x="477240" y="448691"/>
                </a:lnTo>
                <a:lnTo>
                  <a:pt x="483362" y="439610"/>
                </a:lnTo>
                <a:lnTo>
                  <a:pt x="485609" y="428472"/>
                </a:lnTo>
                <a:lnTo>
                  <a:pt x="483362" y="417334"/>
                </a:lnTo>
                <a:lnTo>
                  <a:pt x="477240" y="408254"/>
                </a:lnTo>
                <a:lnTo>
                  <a:pt x="468160" y="402145"/>
                </a:lnTo>
                <a:lnTo>
                  <a:pt x="457034" y="399897"/>
                </a:lnTo>
                <a:lnTo>
                  <a:pt x="314172" y="399897"/>
                </a:lnTo>
                <a:lnTo>
                  <a:pt x="314172" y="136855"/>
                </a:lnTo>
                <a:lnTo>
                  <a:pt x="350126" y="102082"/>
                </a:lnTo>
                <a:lnTo>
                  <a:pt x="355600" y="85712"/>
                </a:lnTo>
                <a:lnTo>
                  <a:pt x="457034" y="85712"/>
                </a:lnTo>
                <a:lnTo>
                  <a:pt x="468160" y="83464"/>
                </a:lnTo>
                <a:lnTo>
                  <a:pt x="477240" y="77355"/>
                </a:lnTo>
                <a:lnTo>
                  <a:pt x="483362" y="68275"/>
                </a:lnTo>
                <a:lnTo>
                  <a:pt x="485609" y="57137"/>
                </a:lnTo>
                <a:close/>
              </a:path>
              <a:path w="8681720" h="457200">
                <a:moveTo>
                  <a:pt x="570242" y="293471"/>
                </a:moveTo>
                <a:lnTo>
                  <a:pt x="569264" y="286131"/>
                </a:lnTo>
                <a:lnTo>
                  <a:pt x="569087" y="285610"/>
                </a:lnTo>
                <a:lnTo>
                  <a:pt x="566902" y="278980"/>
                </a:lnTo>
                <a:lnTo>
                  <a:pt x="563511" y="272186"/>
                </a:lnTo>
                <a:lnTo>
                  <a:pt x="521703" y="200482"/>
                </a:lnTo>
                <a:lnTo>
                  <a:pt x="521703" y="285610"/>
                </a:lnTo>
                <a:lnTo>
                  <a:pt x="392366" y="285610"/>
                </a:lnTo>
                <a:lnTo>
                  <a:pt x="457034" y="174752"/>
                </a:lnTo>
                <a:lnTo>
                  <a:pt x="521703" y="285610"/>
                </a:lnTo>
                <a:lnTo>
                  <a:pt x="521703" y="200482"/>
                </a:lnTo>
                <a:lnTo>
                  <a:pt x="506704" y="174752"/>
                </a:lnTo>
                <a:lnTo>
                  <a:pt x="478561" y="126466"/>
                </a:lnTo>
                <a:lnTo>
                  <a:pt x="473964" y="118757"/>
                </a:lnTo>
                <a:lnTo>
                  <a:pt x="473748" y="118757"/>
                </a:lnTo>
                <a:lnTo>
                  <a:pt x="465886" y="114185"/>
                </a:lnTo>
                <a:lnTo>
                  <a:pt x="448170" y="114185"/>
                </a:lnTo>
                <a:lnTo>
                  <a:pt x="350558" y="272186"/>
                </a:lnTo>
                <a:lnTo>
                  <a:pt x="343801" y="293471"/>
                </a:lnTo>
                <a:lnTo>
                  <a:pt x="344551" y="300850"/>
                </a:lnTo>
                <a:lnTo>
                  <a:pt x="358267" y="328739"/>
                </a:lnTo>
                <a:lnTo>
                  <a:pt x="383286" y="351091"/>
                </a:lnTo>
                <a:lnTo>
                  <a:pt x="417080" y="365937"/>
                </a:lnTo>
                <a:lnTo>
                  <a:pt x="457034" y="371335"/>
                </a:lnTo>
                <a:lnTo>
                  <a:pt x="496963" y="365937"/>
                </a:lnTo>
                <a:lnTo>
                  <a:pt x="530733" y="351091"/>
                </a:lnTo>
                <a:lnTo>
                  <a:pt x="555777" y="328739"/>
                </a:lnTo>
                <a:lnTo>
                  <a:pt x="569506" y="300850"/>
                </a:lnTo>
                <a:lnTo>
                  <a:pt x="570242" y="293471"/>
                </a:lnTo>
                <a:close/>
              </a:path>
              <a:path w="8681720" h="457200">
                <a:moveTo>
                  <a:pt x="8510219" y="185712"/>
                </a:moveTo>
                <a:lnTo>
                  <a:pt x="8507971" y="174574"/>
                </a:lnTo>
                <a:lnTo>
                  <a:pt x="8501863" y="165493"/>
                </a:lnTo>
                <a:lnTo>
                  <a:pt x="8492782" y="159385"/>
                </a:lnTo>
                <a:lnTo>
                  <a:pt x="8481644" y="157137"/>
                </a:lnTo>
                <a:lnTo>
                  <a:pt x="8367357" y="157137"/>
                </a:lnTo>
                <a:lnTo>
                  <a:pt x="8356232" y="159385"/>
                </a:lnTo>
                <a:lnTo>
                  <a:pt x="8347151" y="165493"/>
                </a:lnTo>
                <a:lnTo>
                  <a:pt x="8341030" y="174574"/>
                </a:lnTo>
                <a:lnTo>
                  <a:pt x="8338794" y="185712"/>
                </a:lnTo>
                <a:lnTo>
                  <a:pt x="8341030" y="196850"/>
                </a:lnTo>
                <a:lnTo>
                  <a:pt x="8347151" y="205930"/>
                </a:lnTo>
                <a:lnTo>
                  <a:pt x="8356232" y="212039"/>
                </a:lnTo>
                <a:lnTo>
                  <a:pt x="8367357" y="214287"/>
                </a:lnTo>
                <a:lnTo>
                  <a:pt x="8481644" y="214287"/>
                </a:lnTo>
                <a:lnTo>
                  <a:pt x="8492782" y="212039"/>
                </a:lnTo>
                <a:lnTo>
                  <a:pt x="8501863" y="205930"/>
                </a:lnTo>
                <a:lnTo>
                  <a:pt x="8507971" y="196850"/>
                </a:lnTo>
                <a:lnTo>
                  <a:pt x="8510219" y="185712"/>
                </a:lnTo>
                <a:close/>
              </a:path>
              <a:path w="8681720" h="457200">
                <a:moveTo>
                  <a:pt x="8567356" y="85712"/>
                </a:moveTo>
                <a:lnTo>
                  <a:pt x="8565121" y="74574"/>
                </a:lnTo>
                <a:lnTo>
                  <a:pt x="8559000" y="65493"/>
                </a:lnTo>
                <a:lnTo>
                  <a:pt x="8549919" y="59372"/>
                </a:lnTo>
                <a:lnTo>
                  <a:pt x="8538794" y="57137"/>
                </a:lnTo>
                <a:lnTo>
                  <a:pt x="8367357" y="57137"/>
                </a:lnTo>
                <a:lnTo>
                  <a:pt x="8356232" y="59372"/>
                </a:lnTo>
                <a:lnTo>
                  <a:pt x="8347151" y="65493"/>
                </a:lnTo>
                <a:lnTo>
                  <a:pt x="8341030" y="74574"/>
                </a:lnTo>
                <a:lnTo>
                  <a:pt x="8338794" y="85712"/>
                </a:lnTo>
                <a:lnTo>
                  <a:pt x="8341030" y="96837"/>
                </a:lnTo>
                <a:lnTo>
                  <a:pt x="8347151" y="105918"/>
                </a:lnTo>
                <a:lnTo>
                  <a:pt x="8356232" y="112039"/>
                </a:lnTo>
                <a:lnTo>
                  <a:pt x="8367357" y="114274"/>
                </a:lnTo>
                <a:lnTo>
                  <a:pt x="8538794" y="114274"/>
                </a:lnTo>
                <a:lnTo>
                  <a:pt x="8549919" y="112039"/>
                </a:lnTo>
                <a:lnTo>
                  <a:pt x="8559000" y="105918"/>
                </a:lnTo>
                <a:lnTo>
                  <a:pt x="8565121" y="96837"/>
                </a:lnTo>
                <a:lnTo>
                  <a:pt x="8567356" y="85712"/>
                </a:lnTo>
                <a:close/>
              </a:path>
              <a:path w="8681720" h="457200">
                <a:moveTo>
                  <a:pt x="8624506" y="285711"/>
                </a:moveTo>
                <a:lnTo>
                  <a:pt x="8622259" y="274574"/>
                </a:lnTo>
                <a:lnTo>
                  <a:pt x="8616150" y="265493"/>
                </a:lnTo>
                <a:lnTo>
                  <a:pt x="8607069" y="259384"/>
                </a:lnTo>
                <a:lnTo>
                  <a:pt x="8595931" y="257136"/>
                </a:lnTo>
                <a:lnTo>
                  <a:pt x="8367357" y="257136"/>
                </a:lnTo>
                <a:lnTo>
                  <a:pt x="8356232" y="259384"/>
                </a:lnTo>
                <a:lnTo>
                  <a:pt x="8347151" y="265493"/>
                </a:lnTo>
                <a:lnTo>
                  <a:pt x="8341030" y="274574"/>
                </a:lnTo>
                <a:lnTo>
                  <a:pt x="8338794" y="285711"/>
                </a:lnTo>
                <a:lnTo>
                  <a:pt x="8341030" y="296849"/>
                </a:lnTo>
                <a:lnTo>
                  <a:pt x="8347151" y="305930"/>
                </a:lnTo>
                <a:lnTo>
                  <a:pt x="8356232" y="312039"/>
                </a:lnTo>
                <a:lnTo>
                  <a:pt x="8367357" y="314286"/>
                </a:lnTo>
                <a:lnTo>
                  <a:pt x="8595931" y="314286"/>
                </a:lnTo>
                <a:lnTo>
                  <a:pt x="8607069" y="312039"/>
                </a:lnTo>
                <a:lnTo>
                  <a:pt x="8616150" y="305930"/>
                </a:lnTo>
                <a:lnTo>
                  <a:pt x="8622259" y="296849"/>
                </a:lnTo>
                <a:lnTo>
                  <a:pt x="8624506" y="285711"/>
                </a:lnTo>
                <a:close/>
              </a:path>
              <a:path w="8681720" h="457200">
                <a:moveTo>
                  <a:pt x="8681555" y="399897"/>
                </a:moveTo>
                <a:lnTo>
                  <a:pt x="8679307" y="388772"/>
                </a:lnTo>
                <a:lnTo>
                  <a:pt x="8673198" y="379691"/>
                </a:lnTo>
                <a:lnTo>
                  <a:pt x="8664118" y="373570"/>
                </a:lnTo>
                <a:lnTo>
                  <a:pt x="8652980" y="371335"/>
                </a:lnTo>
                <a:lnTo>
                  <a:pt x="8288033" y="371335"/>
                </a:lnTo>
                <a:lnTo>
                  <a:pt x="8281644" y="364858"/>
                </a:lnTo>
                <a:lnTo>
                  <a:pt x="8281644" y="57137"/>
                </a:lnTo>
                <a:lnTo>
                  <a:pt x="8253069" y="28562"/>
                </a:lnTo>
                <a:lnTo>
                  <a:pt x="8241944" y="30810"/>
                </a:lnTo>
                <a:lnTo>
                  <a:pt x="8232864" y="36918"/>
                </a:lnTo>
                <a:lnTo>
                  <a:pt x="8226742" y="45999"/>
                </a:lnTo>
                <a:lnTo>
                  <a:pt x="8224507" y="57137"/>
                </a:lnTo>
                <a:lnTo>
                  <a:pt x="8224507" y="357047"/>
                </a:lnTo>
                <a:lnTo>
                  <a:pt x="8230121" y="384835"/>
                </a:lnTo>
                <a:lnTo>
                  <a:pt x="8245437" y="407543"/>
                </a:lnTo>
                <a:lnTo>
                  <a:pt x="8268132" y="422859"/>
                </a:lnTo>
                <a:lnTo>
                  <a:pt x="8295932" y="428472"/>
                </a:lnTo>
                <a:lnTo>
                  <a:pt x="8652980" y="428472"/>
                </a:lnTo>
                <a:lnTo>
                  <a:pt x="8664118" y="426237"/>
                </a:lnTo>
                <a:lnTo>
                  <a:pt x="8673198" y="420116"/>
                </a:lnTo>
                <a:lnTo>
                  <a:pt x="8679307" y="411035"/>
                </a:lnTo>
                <a:lnTo>
                  <a:pt x="8681555" y="399897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6</a:t>
            </a:fld>
            <a:endParaRPr spc="-50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79416" y="3625881"/>
            <a:ext cx="700913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760" dirty="0">
                <a:solidFill>
                  <a:srgbClr val="FFFFFF"/>
                </a:solidFill>
                <a:latin typeface="Verdana"/>
                <a:cs typeface="Verdana"/>
              </a:rPr>
              <a:t>État</a:t>
            </a:r>
            <a:r>
              <a:rPr sz="10000" spc="-10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0" spc="-137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0000" spc="-10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0" spc="-915" dirty="0">
                <a:solidFill>
                  <a:srgbClr val="FFFFFF"/>
                </a:solidFill>
                <a:latin typeface="Verdana"/>
                <a:cs typeface="Verdana"/>
              </a:rPr>
              <a:t>l'Art</a:t>
            </a:r>
            <a:endParaRPr sz="10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7</a:t>
            </a:fld>
            <a:endParaRPr spc="-50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446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804"/>
              </a:spcBef>
            </a:pPr>
            <a:r>
              <a:rPr spc="-535" dirty="0">
                <a:solidFill>
                  <a:srgbClr val="2D3780"/>
                </a:solidFill>
              </a:rPr>
              <a:t>État</a:t>
            </a:r>
            <a:r>
              <a:rPr spc="100" dirty="0">
                <a:solidFill>
                  <a:srgbClr val="2D3780"/>
                </a:solidFill>
              </a:rPr>
              <a:t> </a:t>
            </a:r>
            <a:r>
              <a:rPr spc="-955" dirty="0">
                <a:solidFill>
                  <a:srgbClr val="2D3780"/>
                </a:solidFill>
              </a:rPr>
              <a:t>de</a:t>
            </a:r>
            <a:r>
              <a:rPr spc="105" dirty="0">
                <a:solidFill>
                  <a:srgbClr val="2D3780"/>
                </a:solidFill>
              </a:rPr>
              <a:t> </a:t>
            </a:r>
            <a:r>
              <a:rPr spc="-675" dirty="0">
                <a:solidFill>
                  <a:srgbClr val="2D3780"/>
                </a:solidFill>
              </a:rPr>
              <a:t>l'art</a:t>
            </a:r>
          </a:p>
          <a:p>
            <a:pPr marL="148590">
              <a:lnSpc>
                <a:spcPct val="100000"/>
              </a:lnSpc>
              <a:spcBef>
                <a:spcPts val="1440"/>
              </a:spcBef>
            </a:pPr>
            <a:r>
              <a:rPr sz="2750" i="0" spc="65" dirty="0">
                <a:solidFill>
                  <a:srgbClr val="2D3780"/>
                </a:solidFill>
                <a:latin typeface="Trebuchet MS"/>
                <a:cs typeface="Trebuchet MS"/>
              </a:rPr>
              <a:t>Méthodes</a:t>
            </a:r>
            <a:r>
              <a:rPr sz="2750" i="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750" i="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spc="75" dirty="0">
                <a:solidFill>
                  <a:srgbClr val="2D3780"/>
                </a:solidFill>
                <a:latin typeface="Trebuchet MS"/>
                <a:cs typeface="Trebuchet MS"/>
              </a:rPr>
              <a:t>Machine</a:t>
            </a:r>
            <a:r>
              <a:rPr sz="2750" i="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spc="-10" dirty="0">
                <a:solidFill>
                  <a:srgbClr val="2D3780"/>
                </a:solidFill>
                <a:latin typeface="Trebuchet MS"/>
                <a:cs typeface="Trebuchet MS"/>
              </a:rPr>
              <a:t>Learning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4221691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4736041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5250391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5764741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6279091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3384125"/>
            <a:ext cx="4625975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225" marR="1049020" indent="-518159">
              <a:lnSpc>
                <a:spcPct val="140600"/>
              </a:lnSpc>
              <a:spcBef>
                <a:spcPts val="100"/>
              </a:spcBef>
            </a:pP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Principaux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algorithmes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: Logistic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Regression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2D3780"/>
                </a:solidFill>
                <a:latin typeface="Trebuchet MS"/>
                <a:cs typeface="Trebuchet MS"/>
              </a:rPr>
              <a:t>(LR)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Decision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2D3780"/>
                </a:solidFill>
                <a:latin typeface="Trebuchet MS"/>
                <a:cs typeface="Trebuchet MS"/>
              </a:rPr>
              <a:t>Tree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(DT) Random</a:t>
            </a:r>
            <a:r>
              <a:rPr sz="2400" spc="-114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Forest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(RF)</a:t>
            </a:r>
            <a:endParaRPr sz="2400">
              <a:latin typeface="Trebuchet MS"/>
              <a:cs typeface="Trebuchet MS"/>
            </a:endParaRPr>
          </a:p>
          <a:p>
            <a:pPr marL="530225" marR="5080">
              <a:lnSpc>
                <a:spcPct val="140600"/>
              </a:lnSpc>
            </a:pP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Support</a:t>
            </a:r>
            <a:r>
              <a:rPr sz="2400" spc="-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Vector</a:t>
            </a:r>
            <a:r>
              <a:rPr sz="2400" spc="-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Machine</a:t>
            </a:r>
            <a:r>
              <a:rPr sz="2400" spc="-1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(SVM) XGBoost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2212" y="3895725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2212" y="4410075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2212" y="4924424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044634" y="3035722"/>
            <a:ext cx="5209540" cy="21056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400" b="1" spc="60" dirty="0">
                <a:solidFill>
                  <a:srgbClr val="2D3780"/>
                </a:solidFill>
                <a:latin typeface="Trebuchet MS"/>
                <a:cs typeface="Trebuchet MS"/>
              </a:rPr>
              <a:t>Avantages</a:t>
            </a:r>
            <a:endParaRPr sz="2400">
              <a:latin typeface="Trebuchet MS"/>
              <a:cs typeface="Trebuchet MS"/>
            </a:endParaRPr>
          </a:p>
          <a:p>
            <a:pPr marL="178435" marR="1418590">
              <a:lnSpc>
                <a:spcPct val="140600"/>
              </a:lnSpc>
              <a:spcBef>
                <a:spcPts val="90"/>
              </a:spcBef>
            </a:pP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Simples</a:t>
            </a:r>
            <a:r>
              <a:rPr sz="2400" spc="-1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100" dirty="0">
                <a:solidFill>
                  <a:srgbClr val="2D3780"/>
                </a:solidFill>
                <a:latin typeface="Trebuchet MS"/>
                <a:cs typeface="Trebuchet MS"/>
              </a:rPr>
              <a:t>à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2D3780"/>
                </a:solidFill>
                <a:latin typeface="Trebuchet MS"/>
                <a:cs typeface="Trebuchet MS"/>
              </a:rPr>
              <a:t>mettre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en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œuvre.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Bonne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interprétabilité.</a:t>
            </a:r>
            <a:endParaRPr sz="2400">
              <a:latin typeface="Trebuchet MS"/>
              <a:cs typeface="Trebuchet MS"/>
            </a:endParaRPr>
          </a:p>
          <a:p>
            <a:pPr marL="178435">
              <a:lnSpc>
                <a:spcPct val="100000"/>
              </a:lnSpc>
              <a:spcBef>
                <a:spcPts val="1170"/>
              </a:spcBef>
            </a:pP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Efficaces</a:t>
            </a:r>
            <a:r>
              <a:rPr sz="2400" spc="-1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sur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2400" spc="-114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données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structurées.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4508" y="7043640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4508" y="8072340"/>
            <a:ext cx="95250" cy="952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044634" y="6190835"/>
            <a:ext cx="6715125" cy="261239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Limites</a:t>
            </a:r>
            <a:endParaRPr sz="2400">
              <a:latin typeface="Trebuchet MS"/>
              <a:cs typeface="Trebuchet MS"/>
            </a:endParaRPr>
          </a:p>
          <a:p>
            <a:pPr marL="530225" marR="1037590">
              <a:lnSpc>
                <a:spcPct val="140600"/>
              </a:lnSpc>
              <a:spcBef>
                <a:spcPts val="60"/>
              </a:spcBef>
            </a:pP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Nécessitent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une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sélection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manuelle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des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variables.</a:t>
            </a:r>
            <a:endParaRPr sz="2400">
              <a:latin typeface="Trebuchet MS"/>
              <a:cs typeface="Trebuchet MS"/>
            </a:endParaRPr>
          </a:p>
          <a:p>
            <a:pPr marL="530225" marR="5080">
              <a:lnSpc>
                <a:spcPct val="140600"/>
              </a:lnSpc>
            </a:pPr>
            <a:r>
              <a:rPr sz="2400" spc="-30" dirty="0">
                <a:solidFill>
                  <a:srgbClr val="2D3780"/>
                </a:solidFill>
                <a:latin typeface="Trebuchet MS"/>
                <a:cs typeface="Trebuchet MS"/>
              </a:rPr>
              <a:t>Capturent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difficilement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relations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complexes 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entre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données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984029" y="3229186"/>
            <a:ext cx="1466850" cy="1460500"/>
          </a:xfrm>
          <a:custGeom>
            <a:avLst/>
            <a:gdLst/>
            <a:ahLst/>
            <a:cxnLst/>
            <a:rect l="l" t="t" r="r" b="b"/>
            <a:pathLst>
              <a:path w="1466850" h="1460500">
                <a:moveTo>
                  <a:pt x="423733" y="101599"/>
                </a:moveTo>
                <a:lnTo>
                  <a:pt x="397340" y="76199"/>
                </a:lnTo>
                <a:lnTo>
                  <a:pt x="442331" y="50799"/>
                </a:lnTo>
                <a:lnTo>
                  <a:pt x="488606" y="38099"/>
                </a:lnTo>
                <a:lnTo>
                  <a:pt x="633386" y="0"/>
                </a:lnTo>
                <a:lnTo>
                  <a:pt x="828566" y="0"/>
                </a:lnTo>
                <a:lnTo>
                  <a:pt x="874958" y="12699"/>
                </a:lnTo>
                <a:lnTo>
                  <a:pt x="920335" y="12699"/>
                </a:lnTo>
                <a:lnTo>
                  <a:pt x="964599" y="25399"/>
                </a:lnTo>
                <a:lnTo>
                  <a:pt x="679468" y="25399"/>
                </a:lnTo>
                <a:lnTo>
                  <a:pt x="522549" y="63499"/>
                </a:lnTo>
                <a:lnTo>
                  <a:pt x="472399" y="76199"/>
                </a:lnTo>
                <a:lnTo>
                  <a:pt x="423733" y="101599"/>
                </a:lnTo>
                <a:close/>
              </a:path>
              <a:path w="1466850" h="1460500">
                <a:moveTo>
                  <a:pt x="733123" y="723899"/>
                </a:moveTo>
                <a:lnTo>
                  <a:pt x="447025" y="660399"/>
                </a:lnTo>
                <a:lnTo>
                  <a:pt x="604765" y="622299"/>
                </a:lnTo>
                <a:lnTo>
                  <a:pt x="350213" y="368299"/>
                </a:lnTo>
                <a:lnTo>
                  <a:pt x="160926" y="368299"/>
                </a:lnTo>
                <a:lnTo>
                  <a:pt x="17877" y="228599"/>
                </a:lnTo>
                <a:lnTo>
                  <a:pt x="196689" y="190499"/>
                </a:lnTo>
                <a:lnTo>
                  <a:pt x="232451" y="12699"/>
                </a:lnTo>
                <a:lnTo>
                  <a:pt x="375500" y="152399"/>
                </a:lnTo>
                <a:lnTo>
                  <a:pt x="375500" y="342899"/>
                </a:lnTo>
                <a:lnTo>
                  <a:pt x="630053" y="596899"/>
                </a:lnTo>
                <a:lnTo>
                  <a:pt x="700612" y="596899"/>
                </a:lnTo>
                <a:lnTo>
                  <a:pt x="733123" y="723899"/>
                </a:lnTo>
                <a:close/>
              </a:path>
              <a:path w="1466850" h="1460500">
                <a:moveTo>
                  <a:pt x="964603" y="1422399"/>
                </a:moveTo>
                <a:lnTo>
                  <a:pt x="827616" y="1422399"/>
                </a:lnTo>
                <a:lnTo>
                  <a:pt x="918289" y="1396999"/>
                </a:lnTo>
                <a:lnTo>
                  <a:pt x="1004301" y="1371599"/>
                </a:lnTo>
                <a:lnTo>
                  <a:pt x="1045297" y="1346199"/>
                </a:lnTo>
                <a:lnTo>
                  <a:pt x="1084814" y="1333499"/>
                </a:lnTo>
                <a:lnTo>
                  <a:pt x="1122747" y="1308099"/>
                </a:lnTo>
                <a:lnTo>
                  <a:pt x="1158992" y="1282699"/>
                </a:lnTo>
                <a:lnTo>
                  <a:pt x="1193443" y="1244599"/>
                </a:lnTo>
                <a:lnTo>
                  <a:pt x="1225996" y="1219199"/>
                </a:lnTo>
                <a:lnTo>
                  <a:pt x="1256546" y="1181099"/>
                </a:lnTo>
                <a:lnTo>
                  <a:pt x="1284989" y="1155699"/>
                </a:lnTo>
                <a:lnTo>
                  <a:pt x="1311220" y="1117599"/>
                </a:lnTo>
                <a:lnTo>
                  <a:pt x="1335134" y="1079499"/>
                </a:lnTo>
                <a:lnTo>
                  <a:pt x="1356627" y="1041399"/>
                </a:lnTo>
                <a:lnTo>
                  <a:pt x="1375594" y="1003299"/>
                </a:lnTo>
                <a:lnTo>
                  <a:pt x="1391930" y="952499"/>
                </a:lnTo>
                <a:lnTo>
                  <a:pt x="1405530" y="914399"/>
                </a:lnTo>
                <a:lnTo>
                  <a:pt x="1416291" y="863599"/>
                </a:lnTo>
                <a:lnTo>
                  <a:pt x="1424107" y="825499"/>
                </a:lnTo>
                <a:lnTo>
                  <a:pt x="1428873" y="774699"/>
                </a:lnTo>
                <a:lnTo>
                  <a:pt x="1430485" y="723899"/>
                </a:lnTo>
                <a:lnTo>
                  <a:pt x="1428873" y="673099"/>
                </a:lnTo>
                <a:lnTo>
                  <a:pt x="1424107" y="634999"/>
                </a:lnTo>
                <a:lnTo>
                  <a:pt x="1416291" y="584199"/>
                </a:lnTo>
                <a:lnTo>
                  <a:pt x="1405530" y="546099"/>
                </a:lnTo>
                <a:lnTo>
                  <a:pt x="1391930" y="495299"/>
                </a:lnTo>
                <a:lnTo>
                  <a:pt x="1375594" y="457199"/>
                </a:lnTo>
                <a:lnTo>
                  <a:pt x="1356627" y="419099"/>
                </a:lnTo>
                <a:lnTo>
                  <a:pt x="1335134" y="380999"/>
                </a:lnTo>
                <a:lnTo>
                  <a:pt x="1311220" y="342899"/>
                </a:lnTo>
                <a:lnTo>
                  <a:pt x="1284989" y="304799"/>
                </a:lnTo>
                <a:lnTo>
                  <a:pt x="1256546" y="266699"/>
                </a:lnTo>
                <a:lnTo>
                  <a:pt x="1225996" y="228599"/>
                </a:lnTo>
                <a:lnTo>
                  <a:pt x="1193443" y="203199"/>
                </a:lnTo>
                <a:lnTo>
                  <a:pt x="1158992" y="177799"/>
                </a:lnTo>
                <a:lnTo>
                  <a:pt x="1122747" y="152399"/>
                </a:lnTo>
                <a:lnTo>
                  <a:pt x="1084814" y="126999"/>
                </a:lnTo>
                <a:lnTo>
                  <a:pt x="1045297" y="101599"/>
                </a:lnTo>
                <a:lnTo>
                  <a:pt x="1004301" y="88899"/>
                </a:lnTo>
                <a:lnTo>
                  <a:pt x="961930" y="63499"/>
                </a:lnTo>
                <a:lnTo>
                  <a:pt x="873483" y="38099"/>
                </a:lnTo>
                <a:lnTo>
                  <a:pt x="827616" y="38099"/>
                </a:lnTo>
                <a:lnTo>
                  <a:pt x="780793" y="25399"/>
                </a:lnTo>
                <a:lnTo>
                  <a:pt x="964599" y="25399"/>
                </a:lnTo>
                <a:lnTo>
                  <a:pt x="1007653" y="50799"/>
                </a:lnTo>
                <a:lnTo>
                  <a:pt x="1049400" y="63499"/>
                </a:lnTo>
                <a:lnTo>
                  <a:pt x="1089741" y="88899"/>
                </a:lnTo>
                <a:lnTo>
                  <a:pt x="1128580" y="114299"/>
                </a:lnTo>
                <a:lnTo>
                  <a:pt x="1165820" y="139699"/>
                </a:lnTo>
                <a:lnTo>
                  <a:pt x="1201362" y="165099"/>
                </a:lnTo>
                <a:lnTo>
                  <a:pt x="1235110" y="190499"/>
                </a:lnTo>
                <a:lnTo>
                  <a:pt x="1266967" y="228599"/>
                </a:lnTo>
                <a:lnTo>
                  <a:pt x="1296834" y="253999"/>
                </a:lnTo>
                <a:lnTo>
                  <a:pt x="1324615" y="292099"/>
                </a:lnTo>
                <a:lnTo>
                  <a:pt x="1350212" y="330199"/>
                </a:lnTo>
                <a:lnTo>
                  <a:pt x="1373528" y="368299"/>
                </a:lnTo>
                <a:lnTo>
                  <a:pt x="1394466" y="406399"/>
                </a:lnTo>
                <a:lnTo>
                  <a:pt x="1412927" y="457199"/>
                </a:lnTo>
                <a:lnTo>
                  <a:pt x="1428816" y="495299"/>
                </a:lnTo>
                <a:lnTo>
                  <a:pt x="1442034" y="533399"/>
                </a:lnTo>
                <a:lnTo>
                  <a:pt x="1452484" y="584199"/>
                </a:lnTo>
                <a:lnTo>
                  <a:pt x="1460069" y="634999"/>
                </a:lnTo>
                <a:lnTo>
                  <a:pt x="1464692" y="673099"/>
                </a:lnTo>
                <a:lnTo>
                  <a:pt x="1466254" y="723899"/>
                </a:lnTo>
                <a:lnTo>
                  <a:pt x="1464692" y="774699"/>
                </a:lnTo>
                <a:lnTo>
                  <a:pt x="1460069" y="825499"/>
                </a:lnTo>
                <a:lnTo>
                  <a:pt x="1452484" y="863599"/>
                </a:lnTo>
                <a:lnTo>
                  <a:pt x="1442034" y="914399"/>
                </a:lnTo>
                <a:lnTo>
                  <a:pt x="1428816" y="952499"/>
                </a:lnTo>
                <a:lnTo>
                  <a:pt x="1412928" y="1003299"/>
                </a:lnTo>
                <a:lnTo>
                  <a:pt x="1394466" y="1041399"/>
                </a:lnTo>
                <a:lnTo>
                  <a:pt x="1373529" y="1079499"/>
                </a:lnTo>
                <a:lnTo>
                  <a:pt x="1350213" y="1117599"/>
                </a:lnTo>
                <a:lnTo>
                  <a:pt x="1324616" y="1155699"/>
                </a:lnTo>
                <a:lnTo>
                  <a:pt x="1296835" y="1193799"/>
                </a:lnTo>
                <a:lnTo>
                  <a:pt x="1266968" y="1231899"/>
                </a:lnTo>
                <a:lnTo>
                  <a:pt x="1235112" y="1257299"/>
                </a:lnTo>
                <a:lnTo>
                  <a:pt x="1201364" y="1295399"/>
                </a:lnTo>
                <a:lnTo>
                  <a:pt x="1165822" y="1320799"/>
                </a:lnTo>
                <a:lnTo>
                  <a:pt x="1128583" y="1346199"/>
                </a:lnTo>
                <a:lnTo>
                  <a:pt x="1089744" y="1371599"/>
                </a:lnTo>
                <a:lnTo>
                  <a:pt x="1049403" y="1384299"/>
                </a:lnTo>
                <a:lnTo>
                  <a:pt x="1007656" y="1409699"/>
                </a:lnTo>
                <a:lnTo>
                  <a:pt x="964603" y="1422399"/>
                </a:lnTo>
                <a:close/>
              </a:path>
              <a:path w="1466850" h="1460500">
                <a:moveTo>
                  <a:pt x="484729" y="380999"/>
                </a:moveTo>
                <a:lnTo>
                  <a:pt x="447025" y="342899"/>
                </a:lnTo>
                <a:lnTo>
                  <a:pt x="447025" y="228599"/>
                </a:lnTo>
                <a:lnTo>
                  <a:pt x="490218" y="203199"/>
                </a:lnTo>
                <a:lnTo>
                  <a:pt x="535446" y="190499"/>
                </a:lnTo>
                <a:lnTo>
                  <a:pt x="582530" y="177799"/>
                </a:lnTo>
                <a:lnTo>
                  <a:pt x="681548" y="152399"/>
                </a:lnTo>
                <a:lnTo>
                  <a:pt x="780052" y="152399"/>
                </a:lnTo>
                <a:lnTo>
                  <a:pt x="825936" y="165099"/>
                </a:lnTo>
                <a:lnTo>
                  <a:pt x="870628" y="165099"/>
                </a:lnTo>
                <a:lnTo>
                  <a:pt x="913981" y="177799"/>
                </a:lnTo>
                <a:lnTo>
                  <a:pt x="955847" y="203199"/>
                </a:lnTo>
                <a:lnTo>
                  <a:pt x="996080" y="215899"/>
                </a:lnTo>
                <a:lnTo>
                  <a:pt x="1034531" y="241299"/>
                </a:lnTo>
                <a:lnTo>
                  <a:pt x="1071054" y="266699"/>
                </a:lnTo>
                <a:lnTo>
                  <a:pt x="1105502" y="292099"/>
                </a:lnTo>
                <a:lnTo>
                  <a:pt x="733123" y="292099"/>
                </a:lnTo>
                <a:lnTo>
                  <a:pt x="625857" y="317499"/>
                </a:lnTo>
                <a:lnTo>
                  <a:pt x="575778" y="330199"/>
                </a:lnTo>
                <a:lnTo>
                  <a:pt x="528602" y="355599"/>
                </a:lnTo>
                <a:lnTo>
                  <a:pt x="484729" y="380999"/>
                </a:lnTo>
                <a:close/>
              </a:path>
              <a:path w="1466850" h="1460500">
                <a:moveTo>
                  <a:pt x="1105502" y="1155699"/>
                </a:moveTo>
                <a:lnTo>
                  <a:pt x="779883" y="1155699"/>
                </a:lnTo>
                <a:lnTo>
                  <a:pt x="825185" y="1142999"/>
                </a:lnTo>
                <a:lnTo>
                  <a:pt x="868767" y="1130299"/>
                </a:lnTo>
                <a:lnTo>
                  <a:pt x="910366" y="1117599"/>
                </a:lnTo>
                <a:lnTo>
                  <a:pt x="949722" y="1092199"/>
                </a:lnTo>
                <a:lnTo>
                  <a:pt x="986572" y="1066799"/>
                </a:lnTo>
                <a:lnTo>
                  <a:pt x="1020655" y="1041399"/>
                </a:lnTo>
                <a:lnTo>
                  <a:pt x="1051708" y="1015999"/>
                </a:lnTo>
                <a:lnTo>
                  <a:pt x="1079470" y="977899"/>
                </a:lnTo>
                <a:lnTo>
                  <a:pt x="1103679" y="939799"/>
                </a:lnTo>
                <a:lnTo>
                  <a:pt x="1124074" y="901699"/>
                </a:lnTo>
                <a:lnTo>
                  <a:pt x="1140393" y="863599"/>
                </a:lnTo>
                <a:lnTo>
                  <a:pt x="1152373" y="812799"/>
                </a:lnTo>
                <a:lnTo>
                  <a:pt x="1159753" y="774699"/>
                </a:lnTo>
                <a:lnTo>
                  <a:pt x="1162271" y="723899"/>
                </a:lnTo>
                <a:lnTo>
                  <a:pt x="1159753" y="685799"/>
                </a:lnTo>
                <a:lnTo>
                  <a:pt x="1152373" y="634999"/>
                </a:lnTo>
                <a:lnTo>
                  <a:pt x="1140393" y="596899"/>
                </a:lnTo>
                <a:lnTo>
                  <a:pt x="1124074" y="546099"/>
                </a:lnTo>
                <a:lnTo>
                  <a:pt x="1103679" y="507999"/>
                </a:lnTo>
                <a:lnTo>
                  <a:pt x="1079470" y="469899"/>
                </a:lnTo>
                <a:lnTo>
                  <a:pt x="1051708" y="444499"/>
                </a:lnTo>
                <a:lnTo>
                  <a:pt x="1020655" y="406399"/>
                </a:lnTo>
                <a:lnTo>
                  <a:pt x="986572" y="380999"/>
                </a:lnTo>
                <a:lnTo>
                  <a:pt x="949722" y="355599"/>
                </a:lnTo>
                <a:lnTo>
                  <a:pt x="910366" y="330199"/>
                </a:lnTo>
                <a:lnTo>
                  <a:pt x="868767" y="317499"/>
                </a:lnTo>
                <a:lnTo>
                  <a:pt x="825185" y="304799"/>
                </a:lnTo>
                <a:lnTo>
                  <a:pt x="779883" y="304799"/>
                </a:lnTo>
                <a:lnTo>
                  <a:pt x="733123" y="292099"/>
                </a:lnTo>
                <a:lnTo>
                  <a:pt x="1105502" y="292099"/>
                </a:lnTo>
                <a:lnTo>
                  <a:pt x="1137727" y="317499"/>
                </a:lnTo>
                <a:lnTo>
                  <a:pt x="1167581" y="355599"/>
                </a:lnTo>
                <a:lnTo>
                  <a:pt x="1194919" y="393699"/>
                </a:lnTo>
                <a:lnTo>
                  <a:pt x="1219591" y="419099"/>
                </a:lnTo>
                <a:lnTo>
                  <a:pt x="1241452" y="469899"/>
                </a:lnTo>
                <a:lnTo>
                  <a:pt x="1260354" y="507999"/>
                </a:lnTo>
                <a:lnTo>
                  <a:pt x="1276149" y="546099"/>
                </a:lnTo>
                <a:lnTo>
                  <a:pt x="1288690" y="584199"/>
                </a:lnTo>
                <a:lnTo>
                  <a:pt x="1297831" y="634999"/>
                </a:lnTo>
                <a:lnTo>
                  <a:pt x="1303423" y="685799"/>
                </a:lnTo>
                <a:lnTo>
                  <a:pt x="1305320" y="723899"/>
                </a:lnTo>
                <a:lnTo>
                  <a:pt x="1303423" y="774699"/>
                </a:lnTo>
                <a:lnTo>
                  <a:pt x="1297831" y="825499"/>
                </a:lnTo>
                <a:lnTo>
                  <a:pt x="1288690" y="863599"/>
                </a:lnTo>
                <a:lnTo>
                  <a:pt x="1276149" y="901699"/>
                </a:lnTo>
                <a:lnTo>
                  <a:pt x="1260354" y="952499"/>
                </a:lnTo>
                <a:lnTo>
                  <a:pt x="1241452" y="990599"/>
                </a:lnTo>
                <a:lnTo>
                  <a:pt x="1219591" y="1028699"/>
                </a:lnTo>
                <a:lnTo>
                  <a:pt x="1194919" y="1066799"/>
                </a:lnTo>
                <a:lnTo>
                  <a:pt x="1167581" y="1104899"/>
                </a:lnTo>
                <a:lnTo>
                  <a:pt x="1137727" y="1130299"/>
                </a:lnTo>
                <a:lnTo>
                  <a:pt x="1105502" y="1155699"/>
                </a:lnTo>
                <a:close/>
              </a:path>
              <a:path w="1466850" h="1460500">
                <a:moveTo>
                  <a:pt x="874962" y="1447799"/>
                </a:moveTo>
                <a:lnTo>
                  <a:pt x="591292" y="1447799"/>
                </a:lnTo>
                <a:lnTo>
                  <a:pt x="545915" y="1435099"/>
                </a:lnTo>
                <a:lnTo>
                  <a:pt x="458597" y="1409699"/>
                </a:lnTo>
                <a:lnTo>
                  <a:pt x="416851" y="1384299"/>
                </a:lnTo>
                <a:lnTo>
                  <a:pt x="376510" y="1371599"/>
                </a:lnTo>
                <a:lnTo>
                  <a:pt x="337671" y="1346199"/>
                </a:lnTo>
                <a:lnTo>
                  <a:pt x="300432" y="1320799"/>
                </a:lnTo>
                <a:lnTo>
                  <a:pt x="264889" y="1295399"/>
                </a:lnTo>
                <a:lnTo>
                  <a:pt x="231141" y="1257299"/>
                </a:lnTo>
                <a:lnTo>
                  <a:pt x="199285" y="1231899"/>
                </a:lnTo>
                <a:lnTo>
                  <a:pt x="169418" y="1193799"/>
                </a:lnTo>
                <a:lnTo>
                  <a:pt x="141637" y="1155699"/>
                </a:lnTo>
                <a:lnTo>
                  <a:pt x="116040" y="1117599"/>
                </a:lnTo>
                <a:lnTo>
                  <a:pt x="92725" y="1079499"/>
                </a:lnTo>
                <a:lnTo>
                  <a:pt x="71787" y="1041399"/>
                </a:lnTo>
                <a:lnTo>
                  <a:pt x="53326" y="1003299"/>
                </a:lnTo>
                <a:lnTo>
                  <a:pt x="37437" y="952499"/>
                </a:lnTo>
                <a:lnTo>
                  <a:pt x="24219" y="914399"/>
                </a:lnTo>
                <a:lnTo>
                  <a:pt x="13769" y="863599"/>
                </a:lnTo>
                <a:lnTo>
                  <a:pt x="6184" y="825499"/>
                </a:lnTo>
                <a:lnTo>
                  <a:pt x="1562" y="774699"/>
                </a:lnTo>
                <a:lnTo>
                  <a:pt x="0" y="723899"/>
                </a:lnTo>
                <a:lnTo>
                  <a:pt x="1723" y="673099"/>
                </a:lnTo>
                <a:lnTo>
                  <a:pt x="6854" y="622299"/>
                </a:lnTo>
                <a:lnTo>
                  <a:pt x="15336" y="584199"/>
                </a:lnTo>
                <a:lnTo>
                  <a:pt x="27110" y="533399"/>
                </a:lnTo>
                <a:lnTo>
                  <a:pt x="42120" y="482599"/>
                </a:lnTo>
                <a:lnTo>
                  <a:pt x="60308" y="431799"/>
                </a:lnTo>
                <a:lnTo>
                  <a:pt x="81616" y="393699"/>
                </a:lnTo>
                <a:lnTo>
                  <a:pt x="108020" y="419099"/>
                </a:lnTo>
                <a:lnTo>
                  <a:pt x="86224" y="469899"/>
                </a:lnTo>
                <a:lnTo>
                  <a:pt x="68238" y="520699"/>
                </a:lnTo>
                <a:lnTo>
                  <a:pt x="54130" y="571499"/>
                </a:lnTo>
                <a:lnTo>
                  <a:pt x="43969" y="622299"/>
                </a:lnTo>
                <a:lnTo>
                  <a:pt x="37822" y="673099"/>
                </a:lnTo>
                <a:lnTo>
                  <a:pt x="35758" y="723899"/>
                </a:lnTo>
                <a:lnTo>
                  <a:pt x="37370" y="774699"/>
                </a:lnTo>
                <a:lnTo>
                  <a:pt x="42136" y="825499"/>
                </a:lnTo>
                <a:lnTo>
                  <a:pt x="49952" y="863599"/>
                </a:lnTo>
                <a:lnTo>
                  <a:pt x="60712" y="914399"/>
                </a:lnTo>
                <a:lnTo>
                  <a:pt x="74313" y="952499"/>
                </a:lnTo>
                <a:lnTo>
                  <a:pt x="90648" y="1003299"/>
                </a:lnTo>
                <a:lnTo>
                  <a:pt x="109615" y="1041399"/>
                </a:lnTo>
                <a:lnTo>
                  <a:pt x="131108" y="1079499"/>
                </a:lnTo>
                <a:lnTo>
                  <a:pt x="155022" y="1117599"/>
                </a:lnTo>
                <a:lnTo>
                  <a:pt x="181252" y="1155699"/>
                </a:lnTo>
                <a:lnTo>
                  <a:pt x="209695" y="1181099"/>
                </a:lnTo>
                <a:lnTo>
                  <a:pt x="240245" y="1219199"/>
                </a:lnTo>
                <a:lnTo>
                  <a:pt x="272798" y="1244599"/>
                </a:lnTo>
                <a:lnTo>
                  <a:pt x="307249" y="1282699"/>
                </a:lnTo>
                <a:lnTo>
                  <a:pt x="343493" y="1308099"/>
                </a:lnTo>
                <a:lnTo>
                  <a:pt x="381426" y="1333499"/>
                </a:lnTo>
                <a:lnTo>
                  <a:pt x="420943" y="1346199"/>
                </a:lnTo>
                <a:lnTo>
                  <a:pt x="461939" y="1371599"/>
                </a:lnTo>
                <a:lnTo>
                  <a:pt x="547951" y="1396999"/>
                </a:lnTo>
                <a:lnTo>
                  <a:pt x="638623" y="1422399"/>
                </a:lnTo>
                <a:lnTo>
                  <a:pt x="964603" y="1422399"/>
                </a:lnTo>
                <a:lnTo>
                  <a:pt x="874962" y="1447799"/>
                </a:lnTo>
                <a:close/>
              </a:path>
              <a:path w="1466850" h="1460500">
                <a:moveTo>
                  <a:pt x="825936" y="1295399"/>
                </a:moveTo>
                <a:lnTo>
                  <a:pt x="640310" y="1295399"/>
                </a:lnTo>
                <a:lnTo>
                  <a:pt x="552265" y="1269999"/>
                </a:lnTo>
                <a:lnTo>
                  <a:pt x="510399" y="1257299"/>
                </a:lnTo>
                <a:lnTo>
                  <a:pt x="470167" y="1231899"/>
                </a:lnTo>
                <a:lnTo>
                  <a:pt x="431715" y="1219199"/>
                </a:lnTo>
                <a:lnTo>
                  <a:pt x="395192" y="1193799"/>
                </a:lnTo>
                <a:lnTo>
                  <a:pt x="360744" y="1155699"/>
                </a:lnTo>
                <a:lnTo>
                  <a:pt x="328520" y="1130299"/>
                </a:lnTo>
                <a:lnTo>
                  <a:pt x="298665" y="1104899"/>
                </a:lnTo>
                <a:lnTo>
                  <a:pt x="271328" y="1066799"/>
                </a:lnTo>
                <a:lnTo>
                  <a:pt x="246655" y="1028699"/>
                </a:lnTo>
                <a:lnTo>
                  <a:pt x="224794" y="990599"/>
                </a:lnTo>
                <a:lnTo>
                  <a:pt x="205893" y="952499"/>
                </a:lnTo>
                <a:lnTo>
                  <a:pt x="190097" y="901699"/>
                </a:lnTo>
                <a:lnTo>
                  <a:pt x="177556" y="863599"/>
                </a:lnTo>
                <a:lnTo>
                  <a:pt x="168415" y="825499"/>
                </a:lnTo>
                <a:lnTo>
                  <a:pt x="162823" y="774699"/>
                </a:lnTo>
                <a:lnTo>
                  <a:pt x="160926" y="723899"/>
                </a:lnTo>
                <a:lnTo>
                  <a:pt x="163254" y="673099"/>
                </a:lnTo>
                <a:lnTo>
                  <a:pt x="170092" y="622299"/>
                </a:lnTo>
                <a:lnTo>
                  <a:pt x="181216" y="571499"/>
                </a:lnTo>
                <a:lnTo>
                  <a:pt x="196407" y="533399"/>
                </a:lnTo>
                <a:lnTo>
                  <a:pt x="215442" y="482599"/>
                </a:lnTo>
                <a:lnTo>
                  <a:pt x="238101" y="444499"/>
                </a:lnTo>
                <a:lnTo>
                  <a:pt x="345882" y="444499"/>
                </a:lnTo>
                <a:lnTo>
                  <a:pt x="383586" y="482599"/>
                </a:lnTo>
                <a:lnTo>
                  <a:pt x="356129" y="520699"/>
                </a:lnTo>
                <a:lnTo>
                  <a:pt x="333988" y="571499"/>
                </a:lnTo>
                <a:lnTo>
                  <a:pt x="317615" y="622299"/>
                </a:lnTo>
                <a:lnTo>
                  <a:pt x="307461" y="673099"/>
                </a:lnTo>
                <a:lnTo>
                  <a:pt x="303976" y="723899"/>
                </a:lnTo>
                <a:lnTo>
                  <a:pt x="306494" y="774699"/>
                </a:lnTo>
                <a:lnTo>
                  <a:pt x="313874" y="812799"/>
                </a:lnTo>
                <a:lnTo>
                  <a:pt x="325854" y="863599"/>
                </a:lnTo>
                <a:lnTo>
                  <a:pt x="342172" y="901699"/>
                </a:lnTo>
                <a:lnTo>
                  <a:pt x="362567" y="939799"/>
                </a:lnTo>
                <a:lnTo>
                  <a:pt x="386776" y="977899"/>
                </a:lnTo>
                <a:lnTo>
                  <a:pt x="414539" y="1015999"/>
                </a:lnTo>
                <a:lnTo>
                  <a:pt x="445592" y="1041399"/>
                </a:lnTo>
                <a:lnTo>
                  <a:pt x="479674" y="1066799"/>
                </a:lnTo>
                <a:lnTo>
                  <a:pt x="516524" y="1092199"/>
                </a:lnTo>
                <a:lnTo>
                  <a:pt x="555880" y="1117599"/>
                </a:lnTo>
                <a:lnTo>
                  <a:pt x="597480" y="1130299"/>
                </a:lnTo>
                <a:lnTo>
                  <a:pt x="641061" y="1142999"/>
                </a:lnTo>
                <a:lnTo>
                  <a:pt x="686363" y="1155699"/>
                </a:lnTo>
                <a:lnTo>
                  <a:pt x="1105502" y="1155699"/>
                </a:lnTo>
                <a:lnTo>
                  <a:pt x="1071054" y="1193799"/>
                </a:lnTo>
                <a:lnTo>
                  <a:pt x="1034531" y="1219199"/>
                </a:lnTo>
                <a:lnTo>
                  <a:pt x="996080" y="1231899"/>
                </a:lnTo>
                <a:lnTo>
                  <a:pt x="955847" y="1257299"/>
                </a:lnTo>
                <a:lnTo>
                  <a:pt x="913981" y="1269999"/>
                </a:lnTo>
                <a:lnTo>
                  <a:pt x="825936" y="1295399"/>
                </a:lnTo>
                <a:close/>
              </a:path>
              <a:path w="1466850" h="1460500">
                <a:moveTo>
                  <a:pt x="700612" y="596899"/>
                </a:moveTo>
                <a:lnTo>
                  <a:pt x="630053" y="596899"/>
                </a:lnTo>
                <a:lnTo>
                  <a:pt x="661599" y="444499"/>
                </a:lnTo>
                <a:lnTo>
                  <a:pt x="700612" y="596899"/>
                </a:lnTo>
                <a:close/>
              </a:path>
              <a:path w="1466850" h="1460500">
                <a:moveTo>
                  <a:pt x="987284" y="863599"/>
                </a:moveTo>
                <a:lnTo>
                  <a:pt x="778331" y="863599"/>
                </a:lnTo>
                <a:lnTo>
                  <a:pt x="817600" y="838199"/>
                </a:lnTo>
                <a:lnTo>
                  <a:pt x="848566" y="812799"/>
                </a:lnTo>
                <a:lnTo>
                  <a:pt x="868873" y="774699"/>
                </a:lnTo>
                <a:lnTo>
                  <a:pt x="876165" y="723899"/>
                </a:lnTo>
                <a:lnTo>
                  <a:pt x="868377" y="685799"/>
                </a:lnTo>
                <a:lnTo>
                  <a:pt x="846769" y="634999"/>
                </a:lnTo>
                <a:lnTo>
                  <a:pt x="813979" y="609599"/>
                </a:lnTo>
                <a:lnTo>
                  <a:pt x="772640" y="584199"/>
                </a:lnTo>
                <a:lnTo>
                  <a:pt x="735351" y="444499"/>
                </a:lnTo>
                <a:lnTo>
                  <a:pt x="781443" y="444499"/>
                </a:lnTo>
                <a:lnTo>
                  <a:pt x="825150" y="457199"/>
                </a:lnTo>
                <a:lnTo>
                  <a:pt x="865891" y="469899"/>
                </a:lnTo>
                <a:lnTo>
                  <a:pt x="903084" y="495299"/>
                </a:lnTo>
                <a:lnTo>
                  <a:pt x="936149" y="520699"/>
                </a:lnTo>
                <a:lnTo>
                  <a:pt x="964505" y="558799"/>
                </a:lnTo>
                <a:lnTo>
                  <a:pt x="987570" y="596899"/>
                </a:lnTo>
                <a:lnTo>
                  <a:pt x="1004765" y="634999"/>
                </a:lnTo>
                <a:lnTo>
                  <a:pt x="1015508" y="685799"/>
                </a:lnTo>
                <a:lnTo>
                  <a:pt x="1019218" y="723899"/>
                </a:lnTo>
                <a:lnTo>
                  <a:pt x="1015474" y="774699"/>
                </a:lnTo>
                <a:lnTo>
                  <a:pt x="1004633" y="812799"/>
                </a:lnTo>
                <a:lnTo>
                  <a:pt x="987284" y="863599"/>
                </a:lnTo>
                <a:close/>
              </a:path>
              <a:path w="1466850" h="1460500">
                <a:moveTo>
                  <a:pt x="823549" y="1003299"/>
                </a:moveTo>
                <a:lnTo>
                  <a:pt x="643110" y="1003299"/>
                </a:lnTo>
                <a:lnTo>
                  <a:pt x="602230" y="977899"/>
                </a:lnTo>
                <a:lnTo>
                  <a:pt x="564872" y="952499"/>
                </a:lnTo>
                <a:lnTo>
                  <a:pt x="531616" y="927099"/>
                </a:lnTo>
                <a:lnTo>
                  <a:pt x="503041" y="901699"/>
                </a:lnTo>
                <a:lnTo>
                  <a:pt x="479726" y="863599"/>
                </a:lnTo>
                <a:lnTo>
                  <a:pt x="462250" y="812799"/>
                </a:lnTo>
                <a:lnTo>
                  <a:pt x="451194" y="774699"/>
                </a:lnTo>
                <a:lnTo>
                  <a:pt x="447136" y="723899"/>
                </a:lnTo>
                <a:lnTo>
                  <a:pt x="596300" y="761999"/>
                </a:lnTo>
                <a:lnTo>
                  <a:pt x="615783" y="812799"/>
                </a:lnTo>
                <a:lnTo>
                  <a:pt x="646728" y="838199"/>
                </a:lnTo>
                <a:lnTo>
                  <a:pt x="686665" y="863599"/>
                </a:lnTo>
                <a:lnTo>
                  <a:pt x="987284" y="863599"/>
                </a:lnTo>
                <a:lnTo>
                  <a:pt x="964018" y="901699"/>
                </a:lnTo>
                <a:lnTo>
                  <a:pt x="935422" y="927099"/>
                </a:lnTo>
                <a:lnTo>
                  <a:pt x="902086" y="952499"/>
                </a:lnTo>
                <a:lnTo>
                  <a:pt x="864599" y="977899"/>
                </a:lnTo>
                <a:lnTo>
                  <a:pt x="823549" y="1003299"/>
                </a:lnTo>
                <a:close/>
              </a:path>
              <a:path w="1466850" h="1460500">
                <a:moveTo>
                  <a:pt x="733120" y="1015999"/>
                </a:moveTo>
                <a:lnTo>
                  <a:pt x="686933" y="1003299"/>
                </a:lnTo>
                <a:lnTo>
                  <a:pt x="779526" y="1003299"/>
                </a:lnTo>
                <a:lnTo>
                  <a:pt x="733120" y="1015999"/>
                </a:lnTo>
                <a:close/>
              </a:path>
              <a:path w="1466850" h="1460500">
                <a:moveTo>
                  <a:pt x="781258" y="1460499"/>
                </a:moveTo>
                <a:lnTo>
                  <a:pt x="684995" y="1460499"/>
                </a:lnTo>
                <a:lnTo>
                  <a:pt x="637684" y="1447799"/>
                </a:lnTo>
                <a:lnTo>
                  <a:pt x="828569" y="1447799"/>
                </a:lnTo>
                <a:lnTo>
                  <a:pt x="781258" y="1460499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1301118" y="0"/>
            <a:ext cx="6944359" cy="3066415"/>
            <a:chOff x="11301118" y="0"/>
            <a:chExt cx="6944359" cy="3066415"/>
          </a:xfrm>
        </p:grpSpPr>
        <p:sp>
          <p:nvSpPr>
            <p:cNvPr id="18" name="object 18"/>
            <p:cNvSpPr/>
            <p:nvPr/>
          </p:nvSpPr>
          <p:spPr>
            <a:xfrm>
              <a:off x="11301118" y="0"/>
              <a:ext cx="6944359" cy="2988945"/>
            </a:xfrm>
            <a:custGeom>
              <a:avLst/>
              <a:gdLst/>
              <a:ahLst/>
              <a:cxnLst/>
              <a:rect l="l" t="t" r="r" b="b"/>
              <a:pathLst>
                <a:path w="6944359" h="2988945">
                  <a:moveTo>
                    <a:pt x="6943880" y="0"/>
                  </a:moveTo>
                  <a:lnTo>
                    <a:pt x="6942478" y="71869"/>
                  </a:lnTo>
                  <a:lnTo>
                    <a:pt x="3908749" y="2988670"/>
                  </a:lnTo>
                  <a:lnTo>
                    <a:pt x="3920892" y="2366167"/>
                  </a:lnTo>
                  <a:lnTo>
                    <a:pt x="0" y="0"/>
                  </a:lnTo>
                  <a:lnTo>
                    <a:pt x="6943880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08996" y="0"/>
              <a:ext cx="3036570" cy="2989580"/>
            </a:xfrm>
            <a:custGeom>
              <a:avLst/>
              <a:gdLst/>
              <a:ahLst/>
              <a:cxnLst/>
              <a:rect l="l" t="t" r="r" b="b"/>
              <a:pathLst>
                <a:path w="3036569" h="2989580">
                  <a:moveTo>
                    <a:pt x="3036002" y="0"/>
                  </a:moveTo>
                  <a:lnTo>
                    <a:pt x="3034600" y="71869"/>
                  </a:lnTo>
                  <a:lnTo>
                    <a:pt x="0" y="2989509"/>
                  </a:lnTo>
                  <a:lnTo>
                    <a:pt x="12159" y="2366151"/>
                  </a:lnTo>
                  <a:lnTo>
                    <a:pt x="2465614" y="0"/>
                  </a:lnTo>
                  <a:lnTo>
                    <a:pt x="3036002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304789" y="71869"/>
              <a:ext cx="1939289" cy="2994660"/>
            </a:xfrm>
            <a:custGeom>
              <a:avLst/>
              <a:gdLst/>
              <a:ahLst/>
              <a:cxnLst/>
              <a:rect l="l" t="t" r="r" b="b"/>
              <a:pathLst>
                <a:path w="1939290" h="2994660">
                  <a:moveTo>
                    <a:pt x="1938807" y="0"/>
                  </a:moveTo>
                  <a:lnTo>
                    <a:pt x="1880396" y="2994512"/>
                  </a:lnTo>
                  <a:lnTo>
                    <a:pt x="0" y="1864617"/>
                  </a:lnTo>
                  <a:lnTo>
                    <a:pt x="1938807" y="0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7314162" y="3233121"/>
            <a:ext cx="28575" cy="3821429"/>
          </a:xfrm>
          <a:custGeom>
            <a:avLst/>
            <a:gdLst/>
            <a:ahLst/>
            <a:cxnLst/>
            <a:rect l="l" t="t" r="r" b="b"/>
            <a:pathLst>
              <a:path w="28575" h="3821429">
                <a:moveTo>
                  <a:pt x="0" y="0"/>
                </a:moveTo>
                <a:lnTo>
                  <a:pt x="28575" y="3820814"/>
                </a:lnTo>
              </a:path>
            </a:pathLst>
          </a:custGeom>
          <a:ln w="57149">
            <a:solidFill>
              <a:srgbClr val="2D3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8</a:t>
            </a:fld>
            <a:endParaRPr spc="-50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446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804"/>
              </a:spcBef>
            </a:pPr>
            <a:r>
              <a:rPr spc="-535" dirty="0">
                <a:solidFill>
                  <a:srgbClr val="2D3780"/>
                </a:solidFill>
              </a:rPr>
              <a:t>État</a:t>
            </a:r>
            <a:r>
              <a:rPr spc="100" dirty="0">
                <a:solidFill>
                  <a:srgbClr val="2D3780"/>
                </a:solidFill>
              </a:rPr>
              <a:t> </a:t>
            </a:r>
            <a:r>
              <a:rPr spc="-955" dirty="0">
                <a:solidFill>
                  <a:srgbClr val="2D3780"/>
                </a:solidFill>
              </a:rPr>
              <a:t>de</a:t>
            </a:r>
            <a:r>
              <a:rPr spc="105" dirty="0">
                <a:solidFill>
                  <a:srgbClr val="2D3780"/>
                </a:solidFill>
              </a:rPr>
              <a:t> </a:t>
            </a:r>
            <a:r>
              <a:rPr spc="-675" dirty="0">
                <a:solidFill>
                  <a:srgbClr val="2D3780"/>
                </a:solidFill>
              </a:rPr>
              <a:t>l'art</a:t>
            </a:r>
          </a:p>
          <a:p>
            <a:pPr marL="148590">
              <a:lnSpc>
                <a:spcPct val="100000"/>
              </a:lnSpc>
              <a:spcBef>
                <a:spcPts val="1440"/>
              </a:spcBef>
            </a:pPr>
            <a:r>
              <a:rPr sz="2750" i="0" spc="65" dirty="0">
                <a:solidFill>
                  <a:srgbClr val="2D3780"/>
                </a:solidFill>
                <a:latin typeface="Trebuchet MS"/>
                <a:cs typeface="Trebuchet MS"/>
              </a:rPr>
              <a:t>Méthodes</a:t>
            </a:r>
            <a:r>
              <a:rPr sz="2750" i="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750" i="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dirty="0">
                <a:solidFill>
                  <a:srgbClr val="2D3780"/>
                </a:solidFill>
                <a:latin typeface="Trebuchet MS"/>
                <a:cs typeface="Trebuchet MS"/>
              </a:rPr>
              <a:t>Deep</a:t>
            </a:r>
            <a:r>
              <a:rPr sz="2750" i="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spc="-10" dirty="0">
                <a:solidFill>
                  <a:srgbClr val="2D3780"/>
                </a:solidFill>
                <a:latin typeface="Trebuchet MS"/>
                <a:cs typeface="Trebuchet MS"/>
              </a:rPr>
              <a:t>Learning</a:t>
            </a:r>
            <a:endParaRPr sz="27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4221691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4736041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5250391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5764741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874" y="6279091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3384125"/>
            <a:ext cx="3145790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225" marR="5080" indent="-518159">
              <a:lnSpc>
                <a:spcPct val="140600"/>
              </a:lnSpc>
              <a:spcBef>
                <a:spcPts val="100"/>
              </a:spcBef>
            </a:pP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Principaux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algorithmes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2D3780"/>
                </a:solidFill>
                <a:latin typeface="Trebuchet MS"/>
                <a:cs typeface="Trebuchet MS"/>
              </a:rPr>
              <a:t>: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ANN</a:t>
            </a:r>
            <a:endParaRPr sz="2400">
              <a:latin typeface="Trebuchet MS"/>
              <a:cs typeface="Trebuchet MS"/>
            </a:endParaRPr>
          </a:p>
          <a:p>
            <a:pPr marL="530225" marR="1700530">
              <a:lnSpc>
                <a:spcPct val="140600"/>
              </a:lnSpc>
            </a:pP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CNN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LSTM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BiLSTM</a:t>
            </a:r>
            <a:endParaRPr sz="2400">
              <a:latin typeface="Trebuchet MS"/>
              <a:cs typeface="Trebuchet MS"/>
            </a:endParaRPr>
          </a:p>
          <a:p>
            <a:pPr marL="530225">
              <a:lnSpc>
                <a:spcPct val="100000"/>
              </a:lnSpc>
              <a:spcBef>
                <a:spcPts val="1170"/>
              </a:spcBef>
            </a:pP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Transformer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2212" y="3895725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2212" y="4410075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2212" y="4924424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044634" y="3035722"/>
            <a:ext cx="6078855" cy="21056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400" b="1" spc="60" dirty="0">
                <a:solidFill>
                  <a:srgbClr val="2D3780"/>
                </a:solidFill>
                <a:latin typeface="Trebuchet MS"/>
                <a:cs typeface="Trebuchet MS"/>
              </a:rPr>
              <a:t>Avantages</a:t>
            </a:r>
            <a:endParaRPr sz="2400">
              <a:latin typeface="Trebuchet MS"/>
              <a:cs typeface="Trebuchet MS"/>
            </a:endParaRPr>
          </a:p>
          <a:p>
            <a:pPr marL="178435" marR="5080">
              <a:lnSpc>
                <a:spcPct val="140600"/>
              </a:lnSpc>
              <a:spcBef>
                <a:spcPts val="90"/>
              </a:spcBef>
            </a:pP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Extraction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automatique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caractéristiques.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Relations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non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linéaires</a:t>
            </a:r>
            <a:endParaRPr sz="2400">
              <a:latin typeface="Trebuchet MS"/>
              <a:cs typeface="Trebuchet MS"/>
            </a:endParaRPr>
          </a:p>
          <a:p>
            <a:pPr marL="178435">
              <a:lnSpc>
                <a:spcPct val="100000"/>
              </a:lnSpc>
              <a:spcBef>
                <a:spcPts val="1170"/>
              </a:spcBef>
            </a:pP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Performances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élevées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4508" y="7043640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4508" y="7557990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4508" y="8072340"/>
            <a:ext cx="95250" cy="95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044634" y="6190835"/>
            <a:ext cx="5213350" cy="209804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Limites</a:t>
            </a:r>
            <a:endParaRPr sz="2400">
              <a:latin typeface="Trebuchet MS"/>
              <a:cs typeface="Trebuchet MS"/>
            </a:endParaRPr>
          </a:p>
          <a:p>
            <a:pPr marL="530225" marR="5080">
              <a:lnSpc>
                <a:spcPct val="140600"/>
              </a:lnSpc>
              <a:spcBef>
                <a:spcPts val="60"/>
              </a:spcBef>
            </a:pP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Dépendances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locales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limitées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Dépendances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globales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incomplètes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Approche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hybride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nécessaire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84029" y="3229186"/>
            <a:ext cx="1466850" cy="1460500"/>
          </a:xfrm>
          <a:custGeom>
            <a:avLst/>
            <a:gdLst/>
            <a:ahLst/>
            <a:cxnLst/>
            <a:rect l="l" t="t" r="r" b="b"/>
            <a:pathLst>
              <a:path w="1466850" h="1460500">
                <a:moveTo>
                  <a:pt x="423733" y="101599"/>
                </a:moveTo>
                <a:lnTo>
                  <a:pt x="397340" y="76199"/>
                </a:lnTo>
                <a:lnTo>
                  <a:pt x="442331" y="50799"/>
                </a:lnTo>
                <a:lnTo>
                  <a:pt x="488606" y="38099"/>
                </a:lnTo>
                <a:lnTo>
                  <a:pt x="633386" y="0"/>
                </a:lnTo>
                <a:lnTo>
                  <a:pt x="828566" y="0"/>
                </a:lnTo>
                <a:lnTo>
                  <a:pt x="874958" y="12699"/>
                </a:lnTo>
                <a:lnTo>
                  <a:pt x="920335" y="12699"/>
                </a:lnTo>
                <a:lnTo>
                  <a:pt x="964599" y="25399"/>
                </a:lnTo>
                <a:lnTo>
                  <a:pt x="679468" y="25399"/>
                </a:lnTo>
                <a:lnTo>
                  <a:pt x="522549" y="63499"/>
                </a:lnTo>
                <a:lnTo>
                  <a:pt x="472399" y="76199"/>
                </a:lnTo>
                <a:lnTo>
                  <a:pt x="423733" y="101599"/>
                </a:lnTo>
                <a:close/>
              </a:path>
              <a:path w="1466850" h="1460500">
                <a:moveTo>
                  <a:pt x="733123" y="723899"/>
                </a:moveTo>
                <a:lnTo>
                  <a:pt x="447025" y="660399"/>
                </a:lnTo>
                <a:lnTo>
                  <a:pt x="604765" y="622299"/>
                </a:lnTo>
                <a:lnTo>
                  <a:pt x="350213" y="368299"/>
                </a:lnTo>
                <a:lnTo>
                  <a:pt x="160926" y="368299"/>
                </a:lnTo>
                <a:lnTo>
                  <a:pt x="17877" y="228599"/>
                </a:lnTo>
                <a:lnTo>
                  <a:pt x="196689" y="190499"/>
                </a:lnTo>
                <a:lnTo>
                  <a:pt x="232451" y="12699"/>
                </a:lnTo>
                <a:lnTo>
                  <a:pt x="375500" y="152399"/>
                </a:lnTo>
                <a:lnTo>
                  <a:pt x="375500" y="342899"/>
                </a:lnTo>
                <a:lnTo>
                  <a:pt x="630053" y="596899"/>
                </a:lnTo>
                <a:lnTo>
                  <a:pt x="700612" y="596899"/>
                </a:lnTo>
                <a:lnTo>
                  <a:pt x="733123" y="723899"/>
                </a:lnTo>
                <a:close/>
              </a:path>
              <a:path w="1466850" h="1460500">
                <a:moveTo>
                  <a:pt x="964603" y="1422399"/>
                </a:moveTo>
                <a:lnTo>
                  <a:pt x="827616" y="1422399"/>
                </a:lnTo>
                <a:lnTo>
                  <a:pt x="918289" y="1396999"/>
                </a:lnTo>
                <a:lnTo>
                  <a:pt x="1004301" y="1371599"/>
                </a:lnTo>
                <a:lnTo>
                  <a:pt x="1045297" y="1346199"/>
                </a:lnTo>
                <a:lnTo>
                  <a:pt x="1084814" y="1333499"/>
                </a:lnTo>
                <a:lnTo>
                  <a:pt x="1122747" y="1308099"/>
                </a:lnTo>
                <a:lnTo>
                  <a:pt x="1158992" y="1282699"/>
                </a:lnTo>
                <a:lnTo>
                  <a:pt x="1193443" y="1244599"/>
                </a:lnTo>
                <a:lnTo>
                  <a:pt x="1225996" y="1219199"/>
                </a:lnTo>
                <a:lnTo>
                  <a:pt x="1256546" y="1181099"/>
                </a:lnTo>
                <a:lnTo>
                  <a:pt x="1284989" y="1155699"/>
                </a:lnTo>
                <a:lnTo>
                  <a:pt x="1311220" y="1117599"/>
                </a:lnTo>
                <a:lnTo>
                  <a:pt x="1335134" y="1079499"/>
                </a:lnTo>
                <a:lnTo>
                  <a:pt x="1356627" y="1041399"/>
                </a:lnTo>
                <a:lnTo>
                  <a:pt x="1375594" y="1003299"/>
                </a:lnTo>
                <a:lnTo>
                  <a:pt x="1391930" y="952499"/>
                </a:lnTo>
                <a:lnTo>
                  <a:pt x="1405530" y="914399"/>
                </a:lnTo>
                <a:lnTo>
                  <a:pt x="1416291" y="863599"/>
                </a:lnTo>
                <a:lnTo>
                  <a:pt x="1424107" y="825499"/>
                </a:lnTo>
                <a:lnTo>
                  <a:pt x="1428873" y="774699"/>
                </a:lnTo>
                <a:lnTo>
                  <a:pt x="1430485" y="723899"/>
                </a:lnTo>
                <a:lnTo>
                  <a:pt x="1428873" y="673099"/>
                </a:lnTo>
                <a:lnTo>
                  <a:pt x="1424107" y="634999"/>
                </a:lnTo>
                <a:lnTo>
                  <a:pt x="1416291" y="584199"/>
                </a:lnTo>
                <a:lnTo>
                  <a:pt x="1405530" y="546099"/>
                </a:lnTo>
                <a:lnTo>
                  <a:pt x="1391930" y="495299"/>
                </a:lnTo>
                <a:lnTo>
                  <a:pt x="1375594" y="457199"/>
                </a:lnTo>
                <a:lnTo>
                  <a:pt x="1356627" y="419099"/>
                </a:lnTo>
                <a:lnTo>
                  <a:pt x="1335134" y="380999"/>
                </a:lnTo>
                <a:lnTo>
                  <a:pt x="1311220" y="342899"/>
                </a:lnTo>
                <a:lnTo>
                  <a:pt x="1284989" y="304799"/>
                </a:lnTo>
                <a:lnTo>
                  <a:pt x="1256546" y="266699"/>
                </a:lnTo>
                <a:lnTo>
                  <a:pt x="1225996" y="228599"/>
                </a:lnTo>
                <a:lnTo>
                  <a:pt x="1193443" y="203199"/>
                </a:lnTo>
                <a:lnTo>
                  <a:pt x="1158992" y="177799"/>
                </a:lnTo>
                <a:lnTo>
                  <a:pt x="1122747" y="152399"/>
                </a:lnTo>
                <a:lnTo>
                  <a:pt x="1084814" y="126999"/>
                </a:lnTo>
                <a:lnTo>
                  <a:pt x="1045297" y="101599"/>
                </a:lnTo>
                <a:lnTo>
                  <a:pt x="1004301" y="88899"/>
                </a:lnTo>
                <a:lnTo>
                  <a:pt x="961930" y="63499"/>
                </a:lnTo>
                <a:lnTo>
                  <a:pt x="873483" y="38099"/>
                </a:lnTo>
                <a:lnTo>
                  <a:pt x="827616" y="38099"/>
                </a:lnTo>
                <a:lnTo>
                  <a:pt x="780793" y="25399"/>
                </a:lnTo>
                <a:lnTo>
                  <a:pt x="964599" y="25399"/>
                </a:lnTo>
                <a:lnTo>
                  <a:pt x="1007653" y="50799"/>
                </a:lnTo>
                <a:lnTo>
                  <a:pt x="1049400" y="63499"/>
                </a:lnTo>
                <a:lnTo>
                  <a:pt x="1089741" y="88899"/>
                </a:lnTo>
                <a:lnTo>
                  <a:pt x="1128580" y="114299"/>
                </a:lnTo>
                <a:lnTo>
                  <a:pt x="1165820" y="139699"/>
                </a:lnTo>
                <a:lnTo>
                  <a:pt x="1201362" y="165099"/>
                </a:lnTo>
                <a:lnTo>
                  <a:pt x="1235110" y="190499"/>
                </a:lnTo>
                <a:lnTo>
                  <a:pt x="1266967" y="228599"/>
                </a:lnTo>
                <a:lnTo>
                  <a:pt x="1296834" y="253999"/>
                </a:lnTo>
                <a:lnTo>
                  <a:pt x="1324615" y="292099"/>
                </a:lnTo>
                <a:lnTo>
                  <a:pt x="1350212" y="330199"/>
                </a:lnTo>
                <a:lnTo>
                  <a:pt x="1373528" y="368299"/>
                </a:lnTo>
                <a:lnTo>
                  <a:pt x="1394466" y="406399"/>
                </a:lnTo>
                <a:lnTo>
                  <a:pt x="1412927" y="457199"/>
                </a:lnTo>
                <a:lnTo>
                  <a:pt x="1428816" y="495299"/>
                </a:lnTo>
                <a:lnTo>
                  <a:pt x="1442034" y="533399"/>
                </a:lnTo>
                <a:lnTo>
                  <a:pt x="1452484" y="584199"/>
                </a:lnTo>
                <a:lnTo>
                  <a:pt x="1460069" y="634999"/>
                </a:lnTo>
                <a:lnTo>
                  <a:pt x="1464692" y="673099"/>
                </a:lnTo>
                <a:lnTo>
                  <a:pt x="1466254" y="723899"/>
                </a:lnTo>
                <a:lnTo>
                  <a:pt x="1464692" y="774699"/>
                </a:lnTo>
                <a:lnTo>
                  <a:pt x="1460069" y="825499"/>
                </a:lnTo>
                <a:lnTo>
                  <a:pt x="1452484" y="863599"/>
                </a:lnTo>
                <a:lnTo>
                  <a:pt x="1442034" y="914399"/>
                </a:lnTo>
                <a:lnTo>
                  <a:pt x="1428816" y="952499"/>
                </a:lnTo>
                <a:lnTo>
                  <a:pt x="1412928" y="1003299"/>
                </a:lnTo>
                <a:lnTo>
                  <a:pt x="1394466" y="1041399"/>
                </a:lnTo>
                <a:lnTo>
                  <a:pt x="1373529" y="1079499"/>
                </a:lnTo>
                <a:lnTo>
                  <a:pt x="1350213" y="1117599"/>
                </a:lnTo>
                <a:lnTo>
                  <a:pt x="1324616" y="1155699"/>
                </a:lnTo>
                <a:lnTo>
                  <a:pt x="1296835" y="1193799"/>
                </a:lnTo>
                <a:lnTo>
                  <a:pt x="1266968" y="1231899"/>
                </a:lnTo>
                <a:lnTo>
                  <a:pt x="1235112" y="1257299"/>
                </a:lnTo>
                <a:lnTo>
                  <a:pt x="1201364" y="1295399"/>
                </a:lnTo>
                <a:lnTo>
                  <a:pt x="1165822" y="1320799"/>
                </a:lnTo>
                <a:lnTo>
                  <a:pt x="1128583" y="1346199"/>
                </a:lnTo>
                <a:lnTo>
                  <a:pt x="1089744" y="1371599"/>
                </a:lnTo>
                <a:lnTo>
                  <a:pt x="1049403" y="1384299"/>
                </a:lnTo>
                <a:lnTo>
                  <a:pt x="1007656" y="1409699"/>
                </a:lnTo>
                <a:lnTo>
                  <a:pt x="964603" y="1422399"/>
                </a:lnTo>
                <a:close/>
              </a:path>
              <a:path w="1466850" h="1460500">
                <a:moveTo>
                  <a:pt x="484729" y="380999"/>
                </a:moveTo>
                <a:lnTo>
                  <a:pt x="447025" y="342899"/>
                </a:lnTo>
                <a:lnTo>
                  <a:pt x="447025" y="228599"/>
                </a:lnTo>
                <a:lnTo>
                  <a:pt x="490218" y="203199"/>
                </a:lnTo>
                <a:lnTo>
                  <a:pt x="535446" y="190499"/>
                </a:lnTo>
                <a:lnTo>
                  <a:pt x="582530" y="177799"/>
                </a:lnTo>
                <a:lnTo>
                  <a:pt x="681548" y="152399"/>
                </a:lnTo>
                <a:lnTo>
                  <a:pt x="780052" y="152399"/>
                </a:lnTo>
                <a:lnTo>
                  <a:pt x="825936" y="165099"/>
                </a:lnTo>
                <a:lnTo>
                  <a:pt x="870628" y="165099"/>
                </a:lnTo>
                <a:lnTo>
                  <a:pt x="913981" y="177799"/>
                </a:lnTo>
                <a:lnTo>
                  <a:pt x="955847" y="203199"/>
                </a:lnTo>
                <a:lnTo>
                  <a:pt x="996080" y="215899"/>
                </a:lnTo>
                <a:lnTo>
                  <a:pt x="1034531" y="241299"/>
                </a:lnTo>
                <a:lnTo>
                  <a:pt x="1071054" y="266699"/>
                </a:lnTo>
                <a:lnTo>
                  <a:pt x="1105502" y="292099"/>
                </a:lnTo>
                <a:lnTo>
                  <a:pt x="733123" y="292099"/>
                </a:lnTo>
                <a:lnTo>
                  <a:pt x="625857" y="317499"/>
                </a:lnTo>
                <a:lnTo>
                  <a:pt x="575778" y="330199"/>
                </a:lnTo>
                <a:lnTo>
                  <a:pt x="528602" y="355599"/>
                </a:lnTo>
                <a:lnTo>
                  <a:pt x="484729" y="380999"/>
                </a:lnTo>
                <a:close/>
              </a:path>
              <a:path w="1466850" h="1460500">
                <a:moveTo>
                  <a:pt x="1105502" y="1155699"/>
                </a:moveTo>
                <a:lnTo>
                  <a:pt x="779883" y="1155699"/>
                </a:lnTo>
                <a:lnTo>
                  <a:pt x="825185" y="1142999"/>
                </a:lnTo>
                <a:lnTo>
                  <a:pt x="868767" y="1130299"/>
                </a:lnTo>
                <a:lnTo>
                  <a:pt x="910366" y="1117599"/>
                </a:lnTo>
                <a:lnTo>
                  <a:pt x="949722" y="1092199"/>
                </a:lnTo>
                <a:lnTo>
                  <a:pt x="986572" y="1066799"/>
                </a:lnTo>
                <a:lnTo>
                  <a:pt x="1020655" y="1041399"/>
                </a:lnTo>
                <a:lnTo>
                  <a:pt x="1051708" y="1015999"/>
                </a:lnTo>
                <a:lnTo>
                  <a:pt x="1079470" y="977899"/>
                </a:lnTo>
                <a:lnTo>
                  <a:pt x="1103679" y="939799"/>
                </a:lnTo>
                <a:lnTo>
                  <a:pt x="1124074" y="901699"/>
                </a:lnTo>
                <a:lnTo>
                  <a:pt x="1140393" y="863599"/>
                </a:lnTo>
                <a:lnTo>
                  <a:pt x="1152373" y="812799"/>
                </a:lnTo>
                <a:lnTo>
                  <a:pt x="1159753" y="774699"/>
                </a:lnTo>
                <a:lnTo>
                  <a:pt x="1162271" y="723899"/>
                </a:lnTo>
                <a:lnTo>
                  <a:pt x="1159753" y="685799"/>
                </a:lnTo>
                <a:lnTo>
                  <a:pt x="1152373" y="634999"/>
                </a:lnTo>
                <a:lnTo>
                  <a:pt x="1140393" y="596899"/>
                </a:lnTo>
                <a:lnTo>
                  <a:pt x="1124074" y="546099"/>
                </a:lnTo>
                <a:lnTo>
                  <a:pt x="1103679" y="507999"/>
                </a:lnTo>
                <a:lnTo>
                  <a:pt x="1079470" y="469899"/>
                </a:lnTo>
                <a:lnTo>
                  <a:pt x="1051708" y="444499"/>
                </a:lnTo>
                <a:lnTo>
                  <a:pt x="1020655" y="406399"/>
                </a:lnTo>
                <a:lnTo>
                  <a:pt x="986572" y="380999"/>
                </a:lnTo>
                <a:lnTo>
                  <a:pt x="949722" y="355599"/>
                </a:lnTo>
                <a:lnTo>
                  <a:pt x="910366" y="330199"/>
                </a:lnTo>
                <a:lnTo>
                  <a:pt x="868767" y="317499"/>
                </a:lnTo>
                <a:lnTo>
                  <a:pt x="825185" y="304799"/>
                </a:lnTo>
                <a:lnTo>
                  <a:pt x="779883" y="304799"/>
                </a:lnTo>
                <a:lnTo>
                  <a:pt x="733123" y="292099"/>
                </a:lnTo>
                <a:lnTo>
                  <a:pt x="1105502" y="292099"/>
                </a:lnTo>
                <a:lnTo>
                  <a:pt x="1137727" y="317499"/>
                </a:lnTo>
                <a:lnTo>
                  <a:pt x="1167581" y="355599"/>
                </a:lnTo>
                <a:lnTo>
                  <a:pt x="1194919" y="393699"/>
                </a:lnTo>
                <a:lnTo>
                  <a:pt x="1219591" y="419099"/>
                </a:lnTo>
                <a:lnTo>
                  <a:pt x="1241452" y="469899"/>
                </a:lnTo>
                <a:lnTo>
                  <a:pt x="1260354" y="507999"/>
                </a:lnTo>
                <a:lnTo>
                  <a:pt x="1276149" y="546099"/>
                </a:lnTo>
                <a:lnTo>
                  <a:pt x="1288690" y="584199"/>
                </a:lnTo>
                <a:lnTo>
                  <a:pt x="1297831" y="634999"/>
                </a:lnTo>
                <a:lnTo>
                  <a:pt x="1303423" y="685799"/>
                </a:lnTo>
                <a:lnTo>
                  <a:pt x="1305320" y="723899"/>
                </a:lnTo>
                <a:lnTo>
                  <a:pt x="1303423" y="774699"/>
                </a:lnTo>
                <a:lnTo>
                  <a:pt x="1297831" y="825499"/>
                </a:lnTo>
                <a:lnTo>
                  <a:pt x="1288690" y="863599"/>
                </a:lnTo>
                <a:lnTo>
                  <a:pt x="1276149" y="901699"/>
                </a:lnTo>
                <a:lnTo>
                  <a:pt x="1260354" y="952499"/>
                </a:lnTo>
                <a:lnTo>
                  <a:pt x="1241452" y="990599"/>
                </a:lnTo>
                <a:lnTo>
                  <a:pt x="1219591" y="1028699"/>
                </a:lnTo>
                <a:lnTo>
                  <a:pt x="1194919" y="1066799"/>
                </a:lnTo>
                <a:lnTo>
                  <a:pt x="1167581" y="1104899"/>
                </a:lnTo>
                <a:lnTo>
                  <a:pt x="1137727" y="1130299"/>
                </a:lnTo>
                <a:lnTo>
                  <a:pt x="1105502" y="1155699"/>
                </a:lnTo>
                <a:close/>
              </a:path>
              <a:path w="1466850" h="1460500">
                <a:moveTo>
                  <a:pt x="874962" y="1447799"/>
                </a:moveTo>
                <a:lnTo>
                  <a:pt x="591292" y="1447799"/>
                </a:lnTo>
                <a:lnTo>
                  <a:pt x="545915" y="1435099"/>
                </a:lnTo>
                <a:lnTo>
                  <a:pt x="458597" y="1409699"/>
                </a:lnTo>
                <a:lnTo>
                  <a:pt x="416851" y="1384299"/>
                </a:lnTo>
                <a:lnTo>
                  <a:pt x="376510" y="1371599"/>
                </a:lnTo>
                <a:lnTo>
                  <a:pt x="337671" y="1346199"/>
                </a:lnTo>
                <a:lnTo>
                  <a:pt x="300432" y="1320799"/>
                </a:lnTo>
                <a:lnTo>
                  <a:pt x="264889" y="1295399"/>
                </a:lnTo>
                <a:lnTo>
                  <a:pt x="231141" y="1257299"/>
                </a:lnTo>
                <a:lnTo>
                  <a:pt x="199285" y="1231899"/>
                </a:lnTo>
                <a:lnTo>
                  <a:pt x="169418" y="1193799"/>
                </a:lnTo>
                <a:lnTo>
                  <a:pt x="141637" y="1155699"/>
                </a:lnTo>
                <a:lnTo>
                  <a:pt x="116040" y="1117599"/>
                </a:lnTo>
                <a:lnTo>
                  <a:pt x="92725" y="1079499"/>
                </a:lnTo>
                <a:lnTo>
                  <a:pt x="71787" y="1041399"/>
                </a:lnTo>
                <a:lnTo>
                  <a:pt x="53326" y="1003299"/>
                </a:lnTo>
                <a:lnTo>
                  <a:pt x="37437" y="952499"/>
                </a:lnTo>
                <a:lnTo>
                  <a:pt x="24219" y="914399"/>
                </a:lnTo>
                <a:lnTo>
                  <a:pt x="13769" y="863599"/>
                </a:lnTo>
                <a:lnTo>
                  <a:pt x="6184" y="825499"/>
                </a:lnTo>
                <a:lnTo>
                  <a:pt x="1562" y="774699"/>
                </a:lnTo>
                <a:lnTo>
                  <a:pt x="0" y="723899"/>
                </a:lnTo>
                <a:lnTo>
                  <a:pt x="1723" y="673099"/>
                </a:lnTo>
                <a:lnTo>
                  <a:pt x="6854" y="622299"/>
                </a:lnTo>
                <a:lnTo>
                  <a:pt x="15336" y="584199"/>
                </a:lnTo>
                <a:lnTo>
                  <a:pt x="27110" y="533399"/>
                </a:lnTo>
                <a:lnTo>
                  <a:pt x="42120" y="482599"/>
                </a:lnTo>
                <a:lnTo>
                  <a:pt x="60308" y="431799"/>
                </a:lnTo>
                <a:lnTo>
                  <a:pt x="81616" y="393699"/>
                </a:lnTo>
                <a:lnTo>
                  <a:pt x="108020" y="419099"/>
                </a:lnTo>
                <a:lnTo>
                  <a:pt x="86224" y="469899"/>
                </a:lnTo>
                <a:lnTo>
                  <a:pt x="68238" y="520699"/>
                </a:lnTo>
                <a:lnTo>
                  <a:pt x="54130" y="571499"/>
                </a:lnTo>
                <a:lnTo>
                  <a:pt x="43969" y="622299"/>
                </a:lnTo>
                <a:lnTo>
                  <a:pt x="37822" y="673099"/>
                </a:lnTo>
                <a:lnTo>
                  <a:pt x="35758" y="723899"/>
                </a:lnTo>
                <a:lnTo>
                  <a:pt x="37370" y="774699"/>
                </a:lnTo>
                <a:lnTo>
                  <a:pt x="42136" y="825499"/>
                </a:lnTo>
                <a:lnTo>
                  <a:pt x="49952" y="863599"/>
                </a:lnTo>
                <a:lnTo>
                  <a:pt x="60712" y="914399"/>
                </a:lnTo>
                <a:lnTo>
                  <a:pt x="74313" y="952499"/>
                </a:lnTo>
                <a:lnTo>
                  <a:pt x="90648" y="1003299"/>
                </a:lnTo>
                <a:lnTo>
                  <a:pt x="109615" y="1041399"/>
                </a:lnTo>
                <a:lnTo>
                  <a:pt x="131108" y="1079499"/>
                </a:lnTo>
                <a:lnTo>
                  <a:pt x="155022" y="1117599"/>
                </a:lnTo>
                <a:lnTo>
                  <a:pt x="181252" y="1155699"/>
                </a:lnTo>
                <a:lnTo>
                  <a:pt x="209695" y="1181099"/>
                </a:lnTo>
                <a:lnTo>
                  <a:pt x="240245" y="1219199"/>
                </a:lnTo>
                <a:lnTo>
                  <a:pt x="272798" y="1244599"/>
                </a:lnTo>
                <a:lnTo>
                  <a:pt x="307249" y="1282699"/>
                </a:lnTo>
                <a:lnTo>
                  <a:pt x="343493" y="1308099"/>
                </a:lnTo>
                <a:lnTo>
                  <a:pt x="381426" y="1333499"/>
                </a:lnTo>
                <a:lnTo>
                  <a:pt x="420943" y="1346199"/>
                </a:lnTo>
                <a:lnTo>
                  <a:pt x="461939" y="1371599"/>
                </a:lnTo>
                <a:lnTo>
                  <a:pt x="547951" y="1396999"/>
                </a:lnTo>
                <a:lnTo>
                  <a:pt x="638623" y="1422399"/>
                </a:lnTo>
                <a:lnTo>
                  <a:pt x="964603" y="1422399"/>
                </a:lnTo>
                <a:lnTo>
                  <a:pt x="874962" y="1447799"/>
                </a:lnTo>
                <a:close/>
              </a:path>
              <a:path w="1466850" h="1460500">
                <a:moveTo>
                  <a:pt x="825936" y="1295399"/>
                </a:moveTo>
                <a:lnTo>
                  <a:pt x="640310" y="1295399"/>
                </a:lnTo>
                <a:lnTo>
                  <a:pt x="552265" y="1269999"/>
                </a:lnTo>
                <a:lnTo>
                  <a:pt x="510399" y="1257299"/>
                </a:lnTo>
                <a:lnTo>
                  <a:pt x="470167" y="1231899"/>
                </a:lnTo>
                <a:lnTo>
                  <a:pt x="431715" y="1219199"/>
                </a:lnTo>
                <a:lnTo>
                  <a:pt x="395192" y="1193799"/>
                </a:lnTo>
                <a:lnTo>
                  <a:pt x="360744" y="1155699"/>
                </a:lnTo>
                <a:lnTo>
                  <a:pt x="328520" y="1130299"/>
                </a:lnTo>
                <a:lnTo>
                  <a:pt x="298665" y="1104899"/>
                </a:lnTo>
                <a:lnTo>
                  <a:pt x="271328" y="1066799"/>
                </a:lnTo>
                <a:lnTo>
                  <a:pt x="246655" y="1028699"/>
                </a:lnTo>
                <a:lnTo>
                  <a:pt x="224794" y="990599"/>
                </a:lnTo>
                <a:lnTo>
                  <a:pt x="205893" y="952499"/>
                </a:lnTo>
                <a:lnTo>
                  <a:pt x="190097" y="901699"/>
                </a:lnTo>
                <a:lnTo>
                  <a:pt x="177556" y="863599"/>
                </a:lnTo>
                <a:lnTo>
                  <a:pt x="168415" y="825499"/>
                </a:lnTo>
                <a:lnTo>
                  <a:pt x="162823" y="774699"/>
                </a:lnTo>
                <a:lnTo>
                  <a:pt x="160926" y="723899"/>
                </a:lnTo>
                <a:lnTo>
                  <a:pt x="163254" y="673099"/>
                </a:lnTo>
                <a:lnTo>
                  <a:pt x="170092" y="622299"/>
                </a:lnTo>
                <a:lnTo>
                  <a:pt x="181216" y="571499"/>
                </a:lnTo>
                <a:lnTo>
                  <a:pt x="196407" y="533399"/>
                </a:lnTo>
                <a:lnTo>
                  <a:pt x="215442" y="482599"/>
                </a:lnTo>
                <a:lnTo>
                  <a:pt x="238101" y="444499"/>
                </a:lnTo>
                <a:lnTo>
                  <a:pt x="345882" y="444499"/>
                </a:lnTo>
                <a:lnTo>
                  <a:pt x="383586" y="482599"/>
                </a:lnTo>
                <a:lnTo>
                  <a:pt x="356129" y="520699"/>
                </a:lnTo>
                <a:lnTo>
                  <a:pt x="333988" y="571499"/>
                </a:lnTo>
                <a:lnTo>
                  <a:pt x="317615" y="622299"/>
                </a:lnTo>
                <a:lnTo>
                  <a:pt x="307461" y="673099"/>
                </a:lnTo>
                <a:lnTo>
                  <a:pt x="303976" y="723899"/>
                </a:lnTo>
                <a:lnTo>
                  <a:pt x="306494" y="774699"/>
                </a:lnTo>
                <a:lnTo>
                  <a:pt x="313874" y="812799"/>
                </a:lnTo>
                <a:lnTo>
                  <a:pt x="325854" y="863599"/>
                </a:lnTo>
                <a:lnTo>
                  <a:pt x="342172" y="901699"/>
                </a:lnTo>
                <a:lnTo>
                  <a:pt x="362567" y="939799"/>
                </a:lnTo>
                <a:lnTo>
                  <a:pt x="386776" y="977899"/>
                </a:lnTo>
                <a:lnTo>
                  <a:pt x="414539" y="1015999"/>
                </a:lnTo>
                <a:lnTo>
                  <a:pt x="445592" y="1041399"/>
                </a:lnTo>
                <a:lnTo>
                  <a:pt x="479674" y="1066799"/>
                </a:lnTo>
                <a:lnTo>
                  <a:pt x="516524" y="1092199"/>
                </a:lnTo>
                <a:lnTo>
                  <a:pt x="555880" y="1117599"/>
                </a:lnTo>
                <a:lnTo>
                  <a:pt x="597480" y="1130299"/>
                </a:lnTo>
                <a:lnTo>
                  <a:pt x="641061" y="1142999"/>
                </a:lnTo>
                <a:lnTo>
                  <a:pt x="686363" y="1155699"/>
                </a:lnTo>
                <a:lnTo>
                  <a:pt x="1105502" y="1155699"/>
                </a:lnTo>
                <a:lnTo>
                  <a:pt x="1071054" y="1193799"/>
                </a:lnTo>
                <a:lnTo>
                  <a:pt x="1034531" y="1219199"/>
                </a:lnTo>
                <a:lnTo>
                  <a:pt x="996080" y="1231899"/>
                </a:lnTo>
                <a:lnTo>
                  <a:pt x="955847" y="1257299"/>
                </a:lnTo>
                <a:lnTo>
                  <a:pt x="913981" y="1269999"/>
                </a:lnTo>
                <a:lnTo>
                  <a:pt x="825936" y="1295399"/>
                </a:lnTo>
                <a:close/>
              </a:path>
              <a:path w="1466850" h="1460500">
                <a:moveTo>
                  <a:pt x="700612" y="596899"/>
                </a:moveTo>
                <a:lnTo>
                  <a:pt x="630053" y="596899"/>
                </a:lnTo>
                <a:lnTo>
                  <a:pt x="661599" y="444499"/>
                </a:lnTo>
                <a:lnTo>
                  <a:pt x="700612" y="596899"/>
                </a:lnTo>
                <a:close/>
              </a:path>
              <a:path w="1466850" h="1460500">
                <a:moveTo>
                  <a:pt x="987284" y="863599"/>
                </a:moveTo>
                <a:lnTo>
                  <a:pt x="778331" y="863599"/>
                </a:lnTo>
                <a:lnTo>
                  <a:pt x="817600" y="838199"/>
                </a:lnTo>
                <a:lnTo>
                  <a:pt x="848566" y="812799"/>
                </a:lnTo>
                <a:lnTo>
                  <a:pt x="868873" y="774699"/>
                </a:lnTo>
                <a:lnTo>
                  <a:pt x="876165" y="723899"/>
                </a:lnTo>
                <a:lnTo>
                  <a:pt x="868377" y="685799"/>
                </a:lnTo>
                <a:lnTo>
                  <a:pt x="846769" y="634999"/>
                </a:lnTo>
                <a:lnTo>
                  <a:pt x="813979" y="609599"/>
                </a:lnTo>
                <a:lnTo>
                  <a:pt x="772640" y="584199"/>
                </a:lnTo>
                <a:lnTo>
                  <a:pt x="735351" y="444499"/>
                </a:lnTo>
                <a:lnTo>
                  <a:pt x="781443" y="444499"/>
                </a:lnTo>
                <a:lnTo>
                  <a:pt x="825150" y="457199"/>
                </a:lnTo>
                <a:lnTo>
                  <a:pt x="865891" y="469899"/>
                </a:lnTo>
                <a:lnTo>
                  <a:pt x="903084" y="495299"/>
                </a:lnTo>
                <a:lnTo>
                  <a:pt x="936149" y="520699"/>
                </a:lnTo>
                <a:lnTo>
                  <a:pt x="964505" y="558799"/>
                </a:lnTo>
                <a:lnTo>
                  <a:pt x="987570" y="596899"/>
                </a:lnTo>
                <a:lnTo>
                  <a:pt x="1004765" y="634999"/>
                </a:lnTo>
                <a:lnTo>
                  <a:pt x="1015508" y="685799"/>
                </a:lnTo>
                <a:lnTo>
                  <a:pt x="1019218" y="723899"/>
                </a:lnTo>
                <a:lnTo>
                  <a:pt x="1015474" y="774699"/>
                </a:lnTo>
                <a:lnTo>
                  <a:pt x="1004633" y="812799"/>
                </a:lnTo>
                <a:lnTo>
                  <a:pt x="987284" y="863599"/>
                </a:lnTo>
                <a:close/>
              </a:path>
              <a:path w="1466850" h="1460500">
                <a:moveTo>
                  <a:pt x="823549" y="1003299"/>
                </a:moveTo>
                <a:lnTo>
                  <a:pt x="643110" y="1003299"/>
                </a:lnTo>
                <a:lnTo>
                  <a:pt x="602230" y="977899"/>
                </a:lnTo>
                <a:lnTo>
                  <a:pt x="564872" y="952499"/>
                </a:lnTo>
                <a:lnTo>
                  <a:pt x="531616" y="927099"/>
                </a:lnTo>
                <a:lnTo>
                  <a:pt x="503041" y="901699"/>
                </a:lnTo>
                <a:lnTo>
                  <a:pt x="479726" y="863599"/>
                </a:lnTo>
                <a:lnTo>
                  <a:pt x="462250" y="812799"/>
                </a:lnTo>
                <a:lnTo>
                  <a:pt x="451194" y="774699"/>
                </a:lnTo>
                <a:lnTo>
                  <a:pt x="447136" y="723899"/>
                </a:lnTo>
                <a:lnTo>
                  <a:pt x="596300" y="761999"/>
                </a:lnTo>
                <a:lnTo>
                  <a:pt x="615783" y="812799"/>
                </a:lnTo>
                <a:lnTo>
                  <a:pt x="646728" y="838199"/>
                </a:lnTo>
                <a:lnTo>
                  <a:pt x="686665" y="863599"/>
                </a:lnTo>
                <a:lnTo>
                  <a:pt x="987284" y="863599"/>
                </a:lnTo>
                <a:lnTo>
                  <a:pt x="964018" y="901699"/>
                </a:lnTo>
                <a:lnTo>
                  <a:pt x="935422" y="927099"/>
                </a:lnTo>
                <a:lnTo>
                  <a:pt x="902086" y="952499"/>
                </a:lnTo>
                <a:lnTo>
                  <a:pt x="864599" y="977899"/>
                </a:lnTo>
                <a:lnTo>
                  <a:pt x="823549" y="1003299"/>
                </a:lnTo>
                <a:close/>
              </a:path>
              <a:path w="1466850" h="1460500">
                <a:moveTo>
                  <a:pt x="733120" y="1015999"/>
                </a:moveTo>
                <a:lnTo>
                  <a:pt x="686933" y="1003299"/>
                </a:lnTo>
                <a:lnTo>
                  <a:pt x="779526" y="1003299"/>
                </a:lnTo>
                <a:lnTo>
                  <a:pt x="733120" y="1015999"/>
                </a:lnTo>
                <a:close/>
              </a:path>
              <a:path w="1466850" h="1460500">
                <a:moveTo>
                  <a:pt x="781258" y="1460499"/>
                </a:moveTo>
                <a:lnTo>
                  <a:pt x="684995" y="1460499"/>
                </a:lnTo>
                <a:lnTo>
                  <a:pt x="637684" y="1447799"/>
                </a:lnTo>
                <a:lnTo>
                  <a:pt x="828569" y="1447799"/>
                </a:lnTo>
                <a:lnTo>
                  <a:pt x="781258" y="1460499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1301118" y="0"/>
            <a:ext cx="6944359" cy="3066415"/>
            <a:chOff x="11301118" y="0"/>
            <a:chExt cx="6944359" cy="3066415"/>
          </a:xfrm>
        </p:grpSpPr>
        <p:sp>
          <p:nvSpPr>
            <p:cNvPr id="19" name="object 19"/>
            <p:cNvSpPr/>
            <p:nvPr/>
          </p:nvSpPr>
          <p:spPr>
            <a:xfrm>
              <a:off x="11301118" y="0"/>
              <a:ext cx="6944359" cy="2988945"/>
            </a:xfrm>
            <a:custGeom>
              <a:avLst/>
              <a:gdLst/>
              <a:ahLst/>
              <a:cxnLst/>
              <a:rect l="l" t="t" r="r" b="b"/>
              <a:pathLst>
                <a:path w="6944359" h="2988945">
                  <a:moveTo>
                    <a:pt x="6943880" y="0"/>
                  </a:moveTo>
                  <a:lnTo>
                    <a:pt x="6942478" y="71869"/>
                  </a:lnTo>
                  <a:lnTo>
                    <a:pt x="3908749" y="2988670"/>
                  </a:lnTo>
                  <a:lnTo>
                    <a:pt x="3920892" y="2366167"/>
                  </a:lnTo>
                  <a:lnTo>
                    <a:pt x="0" y="0"/>
                  </a:lnTo>
                  <a:lnTo>
                    <a:pt x="6943880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08996" y="0"/>
              <a:ext cx="3036570" cy="2989580"/>
            </a:xfrm>
            <a:custGeom>
              <a:avLst/>
              <a:gdLst/>
              <a:ahLst/>
              <a:cxnLst/>
              <a:rect l="l" t="t" r="r" b="b"/>
              <a:pathLst>
                <a:path w="3036569" h="2989580">
                  <a:moveTo>
                    <a:pt x="3036002" y="0"/>
                  </a:moveTo>
                  <a:lnTo>
                    <a:pt x="3034600" y="71869"/>
                  </a:lnTo>
                  <a:lnTo>
                    <a:pt x="0" y="2989509"/>
                  </a:lnTo>
                  <a:lnTo>
                    <a:pt x="12159" y="2366151"/>
                  </a:lnTo>
                  <a:lnTo>
                    <a:pt x="2465614" y="0"/>
                  </a:lnTo>
                  <a:lnTo>
                    <a:pt x="3036002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304789" y="71869"/>
              <a:ext cx="1939289" cy="2994660"/>
            </a:xfrm>
            <a:custGeom>
              <a:avLst/>
              <a:gdLst/>
              <a:ahLst/>
              <a:cxnLst/>
              <a:rect l="l" t="t" r="r" b="b"/>
              <a:pathLst>
                <a:path w="1939290" h="2994660">
                  <a:moveTo>
                    <a:pt x="1938807" y="0"/>
                  </a:moveTo>
                  <a:lnTo>
                    <a:pt x="1880396" y="2994512"/>
                  </a:lnTo>
                  <a:lnTo>
                    <a:pt x="0" y="1864617"/>
                  </a:lnTo>
                  <a:lnTo>
                    <a:pt x="1938807" y="0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6587577" y="3361390"/>
            <a:ext cx="28575" cy="3821429"/>
          </a:xfrm>
          <a:custGeom>
            <a:avLst/>
            <a:gdLst/>
            <a:ahLst/>
            <a:cxnLst/>
            <a:rect l="l" t="t" r="r" b="b"/>
            <a:pathLst>
              <a:path w="28575" h="3821429">
                <a:moveTo>
                  <a:pt x="0" y="0"/>
                </a:moveTo>
                <a:lnTo>
                  <a:pt x="28575" y="3820814"/>
                </a:lnTo>
              </a:path>
            </a:pathLst>
          </a:custGeom>
          <a:ln w="57149">
            <a:solidFill>
              <a:srgbClr val="2D3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9</a:t>
            </a:fld>
            <a:endParaRPr spc="-50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89130" y="1055071"/>
            <a:ext cx="7370445" cy="8203565"/>
          </a:xfrm>
          <a:custGeom>
            <a:avLst/>
            <a:gdLst/>
            <a:ahLst/>
            <a:cxnLst/>
            <a:rect l="l" t="t" r="r" b="b"/>
            <a:pathLst>
              <a:path w="7370444" h="8203565">
                <a:moveTo>
                  <a:pt x="6722287" y="8203215"/>
                </a:moveTo>
                <a:lnTo>
                  <a:pt x="647682" y="8203215"/>
                </a:lnTo>
                <a:lnTo>
                  <a:pt x="599345" y="8201438"/>
                </a:lnTo>
                <a:lnTo>
                  <a:pt x="551972" y="8196192"/>
                </a:lnTo>
                <a:lnTo>
                  <a:pt x="505690" y="8187602"/>
                </a:lnTo>
                <a:lnTo>
                  <a:pt x="460623" y="8175793"/>
                </a:lnTo>
                <a:lnTo>
                  <a:pt x="416896" y="8160889"/>
                </a:lnTo>
                <a:lnTo>
                  <a:pt x="374635" y="8143018"/>
                </a:lnTo>
                <a:lnTo>
                  <a:pt x="333966" y="8122302"/>
                </a:lnTo>
                <a:lnTo>
                  <a:pt x="295012" y="8098869"/>
                </a:lnTo>
                <a:lnTo>
                  <a:pt x="257900" y="8072843"/>
                </a:lnTo>
                <a:lnTo>
                  <a:pt x="222755" y="8044349"/>
                </a:lnTo>
                <a:lnTo>
                  <a:pt x="189701" y="8013513"/>
                </a:lnTo>
                <a:lnTo>
                  <a:pt x="158865" y="7980460"/>
                </a:lnTo>
                <a:lnTo>
                  <a:pt x="130371" y="7945314"/>
                </a:lnTo>
                <a:lnTo>
                  <a:pt x="104345" y="7908202"/>
                </a:lnTo>
                <a:lnTo>
                  <a:pt x="80912" y="7869249"/>
                </a:lnTo>
                <a:lnTo>
                  <a:pt x="60197" y="7828579"/>
                </a:lnTo>
                <a:lnTo>
                  <a:pt x="42325" y="7786318"/>
                </a:lnTo>
                <a:lnTo>
                  <a:pt x="27422" y="7742592"/>
                </a:lnTo>
                <a:lnTo>
                  <a:pt x="15612" y="7697525"/>
                </a:lnTo>
                <a:lnTo>
                  <a:pt x="7022" y="7651242"/>
                </a:lnTo>
                <a:lnTo>
                  <a:pt x="1776" y="7603870"/>
                </a:lnTo>
                <a:lnTo>
                  <a:pt x="0" y="7555532"/>
                </a:lnTo>
                <a:lnTo>
                  <a:pt x="0" y="647682"/>
                </a:lnTo>
                <a:lnTo>
                  <a:pt x="1776" y="599345"/>
                </a:lnTo>
                <a:lnTo>
                  <a:pt x="7022" y="551972"/>
                </a:lnTo>
                <a:lnTo>
                  <a:pt x="15612" y="505690"/>
                </a:lnTo>
                <a:lnTo>
                  <a:pt x="27422" y="460623"/>
                </a:lnTo>
                <a:lnTo>
                  <a:pt x="42325" y="416896"/>
                </a:lnTo>
                <a:lnTo>
                  <a:pt x="60197" y="374635"/>
                </a:lnTo>
                <a:lnTo>
                  <a:pt x="80912" y="333966"/>
                </a:lnTo>
                <a:lnTo>
                  <a:pt x="104345" y="295012"/>
                </a:lnTo>
                <a:lnTo>
                  <a:pt x="130371" y="257900"/>
                </a:lnTo>
                <a:lnTo>
                  <a:pt x="158865" y="222755"/>
                </a:lnTo>
                <a:lnTo>
                  <a:pt x="189701" y="189701"/>
                </a:lnTo>
                <a:lnTo>
                  <a:pt x="222755" y="158865"/>
                </a:lnTo>
                <a:lnTo>
                  <a:pt x="257900" y="130371"/>
                </a:lnTo>
                <a:lnTo>
                  <a:pt x="295012" y="104345"/>
                </a:lnTo>
                <a:lnTo>
                  <a:pt x="333966" y="80912"/>
                </a:lnTo>
                <a:lnTo>
                  <a:pt x="374635" y="60197"/>
                </a:lnTo>
                <a:lnTo>
                  <a:pt x="416896" y="42325"/>
                </a:lnTo>
                <a:lnTo>
                  <a:pt x="460623" y="27422"/>
                </a:lnTo>
                <a:lnTo>
                  <a:pt x="505690" y="15612"/>
                </a:lnTo>
                <a:lnTo>
                  <a:pt x="551972" y="7022"/>
                </a:lnTo>
                <a:lnTo>
                  <a:pt x="599345" y="1776"/>
                </a:lnTo>
                <a:lnTo>
                  <a:pt x="647682" y="0"/>
                </a:lnTo>
                <a:lnTo>
                  <a:pt x="6722287" y="0"/>
                </a:lnTo>
                <a:lnTo>
                  <a:pt x="6770625" y="1776"/>
                </a:lnTo>
                <a:lnTo>
                  <a:pt x="6817997" y="7022"/>
                </a:lnTo>
                <a:lnTo>
                  <a:pt x="6864279" y="15612"/>
                </a:lnTo>
                <a:lnTo>
                  <a:pt x="6909347" y="27422"/>
                </a:lnTo>
                <a:lnTo>
                  <a:pt x="6953073" y="42325"/>
                </a:lnTo>
                <a:lnTo>
                  <a:pt x="6995334" y="60197"/>
                </a:lnTo>
                <a:lnTo>
                  <a:pt x="7036004" y="80912"/>
                </a:lnTo>
                <a:lnTo>
                  <a:pt x="7074957" y="104345"/>
                </a:lnTo>
                <a:lnTo>
                  <a:pt x="7112069" y="130371"/>
                </a:lnTo>
                <a:lnTo>
                  <a:pt x="7147215" y="158865"/>
                </a:lnTo>
                <a:lnTo>
                  <a:pt x="7180268" y="189701"/>
                </a:lnTo>
                <a:lnTo>
                  <a:pt x="7211104" y="222755"/>
                </a:lnTo>
                <a:lnTo>
                  <a:pt x="7239598" y="257900"/>
                </a:lnTo>
                <a:lnTo>
                  <a:pt x="7265624" y="295012"/>
                </a:lnTo>
                <a:lnTo>
                  <a:pt x="7289057" y="333966"/>
                </a:lnTo>
                <a:lnTo>
                  <a:pt x="7309772" y="374635"/>
                </a:lnTo>
                <a:lnTo>
                  <a:pt x="7327644" y="416896"/>
                </a:lnTo>
                <a:lnTo>
                  <a:pt x="7342547" y="460623"/>
                </a:lnTo>
                <a:lnTo>
                  <a:pt x="7354357" y="505690"/>
                </a:lnTo>
                <a:lnTo>
                  <a:pt x="7362947" y="551972"/>
                </a:lnTo>
                <a:lnTo>
                  <a:pt x="7368193" y="599345"/>
                </a:lnTo>
                <a:lnTo>
                  <a:pt x="7369969" y="647682"/>
                </a:lnTo>
                <a:lnTo>
                  <a:pt x="7369969" y="7555532"/>
                </a:lnTo>
                <a:lnTo>
                  <a:pt x="7368193" y="7603870"/>
                </a:lnTo>
                <a:lnTo>
                  <a:pt x="7362947" y="7651242"/>
                </a:lnTo>
                <a:lnTo>
                  <a:pt x="7354357" y="7697525"/>
                </a:lnTo>
                <a:lnTo>
                  <a:pt x="7342547" y="7742592"/>
                </a:lnTo>
                <a:lnTo>
                  <a:pt x="7327644" y="7786318"/>
                </a:lnTo>
                <a:lnTo>
                  <a:pt x="7309772" y="7828579"/>
                </a:lnTo>
                <a:lnTo>
                  <a:pt x="7289057" y="7869249"/>
                </a:lnTo>
                <a:lnTo>
                  <a:pt x="7265624" y="7908202"/>
                </a:lnTo>
                <a:lnTo>
                  <a:pt x="7239598" y="7945314"/>
                </a:lnTo>
                <a:lnTo>
                  <a:pt x="7211104" y="7980460"/>
                </a:lnTo>
                <a:lnTo>
                  <a:pt x="7180268" y="8013513"/>
                </a:lnTo>
                <a:lnTo>
                  <a:pt x="7147215" y="8044349"/>
                </a:lnTo>
                <a:lnTo>
                  <a:pt x="7112069" y="8072843"/>
                </a:lnTo>
                <a:lnTo>
                  <a:pt x="7074957" y="8098869"/>
                </a:lnTo>
                <a:lnTo>
                  <a:pt x="7036004" y="8122302"/>
                </a:lnTo>
                <a:lnTo>
                  <a:pt x="6995334" y="8143018"/>
                </a:lnTo>
                <a:lnTo>
                  <a:pt x="6953073" y="8160889"/>
                </a:lnTo>
                <a:lnTo>
                  <a:pt x="6909347" y="8175793"/>
                </a:lnTo>
                <a:lnTo>
                  <a:pt x="6864279" y="8187602"/>
                </a:lnTo>
                <a:lnTo>
                  <a:pt x="6817997" y="8196192"/>
                </a:lnTo>
                <a:lnTo>
                  <a:pt x="6770625" y="8201438"/>
                </a:lnTo>
                <a:lnTo>
                  <a:pt x="6722287" y="8203215"/>
                </a:lnTo>
                <a:close/>
              </a:path>
            </a:pathLst>
          </a:custGeom>
          <a:solidFill>
            <a:srgbClr val="CBC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291008" y="0"/>
            <a:ext cx="2597785" cy="2597785"/>
            <a:chOff x="7291008" y="0"/>
            <a:chExt cx="2597785" cy="2597785"/>
          </a:xfrm>
        </p:grpSpPr>
        <p:sp>
          <p:nvSpPr>
            <p:cNvPr id="4" name="object 4"/>
            <p:cNvSpPr/>
            <p:nvPr/>
          </p:nvSpPr>
          <p:spPr>
            <a:xfrm>
              <a:off x="7919257" y="0"/>
              <a:ext cx="1969770" cy="984885"/>
            </a:xfrm>
            <a:custGeom>
              <a:avLst/>
              <a:gdLst/>
              <a:ahLst/>
              <a:cxnLst/>
              <a:rect l="l" t="t" r="r" b="b"/>
              <a:pathLst>
                <a:path w="1969770" h="984885">
                  <a:moveTo>
                    <a:pt x="984619" y="984619"/>
                  </a:moveTo>
                  <a:lnTo>
                    <a:pt x="0" y="0"/>
                  </a:lnTo>
                  <a:lnTo>
                    <a:pt x="1969239" y="0"/>
                  </a:lnTo>
                  <a:lnTo>
                    <a:pt x="984619" y="984619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91008" y="0"/>
              <a:ext cx="2597785" cy="2597785"/>
            </a:xfrm>
            <a:custGeom>
              <a:avLst/>
              <a:gdLst/>
              <a:ahLst/>
              <a:cxnLst/>
              <a:rect l="l" t="t" r="r" b="b"/>
              <a:pathLst>
                <a:path w="2597784" h="2597785">
                  <a:moveTo>
                    <a:pt x="2597489" y="2597489"/>
                  </a:moveTo>
                  <a:lnTo>
                    <a:pt x="0" y="0"/>
                  </a:lnTo>
                  <a:lnTo>
                    <a:pt x="628249" y="0"/>
                  </a:lnTo>
                  <a:lnTo>
                    <a:pt x="2597489" y="1969239"/>
                  </a:lnTo>
                  <a:lnTo>
                    <a:pt x="2597489" y="2597489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19257" y="0"/>
              <a:ext cx="1133475" cy="985519"/>
            </a:xfrm>
            <a:custGeom>
              <a:avLst/>
              <a:gdLst/>
              <a:ahLst/>
              <a:cxnLst/>
              <a:rect l="l" t="t" r="r" b="b"/>
              <a:pathLst>
                <a:path w="1133475" h="985519">
                  <a:moveTo>
                    <a:pt x="984619" y="984921"/>
                  </a:moveTo>
                  <a:lnTo>
                    <a:pt x="0" y="0"/>
                  </a:lnTo>
                  <a:lnTo>
                    <a:pt x="1133383" y="835855"/>
                  </a:lnTo>
                  <a:lnTo>
                    <a:pt x="984619" y="984921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291611" y="7689483"/>
            <a:ext cx="2597785" cy="2597785"/>
            <a:chOff x="7291611" y="7689483"/>
            <a:chExt cx="2597785" cy="2597785"/>
          </a:xfrm>
        </p:grpSpPr>
        <p:sp>
          <p:nvSpPr>
            <p:cNvPr id="8" name="object 8"/>
            <p:cNvSpPr/>
            <p:nvPr/>
          </p:nvSpPr>
          <p:spPr>
            <a:xfrm>
              <a:off x="7919559" y="9302352"/>
              <a:ext cx="1969770" cy="984885"/>
            </a:xfrm>
            <a:custGeom>
              <a:avLst/>
              <a:gdLst/>
              <a:ahLst/>
              <a:cxnLst/>
              <a:rect l="l" t="t" r="r" b="b"/>
              <a:pathLst>
                <a:path w="1969770" h="984884">
                  <a:moveTo>
                    <a:pt x="984921" y="0"/>
                  </a:moveTo>
                  <a:lnTo>
                    <a:pt x="1969541" y="984619"/>
                  </a:lnTo>
                  <a:lnTo>
                    <a:pt x="0" y="984619"/>
                  </a:lnTo>
                  <a:lnTo>
                    <a:pt x="984921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91611" y="7689483"/>
              <a:ext cx="2597785" cy="2597785"/>
            </a:xfrm>
            <a:custGeom>
              <a:avLst/>
              <a:gdLst/>
              <a:ahLst/>
              <a:cxnLst/>
              <a:rect l="l" t="t" r="r" b="b"/>
              <a:pathLst>
                <a:path w="2597784" h="2597784">
                  <a:moveTo>
                    <a:pt x="2597489" y="0"/>
                  </a:moveTo>
                  <a:lnTo>
                    <a:pt x="2597489" y="628249"/>
                  </a:lnTo>
                  <a:lnTo>
                    <a:pt x="628249" y="2597489"/>
                  </a:lnTo>
                  <a:lnTo>
                    <a:pt x="0" y="2597489"/>
                  </a:lnTo>
                  <a:lnTo>
                    <a:pt x="2597489" y="0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9559" y="9302050"/>
              <a:ext cx="1078230" cy="985519"/>
            </a:xfrm>
            <a:custGeom>
              <a:avLst/>
              <a:gdLst/>
              <a:ahLst/>
              <a:cxnLst/>
              <a:rect l="l" t="t" r="r" b="b"/>
              <a:pathLst>
                <a:path w="1078229" h="985520">
                  <a:moveTo>
                    <a:pt x="984619" y="0"/>
                  </a:moveTo>
                  <a:lnTo>
                    <a:pt x="1077861" y="93241"/>
                  </a:lnTo>
                  <a:lnTo>
                    <a:pt x="0" y="984921"/>
                  </a:lnTo>
                  <a:lnTo>
                    <a:pt x="984619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04179" y="8317431"/>
              <a:ext cx="985519" cy="1969770"/>
            </a:xfrm>
            <a:custGeom>
              <a:avLst/>
              <a:gdLst/>
              <a:ahLst/>
              <a:cxnLst/>
              <a:rect l="l" t="t" r="r" b="b"/>
              <a:pathLst>
                <a:path w="985520" h="1969770">
                  <a:moveTo>
                    <a:pt x="984619" y="0"/>
                  </a:moveTo>
                  <a:lnTo>
                    <a:pt x="984921" y="1969541"/>
                  </a:lnTo>
                  <a:lnTo>
                    <a:pt x="0" y="984619"/>
                  </a:lnTo>
                  <a:lnTo>
                    <a:pt x="984619" y="0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89757" y="8317431"/>
              <a:ext cx="799465" cy="1969770"/>
            </a:xfrm>
            <a:custGeom>
              <a:avLst/>
              <a:gdLst/>
              <a:ahLst/>
              <a:cxnLst/>
              <a:rect l="l" t="t" r="r" b="b"/>
              <a:pathLst>
                <a:path w="799465" h="1969770">
                  <a:moveTo>
                    <a:pt x="799041" y="0"/>
                  </a:moveTo>
                  <a:lnTo>
                    <a:pt x="799343" y="1969541"/>
                  </a:lnTo>
                  <a:lnTo>
                    <a:pt x="0" y="984619"/>
                  </a:lnTo>
                  <a:lnTo>
                    <a:pt x="799041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53989" y="797231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7814" y="1015628"/>
                </a:moveTo>
                <a:lnTo>
                  <a:pt x="507814" y="761721"/>
                </a:lnTo>
                <a:lnTo>
                  <a:pt x="0" y="761721"/>
                </a:lnTo>
                <a:lnTo>
                  <a:pt x="0" y="253907"/>
                </a:lnTo>
                <a:lnTo>
                  <a:pt x="507814" y="253907"/>
                </a:lnTo>
                <a:lnTo>
                  <a:pt x="507814" y="0"/>
                </a:lnTo>
                <a:lnTo>
                  <a:pt x="1015628" y="507814"/>
                </a:lnTo>
                <a:lnTo>
                  <a:pt x="507814" y="1015628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0965370" y="2973046"/>
            <a:ext cx="1205865" cy="1068070"/>
            <a:chOff x="10965370" y="2973046"/>
            <a:chExt cx="1205865" cy="1068070"/>
          </a:xfrm>
        </p:grpSpPr>
        <p:sp>
          <p:nvSpPr>
            <p:cNvPr id="15" name="object 15"/>
            <p:cNvSpPr/>
            <p:nvPr/>
          </p:nvSpPr>
          <p:spPr>
            <a:xfrm>
              <a:off x="11322949" y="2973046"/>
              <a:ext cx="848360" cy="1068070"/>
            </a:xfrm>
            <a:custGeom>
              <a:avLst/>
              <a:gdLst/>
              <a:ahLst/>
              <a:cxnLst/>
              <a:rect l="l" t="t" r="r" b="b"/>
              <a:pathLst>
                <a:path w="848359" h="1068070">
                  <a:moveTo>
                    <a:pt x="88347" y="1067730"/>
                  </a:moveTo>
                  <a:lnTo>
                    <a:pt x="45214" y="1057368"/>
                  </a:lnTo>
                  <a:lnTo>
                    <a:pt x="12790" y="1027085"/>
                  </a:lnTo>
                  <a:lnTo>
                    <a:pt x="0" y="981680"/>
                  </a:lnTo>
                  <a:lnTo>
                    <a:pt x="587" y="85947"/>
                  </a:lnTo>
                  <a:lnTo>
                    <a:pt x="13414" y="40553"/>
                  </a:lnTo>
                  <a:lnTo>
                    <a:pt x="45875" y="10304"/>
                  </a:lnTo>
                  <a:lnTo>
                    <a:pt x="89034" y="0"/>
                  </a:lnTo>
                  <a:lnTo>
                    <a:pt x="133955" y="14439"/>
                  </a:lnTo>
                  <a:lnTo>
                    <a:pt x="812736" y="464755"/>
                  </a:lnTo>
                  <a:lnTo>
                    <a:pt x="839671" y="496901"/>
                  </a:lnTo>
                  <a:lnTo>
                    <a:pt x="848194" y="530902"/>
                  </a:lnTo>
                  <a:lnTo>
                    <a:pt x="848188" y="537966"/>
                  </a:lnTo>
                  <a:lnTo>
                    <a:pt x="836259" y="578172"/>
                  </a:lnTo>
                  <a:lnTo>
                    <a:pt x="133266" y="1053370"/>
                  </a:lnTo>
                  <a:lnTo>
                    <a:pt x="88347" y="106773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965370" y="3144191"/>
              <a:ext cx="576580" cy="725805"/>
            </a:xfrm>
            <a:custGeom>
              <a:avLst/>
              <a:gdLst/>
              <a:ahLst/>
              <a:cxnLst/>
              <a:rect l="l" t="t" r="r" b="b"/>
              <a:pathLst>
                <a:path w="576579" h="725804">
                  <a:moveTo>
                    <a:pt x="60018" y="725431"/>
                  </a:moveTo>
                  <a:lnTo>
                    <a:pt x="30714" y="718429"/>
                  </a:lnTo>
                  <a:lnTo>
                    <a:pt x="8688" y="697859"/>
                  </a:lnTo>
                  <a:lnTo>
                    <a:pt x="0" y="666972"/>
                  </a:lnTo>
                  <a:lnTo>
                    <a:pt x="385" y="58385"/>
                  </a:lnTo>
                  <a:lnTo>
                    <a:pt x="9109" y="27552"/>
                  </a:lnTo>
                  <a:lnTo>
                    <a:pt x="31170" y="7004"/>
                  </a:lnTo>
                  <a:lnTo>
                    <a:pt x="60494" y="0"/>
                  </a:lnTo>
                  <a:lnTo>
                    <a:pt x="91006" y="9801"/>
                  </a:lnTo>
                  <a:lnTo>
                    <a:pt x="554129" y="317159"/>
                  </a:lnTo>
                  <a:lnTo>
                    <a:pt x="575663" y="353581"/>
                  </a:lnTo>
                  <a:lnTo>
                    <a:pt x="576251" y="358326"/>
                  </a:lnTo>
                  <a:lnTo>
                    <a:pt x="576251" y="367962"/>
                  </a:lnTo>
                  <a:lnTo>
                    <a:pt x="557762" y="406021"/>
                  </a:lnTo>
                  <a:lnTo>
                    <a:pt x="90540" y="715616"/>
                  </a:lnTo>
                  <a:lnTo>
                    <a:pt x="60018" y="725431"/>
                  </a:lnTo>
                  <a:close/>
                </a:path>
              </a:pathLst>
            </a:custGeom>
            <a:solidFill>
              <a:srgbClr val="2E5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088" y="3380130"/>
            <a:ext cx="253560" cy="25356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6793" y="5394842"/>
            <a:ext cx="95250" cy="95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6793" y="5909192"/>
            <a:ext cx="95250" cy="952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6793" y="6423542"/>
            <a:ext cx="95250" cy="952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56918" y="4042928"/>
            <a:ext cx="6538595" cy="259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00"/>
              </a:spcBef>
            </a:pP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Approches</a:t>
            </a:r>
            <a:r>
              <a:rPr sz="2400" spc="-1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hybrides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utilisées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pour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la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prédiction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du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churn</a:t>
            </a:r>
            <a:endParaRPr sz="2400">
              <a:latin typeface="Trebuchet MS"/>
              <a:cs typeface="Trebuchet MS"/>
            </a:endParaRPr>
          </a:p>
          <a:p>
            <a:pPr marL="530225" marR="2592070">
              <a:lnSpc>
                <a:spcPct val="140600"/>
              </a:lnSpc>
            </a:pP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Random</a:t>
            </a:r>
            <a:r>
              <a:rPr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Forest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XGBoost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XGBoost</a:t>
            </a:r>
            <a:r>
              <a:rPr sz="2400" spc="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spc="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LSTM</a:t>
            </a:r>
            <a:endParaRPr sz="2400">
              <a:latin typeface="Trebuchet MS"/>
              <a:cs typeface="Trebuchet MS"/>
            </a:endParaRPr>
          </a:p>
          <a:p>
            <a:pPr marL="530225">
              <a:lnSpc>
                <a:spcPct val="100000"/>
              </a:lnSpc>
              <a:spcBef>
                <a:spcPts val="1170"/>
              </a:spcBef>
            </a:pP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CNN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LSTM,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CNN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BiLSTM,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Attention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LSTM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016000" y="716021"/>
            <a:ext cx="3993515" cy="1847214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pc="-535" dirty="0">
                <a:solidFill>
                  <a:srgbClr val="2D3780"/>
                </a:solidFill>
              </a:rPr>
              <a:t>État</a:t>
            </a:r>
            <a:r>
              <a:rPr spc="100" dirty="0">
                <a:solidFill>
                  <a:srgbClr val="2D3780"/>
                </a:solidFill>
              </a:rPr>
              <a:t> </a:t>
            </a:r>
            <a:r>
              <a:rPr spc="-955" dirty="0">
                <a:solidFill>
                  <a:srgbClr val="2D3780"/>
                </a:solidFill>
              </a:rPr>
              <a:t>de</a:t>
            </a:r>
            <a:r>
              <a:rPr spc="105" dirty="0">
                <a:solidFill>
                  <a:srgbClr val="2D3780"/>
                </a:solidFill>
              </a:rPr>
              <a:t> </a:t>
            </a:r>
            <a:r>
              <a:rPr spc="-675" dirty="0">
                <a:solidFill>
                  <a:srgbClr val="2D3780"/>
                </a:solidFill>
              </a:rPr>
              <a:t>l'art</a:t>
            </a: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750" i="0" dirty="0">
                <a:solidFill>
                  <a:srgbClr val="2D3780"/>
                </a:solidFill>
                <a:latin typeface="Trebuchet MS"/>
                <a:cs typeface="Trebuchet MS"/>
              </a:rPr>
              <a:t>Approche</a:t>
            </a:r>
            <a:r>
              <a:rPr sz="2750" i="0" spc="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i="0" spc="-10" dirty="0">
                <a:solidFill>
                  <a:srgbClr val="2D3780"/>
                </a:solidFill>
                <a:latin typeface="Trebuchet MS"/>
                <a:cs typeface="Trebuchet MS"/>
              </a:rPr>
              <a:t>hybride</a:t>
            </a:r>
            <a:endParaRPr sz="27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368463" y="1638771"/>
            <a:ext cx="3529329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b="1" dirty="0">
                <a:solidFill>
                  <a:srgbClr val="2D3780"/>
                </a:solidFill>
                <a:latin typeface="Trebuchet MS"/>
                <a:cs typeface="Trebuchet MS"/>
              </a:rPr>
              <a:t>Pourquoi</a:t>
            </a:r>
            <a:r>
              <a:rPr sz="2950" b="1" spc="3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1" spc="150" dirty="0">
                <a:solidFill>
                  <a:srgbClr val="2D3780"/>
                </a:solidFill>
                <a:latin typeface="Trebuchet MS"/>
                <a:cs typeface="Trebuchet MS"/>
              </a:rPr>
              <a:t>CCP-</a:t>
            </a:r>
            <a:r>
              <a:rPr sz="2950" b="1" spc="-60" dirty="0">
                <a:solidFill>
                  <a:srgbClr val="2D3780"/>
                </a:solidFill>
                <a:latin typeface="Trebuchet MS"/>
                <a:cs typeface="Trebuchet MS"/>
              </a:rPr>
              <a:t>Net</a:t>
            </a:r>
            <a:r>
              <a:rPr sz="2950" b="1" spc="-1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950" b="1" spc="100" dirty="0">
                <a:solidFill>
                  <a:srgbClr val="2D3780"/>
                </a:solidFill>
                <a:latin typeface="Trebuchet MS"/>
                <a:cs typeface="Trebuchet MS"/>
              </a:rPr>
              <a:t>?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1275"/>
              </a:spcBef>
            </a:pPr>
            <a:r>
              <a:rPr dirty="0"/>
              <a:t>Multi-Head</a:t>
            </a:r>
            <a:r>
              <a:rPr spc="165" dirty="0"/>
              <a:t> </a:t>
            </a:r>
            <a:r>
              <a:rPr dirty="0"/>
              <a:t>Self-</a:t>
            </a:r>
            <a:r>
              <a:rPr spc="-10" dirty="0"/>
              <a:t>Attention</a:t>
            </a:r>
          </a:p>
          <a:p>
            <a:pPr marL="78105" marR="692785">
              <a:lnSpc>
                <a:spcPct val="114599"/>
              </a:lnSpc>
              <a:spcBef>
                <a:spcPts val="755"/>
              </a:spcBef>
            </a:pPr>
            <a:r>
              <a:rPr b="0" dirty="0">
                <a:latin typeface="Trebuchet MS"/>
                <a:cs typeface="Trebuchet MS"/>
              </a:rPr>
              <a:t>Capture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les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dépendances </a:t>
            </a:r>
            <a:r>
              <a:rPr b="0" dirty="0">
                <a:latin typeface="Trebuchet MS"/>
                <a:cs typeface="Trebuchet MS"/>
              </a:rPr>
              <a:t>globales</a:t>
            </a:r>
            <a:r>
              <a:rPr b="0" spc="-135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entre</a:t>
            </a:r>
            <a:r>
              <a:rPr b="0" spc="-90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les </a:t>
            </a:r>
            <a:r>
              <a:rPr b="0" spc="-10" dirty="0">
                <a:latin typeface="Trebuchet MS"/>
                <a:cs typeface="Trebuchet MS"/>
              </a:rPr>
              <a:t>caractéristiques.</a:t>
            </a: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b="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pc="-10" dirty="0"/>
              <a:t>BiLSTM</a:t>
            </a:r>
          </a:p>
          <a:p>
            <a:pPr marL="12700" marR="671195">
              <a:lnSpc>
                <a:spcPct val="114599"/>
              </a:lnSpc>
              <a:spcBef>
                <a:spcPts val="740"/>
              </a:spcBef>
            </a:pPr>
            <a:r>
              <a:rPr b="0" spc="-10" dirty="0">
                <a:latin typeface="Trebuchet MS"/>
                <a:cs typeface="Trebuchet MS"/>
              </a:rPr>
              <a:t>Modélise</a:t>
            </a:r>
            <a:r>
              <a:rPr b="0" spc="-120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les</a:t>
            </a:r>
            <a:r>
              <a:rPr b="0" spc="-114" dirty="0">
                <a:latin typeface="Trebuchet MS"/>
                <a:cs typeface="Trebuchet MS"/>
              </a:rPr>
              <a:t> </a:t>
            </a:r>
            <a:r>
              <a:rPr b="0" spc="-10" dirty="0">
                <a:latin typeface="Trebuchet MS"/>
                <a:cs typeface="Trebuchet MS"/>
              </a:rPr>
              <a:t>dépendances </a:t>
            </a:r>
            <a:r>
              <a:rPr b="0" spc="-80" dirty="0">
                <a:latin typeface="Trebuchet MS"/>
                <a:cs typeface="Trebuchet MS"/>
              </a:rPr>
              <a:t>temporelles</a:t>
            </a:r>
            <a:r>
              <a:rPr b="0" spc="-8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dans</a:t>
            </a:r>
            <a:r>
              <a:rPr b="0" spc="-80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les</a:t>
            </a:r>
            <a:r>
              <a:rPr b="0" spc="-85" dirty="0">
                <a:latin typeface="Trebuchet MS"/>
                <a:cs typeface="Trebuchet MS"/>
              </a:rPr>
              <a:t> </a:t>
            </a:r>
            <a:r>
              <a:rPr b="0" spc="-20" dirty="0">
                <a:latin typeface="Trebuchet MS"/>
                <a:cs typeface="Trebuchet MS"/>
              </a:rPr>
              <a:t>deux </a:t>
            </a:r>
            <a:r>
              <a:rPr b="0" spc="-65" dirty="0">
                <a:latin typeface="Trebuchet MS"/>
                <a:cs typeface="Trebuchet MS"/>
              </a:rPr>
              <a:t>directions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(passé</a:t>
            </a:r>
            <a:r>
              <a:rPr b="0" spc="-110" dirty="0">
                <a:latin typeface="Trebuchet MS"/>
                <a:cs typeface="Trebuchet MS"/>
              </a:rPr>
              <a:t> </a:t>
            </a:r>
            <a:r>
              <a:rPr b="0" spc="-75" dirty="0">
                <a:latin typeface="Trebuchet MS"/>
                <a:cs typeface="Trebuchet MS"/>
              </a:rPr>
              <a:t>et</a:t>
            </a:r>
            <a:r>
              <a:rPr b="0" spc="-105" dirty="0">
                <a:latin typeface="Trebuchet MS"/>
                <a:cs typeface="Trebuchet MS"/>
              </a:rPr>
              <a:t> </a:t>
            </a:r>
            <a:r>
              <a:rPr b="0" spc="-85" dirty="0">
                <a:latin typeface="Trebuchet MS"/>
                <a:cs typeface="Trebuchet MS"/>
              </a:rPr>
              <a:t>futur).</a:t>
            </a: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b="0" spc="-85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pc="55" dirty="0"/>
              <a:t>CNN</a:t>
            </a:r>
          </a:p>
          <a:p>
            <a:pPr marL="12700" marR="5080">
              <a:lnSpc>
                <a:spcPct val="114599"/>
              </a:lnSpc>
              <a:spcBef>
                <a:spcPts val="745"/>
              </a:spcBef>
            </a:pPr>
            <a:r>
              <a:rPr b="0" spc="-95" dirty="0">
                <a:latin typeface="Trebuchet MS"/>
                <a:cs typeface="Trebuchet MS"/>
              </a:rPr>
              <a:t>Extrait</a:t>
            </a:r>
            <a:r>
              <a:rPr b="0" spc="-85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automatiquement</a:t>
            </a:r>
            <a:r>
              <a:rPr b="0" spc="-80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les </a:t>
            </a:r>
            <a:r>
              <a:rPr b="0" spc="-50" dirty="0">
                <a:latin typeface="Trebuchet MS"/>
                <a:cs typeface="Trebuchet MS"/>
              </a:rPr>
              <a:t>caractéristiques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spc="-25" dirty="0">
                <a:latin typeface="Trebuchet MS"/>
                <a:cs typeface="Trebuchet MS"/>
              </a:rPr>
              <a:t>locales</a:t>
            </a:r>
            <a:r>
              <a:rPr b="0" spc="-95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les</a:t>
            </a:r>
            <a:r>
              <a:rPr b="0" spc="-100" dirty="0">
                <a:latin typeface="Trebuchet MS"/>
                <a:cs typeface="Trebuchet MS"/>
              </a:rPr>
              <a:t> </a:t>
            </a:r>
            <a:r>
              <a:rPr b="0" spc="-50" dirty="0">
                <a:latin typeface="Trebuchet MS"/>
                <a:cs typeface="Trebuchet MS"/>
              </a:rPr>
              <a:t>plus </a:t>
            </a:r>
            <a:r>
              <a:rPr b="0" spc="-20" dirty="0">
                <a:latin typeface="Trebuchet MS"/>
                <a:cs typeface="Trebuchet MS"/>
              </a:rPr>
              <a:t>pertinentes.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03264" y="8267399"/>
            <a:ext cx="7337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95" dirty="0">
                <a:latin typeface="Trebuchet MS"/>
                <a:cs typeface="Trebuchet MS"/>
              </a:rPr>
              <a:t>CCP-</a:t>
            </a:r>
            <a:r>
              <a:rPr sz="2400" b="1" i="1" spc="-75" dirty="0">
                <a:latin typeface="Trebuchet MS"/>
                <a:cs typeface="Trebuchet MS"/>
              </a:rPr>
              <a:t>Net</a:t>
            </a:r>
            <a:r>
              <a:rPr sz="2400" b="1" i="1" spc="-110" dirty="0">
                <a:latin typeface="Trebuchet MS"/>
                <a:cs typeface="Trebuchet MS"/>
              </a:rPr>
              <a:t> </a:t>
            </a:r>
            <a:r>
              <a:rPr sz="2400" b="1" i="1" spc="-610" dirty="0">
                <a:solidFill>
                  <a:srgbClr val="2D3780"/>
                </a:solidFill>
                <a:latin typeface="Trebuchet MS"/>
                <a:cs typeface="Trebuchet MS"/>
              </a:rPr>
              <a:t>=</a:t>
            </a:r>
            <a:r>
              <a:rPr sz="2400" b="1" i="1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i="1" spc="-45" dirty="0">
                <a:solidFill>
                  <a:srgbClr val="2D3780"/>
                </a:solidFill>
                <a:latin typeface="Trebuchet MS"/>
                <a:cs typeface="Trebuchet MS"/>
              </a:rPr>
              <a:t>Multi-</a:t>
            </a:r>
            <a:r>
              <a:rPr sz="2400" b="1" i="1" dirty="0">
                <a:solidFill>
                  <a:srgbClr val="2D3780"/>
                </a:solidFill>
                <a:latin typeface="Trebuchet MS"/>
                <a:cs typeface="Trebuchet MS"/>
              </a:rPr>
              <a:t>Head</a:t>
            </a:r>
            <a:r>
              <a:rPr sz="2400" b="1" i="1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i="1" dirty="0">
                <a:solidFill>
                  <a:srgbClr val="2D3780"/>
                </a:solidFill>
                <a:latin typeface="Trebuchet MS"/>
                <a:cs typeface="Trebuchet MS"/>
              </a:rPr>
              <a:t>Self-</a:t>
            </a:r>
            <a:r>
              <a:rPr sz="2400" b="1" i="1" spc="-70" dirty="0">
                <a:solidFill>
                  <a:srgbClr val="2D3780"/>
                </a:solidFill>
                <a:latin typeface="Trebuchet MS"/>
                <a:cs typeface="Trebuchet MS"/>
              </a:rPr>
              <a:t>Attention</a:t>
            </a:r>
            <a:r>
              <a:rPr sz="2400" b="1" i="1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i="1" spc="-3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b="1" i="1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i="1" dirty="0">
                <a:solidFill>
                  <a:srgbClr val="2D3780"/>
                </a:solidFill>
                <a:latin typeface="Trebuchet MS"/>
                <a:cs typeface="Trebuchet MS"/>
              </a:rPr>
              <a:t>BiLSTM</a:t>
            </a:r>
            <a:r>
              <a:rPr sz="2400" b="1" i="1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i="1" spc="-370" dirty="0">
                <a:solidFill>
                  <a:srgbClr val="2D3780"/>
                </a:solidFill>
                <a:latin typeface="Trebuchet MS"/>
                <a:cs typeface="Trebuchet MS"/>
              </a:rPr>
              <a:t>+</a:t>
            </a:r>
            <a:r>
              <a:rPr sz="2400" b="1" i="1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i="1" spc="50" dirty="0">
                <a:solidFill>
                  <a:srgbClr val="2D3780"/>
                </a:solidFill>
                <a:latin typeface="Trebuchet MS"/>
                <a:cs typeface="Trebuchet MS"/>
              </a:rPr>
              <a:t>CNN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965370" y="5078257"/>
            <a:ext cx="1205865" cy="1068070"/>
            <a:chOff x="10965370" y="5078257"/>
            <a:chExt cx="1205865" cy="1068070"/>
          </a:xfrm>
        </p:grpSpPr>
        <p:sp>
          <p:nvSpPr>
            <p:cNvPr id="27" name="object 27"/>
            <p:cNvSpPr/>
            <p:nvPr/>
          </p:nvSpPr>
          <p:spPr>
            <a:xfrm>
              <a:off x="11322949" y="5078257"/>
              <a:ext cx="848360" cy="1068070"/>
            </a:xfrm>
            <a:custGeom>
              <a:avLst/>
              <a:gdLst/>
              <a:ahLst/>
              <a:cxnLst/>
              <a:rect l="l" t="t" r="r" b="b"/>
              <a:pathLst>
                <a:path w="848359" h="1068070">
                  <a:moveTo>
                    <a:pt x="88347" y="1067730"/>
                  </a:moveTo>
                  <a:lnTo>
                    <a:pt x="45214" y="1057368"/>
                  </a:lnTo>
                  <a:lnTo>
                    <a:pt x="12790" y="1027085"/>
                  </a:lnTo>
                  <a:lnTo>
                    <a:pt x="0" y="981680"/>
                  </a:lnTo>
                  <a:lnTo>
                    <a:pt x="587" y="85947"/>
                  </a:lnTo>
                  <a:lnTo>
                    <a:pt x="13414" y="40553"/>
                  </a:lnTo>
                  <a:lnTo>
                    <a:pt x="45875" y="10304"/>
                  </a:lnTo>
                  <a:lnTo>
                    <a:pt x="89034" y="0"/>
                  </a:lnTo>
                  <a:lnTo>
                    <a:pt x="133955" y="14439"/>
                  </a:lnTo>
                  <a:lnTo>
                    <a:pt x="812736" y="464755"/>
                  </a:lnTo>
                  <a:lnTo>
                    <a:pt x="839671" y="496901"/>
                  </a:lnTo>
                  <a:lnTo>
                    <a:pt x="848194" y="530902"/>
                  </a:lnTo>
                  <a:lnTo>
                    <a:pt x="848188" y="537966"/>
                  </a:lnTo>
                  <a:lnTo>
                    <a:pt x="836259" y="578172"/>
                  </a:lnTo>
                  <a:lnTo>
                    <a:pt x="133266" y="1053370"/>
                  </a:lnTo>
                  <a:lnTo>
                    <a:pt x="88347" y="106773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965370" y="5249402"/>
              <a:ext cx="576580" cy="725805"/>
            </a:xfrm>
            <a:custGeom>
              <a:avLst/>
              <a:gdLst/>
              <a:ahLst/>
              <a:cxnLst/>
              <a:rect l="l" t="t" r="r" b="b"/>
              <a:pathLst>
                <a:path w="576579" h="725804">
                  <a:moveTo>
                    <a:pt x="60018" y="725431"/>
                  </a:moveTo>
                  <a:lnTo>
                    <a:pt x="30714" y="718429"/>
                  </a:lnTo>
                  <a:lnTo>
                    <a:pt x="8688" y="697859"/>
                  </a:lnTo>
                  <a:lnTo>
                    <a:pt x="0" y="666972"/>
                  </a:lnTo>
                  <a:lnTo>
                    <a:pt x="385" y="58385"/>
                  </a:lnTo>
                  <a:lnTo>
                    <a:pt x="9109" y="27552"/>
                  </a:lnTo>
                  <a:lnTo>
                    <a:pt x="31170" y="7004"/>
                  </a:lnTo>
                  <a:lnTo>
                    <a:pt x="60494" y="0"/>
                  </a:lnTo>
                  <a:lnTo>
                    <a:pt x="91006" y="9801"/>
                  </a:lnTo>
                  <a:lnTo>
                    <a:pt x="554129" y="317159"/>
                  </a:lnTo>
                  <a:lnTo>
                    <a:pt x="575663" y="353581"/>
                  </a:lnTo>
                  <a:lnTo>
                    <a:pt x="576251" y="358326"/>
                  </a:lnTo>
                  <a:lnTo>
                    <a:pt x="576251" y="367962"/>
                  </a:lnTo>
                  <a:lnTo>
                    <a:pt x="557762" y="406021"/>
                  </a:lnTo>
                  <a:lnTo>
                    <a:pt x="90540" y="715616"/>
                  </a:lnTo>
                  <a:lnTo>
                    <a:pt x="60018" y="725431"/>
                  </a:lnTo>
                  <a:close/>
                </a:path>
              </a:pathLst>
            </a:custGeom>
            <a:solidFill>
              <a:srgbClr val="2E5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088" y="5485341"/>
            <a:ext cx="253560" cy="25356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0965370" y="7183467"/>
            <a:ext cx="1205865" cy="1068070"/>
            <a:chOff x="10965370" y="7183467"/>
            <a:chExt cx="1205865" cy="1068070"/>
          </a:xfrm>
        </p:grpSpPr>
        <p:sp>
          <p:nvSpPr>
            <p:cNvPr id="31" name="object 31"/>
            <p:cNvSpPr/>
            <p:nvPr/>
          </p:nvSpPr>
          <p:spPr>
            <a:xfrm>
              <a:off x="11322949" y="7183467"/>
              <a:ext cx="848360" cy="1068070"/>
            </a:xfrm>
            <a:custGeom>
              <a:avLst/>
              <a:gdLst/>
              <a:ahLst/>
              <a:cxnLst/>
              <a:rect l="l" t="t" r="r" b="b"/>
              <a:pathLst>
                <a:path w="848359" h="1068070">
                  <a:moveTo>
                    <a:pt x="88347" y="1067730"/>
                  </a:moveTo>
                  <a:lnTo>
                    <a:pt x="45214" y="1057368"/>
                  </a:lnTo>
                  <a:lnTo>
                    <a:pt x="12790" y="1027085"/>
                  </a:lnTo>
                  <a:lnTo>
                    <a:pt x="0" y="981680"/>
                  </a:lnTo>
                  <a:lnTo>
                    <a:pt x="587" y="85947"/>
                  </a:lnTo>
                  <a:lnTo>
                    <a:pt x="13414" y="40553"/>
                  </a:lnTo>
                  <a:lnTo>
                    <a:pt x="45875" y="10304"/>
                  </a:lnTo>
                  <a:lnTo>
                    <a:pt x="89034" y="0"/>
                  </a:lnTo>
                  <a:lnTo>
                    <a:pt x="133955" y="14439"/>
                  </a:lnTo>
                  <a:lnTo>
                    <a:pt x="812736" y="464755"/>
                  </a:lnTo>
                  <a:lnTo>
                    <a:pt x="839671" y="496901"/>
                  </a:lnTo>
                  <a:lnTo>
                    <a:pt x="848194" y="530902"/>
                  </a:lnTo>
                  <a:lnTo>
                    <a:pt x="848188" y="537966"/>
                  </a:lnTo>
                  <a:lnTo>
                    <a:pt x="836259" y="578172"/>
                  </a:lnTo>
                  <a:lnTo>
                    <a:pt x="133266" y="1053370"/>
                  </a:lnTo>
                  <a:lnTo>
                    <a:pt x="88347" y="106773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965370" y="7354613"/>
              <a:ext cx="576580" cy="725805"/>
            </a:xfrm>
            <a:custGeom>
              <a:avLst/>
              <a:gdLst/>
              <a:ahLst/>
              <a:cxnLst/>
              <a:rect l="l" t="t" r="r" b="b"/>
              <a:pathLst>
                <a:path w="576579" h="725804">
                  <a:moveTo>
                    <a:pt x="60018" y="725431"/>
                  </a:moveTo>
                  <a:lnTo>
                    <a:pt x="30714" y="718429"/>
                  </a:lnTo>
                  <a:lnTo>
                    <a:pt x="8688" y="697859"/>
                  </a:lnTo>
                  <a:lnTo>
                    <a:pt x="0" y="666972"/>
                  </a:lnTo>
                  <a:lnTo>
                    <a:pt x="385" y="58385"/>
                  </a:lnTo>
                  <a:lnTo>
                    <a:pt x="9109" y="27552"/>
                  </a:lnTo>
                  <a:lnTo>
                    <a:pt x="31170" y="7004"/>
                  </a:lnTo>
                  <a:lnTo>
                    <a:pt x="60494" y="0"/>
                  </a:lnTo>
                  <a:lnTo>
                    <a:pt x="91006" y="9801"/>
                  </a:lnTo>
                  <a:lnTo>
                    <a:pt x="554129" y="317159"/>
                  </a:lnTo>
                  <a:lnTo>
                    <a:pt x="575663" y="353581"/>
                  </a:lnTo>
                  <a:lnTo>
                    <a:pt x="576251" y="358326"/>
                  </a:lnTo>
                  <a:lnTo>
                    <a:pt x="576251" y="367962"/>
                  </a:lnTo>
                  <a:lnTo>
                    <a:pt x="557762" y="406021"/>
                  </a:lnTo>
                  <a:lnTo>
                    <a:pt x="90540" y="715616"/>
                  </a:lnTo>
                  <a:lnTo>
                    <a:pt x="60018" y="725431"/>
                  </a:lnTo>
                  <a:close/>
                </a:path>
              </a:pathLst>
            </a:custGeom>
            <a:solidFill>
              <a:srgbClr val="2E5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088" y="7590552"/>
            <a:ext cx="253560" cy="253560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10</a:t>
            </a:fld>
            <a:endParaRPr spc="-50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77132" y="3690619"/>
            <a:ext cx="126746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060" dirty="0">
                <a:solidFill>
                  <a:srgbClr val="FFFFFF"/>
                </a:solidFill>
                <a:latin typeface="Verdana"/>
                <a:cs typeface="Verdana"/>
              </a:rPr>
              <a:t>Méthodologie</a:t>
            </a:r>
            <a:r>
              <a:rPr sz="9600" spc="-10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600" spc="-1220" dirty="0">
                <a:solidFill>
                  <a:srgbClr val="FFFFFF"/>
                </a:solidFill>
                <a:latin typeface="Verdana"/>
                <a:cs typeface="Verdana"/>
              </a:rPr>
              <a:t>CCP-</a:t>
            </a:r>
            <a:r>
              <a:rPr sz="9600" spc="-1035" dirty="0">
                <a:solidFill>
                  <a:srgbClr val="FFFFFF"/>
                </a:solidFill>
                <a:latin typeface="Verdana"/>
                <a:cs typeface="Verdana"/>
              </a:rPr>
              <a:t>Net</a:t>
            </a:r>
            <a:endParaRPr sz="9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11</a:t>
            </a:fld>
            <a:endParaRPr spc="-50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99329" y="0"/>
            <a:ext cx="3589020" cy="3599179"/>
            <a:chOff x="14699329" y="0"/>
            <a:chExt cx="3589020" cy="3599179"/>
          </a:xfrm>
        </p:grpSpPr>
        <p:sp>
          <p:nvSpPr>
            <p:cNvPr id="3" name="object 3"/>
            <p:cNvSpPr/>
            <p:nvPr/>
          </p:nvSpPr>
          <p:spPr>
            <a:xfrm>
              <a:off x="14699329" y="0"/>
              <a:ext cx="3589020" cy="3599179"/>
            </a:xfrm>
            <a:custGeom>
              <a:avLst/>
              <a:gdLst/>
              <a:ahLst/>
              <a:cxnLst/>
              <a:rect l="l" t="t" r="r" b="b"/>
              <a:pathLst>
                <a:path w="3589019" h="3599179">
                  <a:moveTo>
                    <a:pt x="3588670" y="3598670"/>
                  </a:moveTo>
                  <a:lnTo>
                    <a:pt x="0" y="0"/>
                  </a:lnTo>
                  <a:lnTo>
                    <a:pt x="1278632" y="0"/>
                  </a:lnTo>
                  <a:lnTo>
                    <a:pt x="3588670" y="2310037"/>
                  </a:lnTo>
                  <a:lnTo>
                    <a:pt x="3588670" y="3598670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977961" y="0"/>
              <a:ext cx="2310130" cy="2310130"/>
            </a:xfrm>
            <a:custGeom>
              <a:avLst/>
              <a:gdLst/>
              <a:ahLst/>
              <a:cxnLst/>
              <a:rect l="l" t="t" r="r" b="b"/>
              <a:pathLst>
                <a:path w="2310130" h="2310130">
                  <a:moveTo>
                    <a:pt x="2310037" y="2310037"/>
                  </a:moveTo>
                  <a:lnTo>
                    <a:pt x="0" y="0"/>
                  </a:lnTo>
                  <a:lnTo>
                    <a:pt x="2310037" y="0"/>
                  </a:lnTo>
                  <a:lnTo>
                    <a:pt x="2310037" y="2310037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4151" y="2588735"/>
            <a:ext cx="11296959" cy="710450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411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825"/>
              </a:spcBef>
            </a:pPr>
            <a:r>
              <a:rPr spc="-825" dirty="0">
                <a:solidFill>
                  <a:srgbClr val="2D3780"/>
                </a:solidFill>
              </a:rPr>
              <a:t>Méthodologie</a:t>
            </a:r>
            <a:r>
              <a:rPr spc="145" dirty="0">
                <a:solidFill>
                  <a:srgbClr val="2D3780"/>
                </a:solidFill>
              </a:rPr>
              <a:t> </a:t>
            </a:r>
            <a:r>
              <a:rPr spc="-45" dirty="0">
                <a:solidFill>
                  <a:srgbClr val="2D3780"/>
                </a:solidFill>
              </a:rPr>
              <a:t>CCP-</a:t>
            </a:r>
            <a:r>
              <a:rPr spc="-550" dirty="0">
                <a:solidFill>
                  <a:srgbClr val="2D3780"/>
                </a:solidFill>
              </a:rPr>
              <a:t>Net</a:t>
            </a:r>
          </a:p>
          <a:p>
            <a:pPr marL="148590">
              <a:lnSpc>
                <a:spcPct val="100000"/>
              </a:lnSpc>
              <a:spcBef>
                <a:spcPts val="390"/>
              </a:spcBef>
            </a:pPr>
            <a:r>
              <a:rPr sz="3600" i="0" spc="-45" dirty="0">
                <a:solidFill>
                  <a:srgbClr val="2D3780"/>
                </a:solidFill>
                <a:latin typeface="Trebuchet MS"/>
                <a:cs typeface="Trebuchet MS"/>
              </a:rPr>
              <a:t>Architecture</a:t>
            </a:r>
            <a:r>
              <a:rPr sz="3600" i="0" spc="-1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600" i="0" spc="80" dirty="0">
                <a:solidFill>
                  <a:srgbClr val="2D3780"/>
                </a:solidFill>
                <a:latin typeface="Trebuchet MS"/>
                <a:cs typeface="Trebuchet MS"/>
              </a:rPr>
              <a:t>globale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664025" y="3200442"/>
            <a:ext cx="2624455" cy="6292850"/>
            <a:chOff x="15664025" y="3200442"/>
            <a:chExt cx="2624455" cy="6292850"/>
          </a:xfrm>
        </p:grpSpPr>
        <p:sp>
          <p:nvSpPr>
            <p:cNvPr id="8" name="object 8"/>
            <p:cNvSpPr/>
            <p:nvPr/>
          </p:nvSpPr>
          <p:spPr>
            <a:xfrm>
              <a:off x="15664025" y="4244882"/>
              <a:ext cx="2624455" cy="5248275"/>
            </a:xfrm>
            <a:custGeom>
              <a:avLst/>
              <a:gdLst/>
              <a:ahLst/>
              <a:cxnLst/>
              <a:rect l="l" t="t" r="r" b="b"/>
              <a:pathLst>
                <a:path w="2624455" h="5248275">
                  <a:moveTo>
                    <a:pt x="2623975" y="5247950"/>
                  </a:moveTo>
                  <a:lnTo>
                    <a:pt x="0" y="2623975"/>
                  </a:lnTo>
                  <a:lnTo>
                    <a:pt x="2623975" y="0"/>
                  </a:lnTo>
                  <a:lnTo>
                    <a:pt x="2623975" y="5247950"/>
                  </a:lnTo>
                  <a:close/>
                </a:path>
              </a:pathLst>
            </a:custGeom>
            <a:solidFill>
              <a:srgbClr val="615DDA">
                <a:alpha val="2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664039" y="3200442"/>
              <a:ext cx="2624455" cy="5248275"/>
            </a:xfrm>
            <a:custGeom>
              <a:avLst/>
              <a:gdLst/>
              <a:ahLst/>
              <a:cxnLst/>
              <a:rect l="l" t="t" r="r" b="b"/>
              <a:pathLst>
                <a:path w="2624455" h="5248275">
                  <a:moveTo>
                    <a:pt x="2623961" y="5247922"/>
                  </a:moveTo>
                  <a:lnTo>
                    <a:pt x="0" y="2623960"/>
                  </a:lnTo>
                  <a:lnTo>
                    <a:pt x="2623960" y="0"/>
                  </a:lnTo>
                  <a:lnTo>
                    <a:pt x="2623961" y="5247922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12</a:t>
            </a:fld>
            <a:endParaRPr spc="-50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95744" y="4126203"/>
            <a:ext cx="11892280" cy="6161405"/>
            <a:chOff x="6395744" y="4126203"/>
            <a:chExt cx="11892280" cy="6161405"/>
          </a:xfrm>
        </p:grpSpPr>
        <p:sp>
          <p:nvSpPr>
            <p:cNvPr id="3" name="object 3"/>
            <p:cNvSpPr/>
            <p:nvPr/>
          </p:nvSpPr>
          <p:spPr>
            <a:xfrm>
              <a:off x="17561870" y="10006729"/>
              <a:ext cx="560705" cy="280670"/>
            </a:xfrm>
            <a:custGeom>
              <a:avLst/>
              <a:gdLst/>
              <a:ahLst/>
              <a:cxnLst/>
              <a:rect l="l" t="t" r="r" b="b"/>
              <a:pathLst>
                <a:path w="560705" h="280670">
                  <a:moveTo>
                    <a:pt x="280355" y="0"/>
                  </a:moveTo>
                  <a:lnTo>
                    <a:pt x="560625" y="280269"/>
                  </a:lnTo>
                  <a:lnTo>
                    <a:pt x="0" y="280269"/>
                  </a:lnTo>
                  <a:lnTo>
                    <a:pt x="280355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33707" y="8932707"/>
              <a:ext cx="1354455" cy="1354455"/>
            </a:xfrm>
            <a:custGeom>
              <a:avLst/>
              <a:gdLst/>
              <a:ahLst/>
              <a:cxnLst/>
              <a:rect l="l" t="t" r="r" b="b"/>
              <a:pathLst>
                <a:path w="1354455" h="1354454">
                  <a:moveTo>
                    <a:pt x="1354292" y="0"/>
                  </a:moveTo>
                  <a:lnTo>
                    <a:pt x="1354292" y="628249"/>
                  </a:lnTo>
                  <a:lnTo>
                    <a:pt x="908821" y="1073720"/>
                  </a:lnTo>
                  <a:lnTo>
                    <a:pt x="908519" y="1073720"/>
                  </a:lnTo>
                  <a:lnTo>
                    <a:pt x="908519" y="1074022"/>
                  </a:lnTo>
                  <a:lnTo>
                    <a:pt x="628249" y="1354292"/>
                  </a:lnTo>
                  <a:lnTo>
                    <a:pt x="0" y="1354292"/>
                  </a:lnTo>
                  <a:lnTo>
                    <a:pt x="1354292" y="0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61439" y="10006427"/>
              <a:ext cx="374015" cy="280670"/>
            </a:xfrm>
            <a:custGeom>
              <a:avLst/>
              <a:gdLst/>
              <a:ahLst/>
              <a:cxnLst/>
              <a:rect l="l" t="t" r="r" b="b"/>
              <a:pathLst>
                <a:path w="374015" h="280670">
                  <a:moveTo>
                    <a:pt x="280485" y="0"/>
                  </a:moveTo>
                  <a:lnTo>
                    <a:pt x="373727" y="93241"/>
                  </a:lnTo>
                  <a:lnTo>
                    <a:pt x="147283" y="280571"/>
                  </a:lnTo>
                  <a:lnTo>
                    <a:pt x="0" y="280571"/>
                  </a:lnTo>
                  <a:lnTo>
                    <a:pt x="280485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41924" y="9560353"/>
              <a:ext cx="446405" cy="727075"/>
            </a:xfrm>
            <a:custGeom>
              <a:avLst/>
              <a:gdLst/>
              <a:ahLst/>
              <a:cxnLst/>
              <a:rect l="l" t="t" r="r" b="b"/>
              <a:pathLst>
                <a:path w="446405" h="727075">
                  <a:moveTo>
                    <a:pt x="446074" y="0"/>
                  </a:moveTo>
                  <a:lnTo>
                    <a:pt x="446074" y="726646"/>
                  </a:lnTo>
                  <a:lnTo>
                    <a:pt x="280571" y="726646"/>
                  </a:lnTo>
                  <a:lnTo>
                    <a:pt x="0" y="446074"/>
                  </a:lnTo>
                  <a:lnTo>
                    <a:pt x="446074" y="0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027503" y="9685430"/>
              <a:ext cx="260985" cy="601980"/>
            </a:xfrm>
            <a:custGeom>
              <a:avLst/>
              <a:gdLst/>
              <a:ahLst/>
              <a:cxnLst/>
              <a:rect l="l" t="t" r="r" b="b"/>
              <a:pathLst>
                <a:path w="260984" h="601979">
                  <a:moveTo>
                    <a:pt x="260496" y="0"/>
                  </a:moveTo>
                  <a:lnTo>
                    <a:pt x="260496" y="601568"/>
                  </a:lnTo>
                  <a:lnTo>
                    <a:pt x="227706" y="601568"/>
                  </a:lnTo>
                  <a:lnTo>
                    <a:pt x="0" y="320997"/>
                  </a:lnTo>
                  <a:lnTo>
                    <a:pt x="260496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5744" y="4126203"/>
              <a:ext cx="11630023" cy="4848224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909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spc="-825" dirty="0">
                <a:solidFill>
                  <a:srgbClr val="2D3780"/>
                </a:solidFill>
              </a:rPr>
              <a:t>Méthodologie</a:t>
            </a:r>
            <a:r>
              <a:rPr spc="145" dirty="0">
                <a:solidFill>
                  <a:srgbClr val="2D3780"/>
                </a:solidFill>
              </a:rPr>
              <a:t> </a:t>
            </a:r>
            <a:r>
              <a:rPr spc="-45" dirty="0">
                <a:solidFill>
                  <a:srgbClr val="2D3780"/>
                </a:solidFill>
              </a:rPr>
              <a:t>CCP-</a:t>
            </a:r>
            <a:r>
              <a:rPr spc="-550" dirty="0">
                <a:solidFill>
                  <a:srgbClr val="2D3780"/>
                </a:solidFill>
              </a:rPr>
              <a:t>Net</a:t>
            </a:r>
          </a:p>
          <a:p>
            <a:pPr marL="148590">
              <a:lnSpc>
                <a:spcPct val="100000"/>
              </a:lnSpc>
              <a:spcBef>
                <a:spcPts val="175"/>
              </a:spcBef>
            </a:pPr>
            <a:r>
              <a:rPr sz="3550" i="0" dirty="0">
                <a:solidFill>
                  <a:srgbClr val="2D3780"/>
                </a:solidFill>
                <a:latin typeface="Trebuchet MS"/>
                <a:cs typeface="Trebuchet MS"/>
              </a:rPr>
              <a:t>Multi-</a:t>
            </a:r>
            <a:r>
              <a:rPr sz="3550" i="0" spc="80" dirty="0">
                <a:solidFill>
                  <a:srgbClr val="2D3780"/>
                </a:solidFill>
                <a:latin typeface="Trebuchet MS"/>
                <a:cs typeface="Trebuchet MS"/>
              </a:rPr>
              <a:t>Head</a:t>
            </a:r>
            <a:r>
              <a:rPr sz="3550" i="0" spc="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3550" i="0" dirty="0">
                <a:solidFill>
                  <a:srgbClr val="2D3780"/>
                </a:solidFill>
                <a:latin typeface="Trebuchet MS"/>
                <a:cs typeface="Trebuchet MS"/>
              </a:rPr>
              <a:t>Self-</a:t>
            </a:r>
            <a:r>
              <a:rPr sz="3550" i="0" spc="-10" dirty="0">
                <a:solidFill>
                  <a:srgbClr val="2D3780"/>
                </a:solidFill>
                <a:latin typeface="Trebuchet MS"/>
                <a:cs typeface="Trebuchet MS"/>
              </a:rPr>
              <a:t>Attention</a:t>
            </a:r>
            <a:endParaRPr sz="35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290" y="4082417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77486" y="3114498"/>
            <a:ext cx="6428105" cy="37566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5105400">
              <a:lnSpc>
                <a:spcPct val="141200"/>
              </a:lnSpc>
              <a:spcBef>
                <a:spcPts val="305"/>
              </a:spcBef>
            </a:pPr>
            <a:r>
              <a:rPr sz="2750" b="1" dirty="0">
                <a:solidFill>
                  <a:srgbClr val="2D3780"/>
                </a:solidFill>
                <a:latin typeface="Trebuchet MS"/>
                <a:cs typeface="Trebuchet MS"/>
              </a:rPr>
              <a:t>Étapes</a:t>
            </a:r>
            <a:r>
              <a:rPr sz="2750" b="1" spc="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750" b="1" spc="-175" dirty="0">
                <a:solidFill>
                  <a:srgbClr val="2D3780"/>
                </a:solidFill>
                <a:latin typeface="Trebuchet MS"/>
                <a:cs typeface="Trebuchet MS"/>
              </a:rPr>
              <a:t>: </a:t>
            </a: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Analyse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simultanément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toutes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les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caractéristiques.</a:t>
            </a:r>
            <a:endParaRPr sz="2400">
              <a:latin typeface="Trebuchet MS"/>
              <a:cs typeface="Trebuchet MS"/>
            </a:endParaRPr>
          </a:p>
          <a:p>
            <a:pPr marL="12700" marR="2058670">
              <a:lnSpc>
                <a:spcPct val="140600"/>
              </a:lnSpc>
            </a:pP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Identifie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relations</a:t>
            </a:r>
            <a:r>
              <a:rPr sz="2400" spc="-5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importantes 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entre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elles</a:t>
            </a:r>
            <a:endParaRPr sz="2400">
              <a:latin typeface="Trebuchet MS"/>
              <a:cs typeface="Trebuchet MS"/>
            </a:endParaRPr>
          </a:p>
          <a:p>
            <a:pPr marL="12700" marR="3014345">
              <a:lnSpc>
                <a:spcPct val="140600"/>
              </a:lnSpc>
              <a:spcBef>
                <a:spcPts val="5"/>
              </a:spcBef>
            </a:pP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Capture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dépendances globales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290" y="5111117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290" y="6139817"/>
            <a:ext cx="95250" cy="9524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065657" y="3351425"/>
            <a:ext cx="0" cy="5300980"/>
          </a:xfrm>
          <a:custGeom>
            <a:avLst/>
            <a:gdLst/>
            <a:ahLst/>
            <a:cxnLst/>
            <a:rect l="l" t="t" r="r" b="b"/>
            <a:pathLst>
              <a:path h="5300980">
                <a:moveTo>
                  <a:pt x="0" y="0"/>
                </a:moveTo>
                <a:lnTo>
                  <a:pt x="0" y="5300433"/>
                </a:lnTo>
              </a:path>
            </a:pathLst>
          </a:custGeom>
          <a:ln w="57149">
            <a:solidFill>
              <a:srgbClr val="2D3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4508875" y="0"/>
            <a:ext cx="3779520" cy="3760470"/>
            <a:chOff x="14508875" y="0"/>
            <a:chExt cx="3779520" cy="3760470"/>
          </a:xfrm>
        </p:grpSpPr>
        <p:sp>
          <p:nvSpPr>
            <p:cNvPr id="16" name="object 16"/>
            <p:cNvSpPr/>
            <p:nvPr/>
          </p:nvSpPr>
          <p:spPr>
            <a:xfrm>
              <a:off x="14508875" y="0"/>
              <a:ext cx="3779520" cy="3760470"/>
            </a:xfrm>
            <a:custGeom>
              <a:avLst/>
              <a:gdLst/>
              <a:ahLst/>
              <a:cxnLst/>
              <a:rect l="l" t="t" r="r" b="b"/>
              <a:pathLst>
                <a:path w="3779519" h="3760470">
                  <a:moveTo>
                    <a:pt x="3779124" y="3760209"/>
                  </a:moveTo>
                  <a:lnTo>
                    <a:pt x="3749761" y="3760209"/>
                  </a:lnTo>
                  <a:lnTo>
                    <a:pt x="0" y="0"/>
                  </a:lnTo>
                  <a:lnTo>
                    <a:pt x="990019" y="0"/>
                  </a:lnTo>
                  <a:lnTo>
                    <a:pt x="3779124" y="2788651"/>
                  </a:lnTo>
                  <a:lnTo>
                    <a:pt x="3779124" y="3760209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069628" y="0"/>
              <a:ext cx="2218690" cy="2788920"/>
            </a:xfrm>
            <a:custGeom>
              <a:avLst/>
              <a:gdLst/>
              <a:ahLst/>
              <a:cxnLst/>
              <a:rect l="l" t="t" r="r" b="b"/>
              <a:pathLst>
                <a:path w="2218690" h="2788920">
                  <a:moveTo>
                    <a:pt x="2218371" y="2788651"/>
                  </a:moveTo>
                  <a:lnTo>
                    <a:pt x="0" y="570279"/>
                  </a:lnTo>
                  <a:lnTo>
                    <a:pt x="992411" y="0"/>
                  </a:lnTo>
                  <a:lnTo>
                    <a:pt x="2218371" y="0"/>
                  </a:lnTo>
                  <a:lnTo>
                    <a:pt x="2218371" y="2788651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13</a:t>
            </a:fld>
            <a:endParaRPr spc="-50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25352" y="8724335"/>
            <a:ext cx="1562735" cy="1562735"/>
            <a:chOff x="16725352" y="8724335"/>
            <a:chExt cx="1562735" cy="1562735"/>
          </a:xfrm>
        </p:grpSpPr>
        <p:sp>
          <p:nvSpPr>
            <p:cNvPr id="3" name="object 3"/>
            <p:cNvSpPr/>
            <p:nvPr/>
          </p:nvSpPr>
          <p:spPr>
            <a:xfrm>
              <a:off x="17353300" y="9352558"/>
              <a:ext cx="934719" cy="934719"/>
            </a:xfrm>
            <a:custGeom>
              <a:avLst/>
              <a:gdLst/>
              <a:ahLst/>
              <a:cxnLst/>
              <a:rect l="l" t="t" r="r" b="b"/>
              <a:pathLst>
                <a:path w="934719" h="934720">
                  <a:moveTo>
                    <a:pt x="934699" y="0"/>
                  </a:moveTo>
                  <a:lnTo>
                    <a:pt x="934699" y="934440"/>
                  </a:lnTo>
                  <a:lnTo>
                    <a:pt x="0" y="934440"/>
                  </a:lnTo>
                  <a:lnTo>
                    <a:pt x="934699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725352" y="8724335"/>
              <a:ext cx="1562735" cy="1562735"/>
            </a:xfrm>
            <a:custGeom>
              <a:avLst/>
              <a:gdLst/>
              <a:ahLst/>
              <a:cxnLst/>
              <a:rect l="l" t="t" r="r" b="b"/>
              <a:pathLst>
                <a:path w="1562734" h="1562734">
                  <a:moveTo>
                    <a:pt x="1562647" y="0"/>
                  </a:moveTo>
                  <a:lnTo>
                    <a:pt x="1562647" y="628239"/>
                  </a:lnTo>
                  <a:lnTo>
                    <a:pt x="628249" y="1562664"/>
                  </a:lnTo>
                  <a:lnTo>
                    <a:pt x="0" y="1562664"/>
                  </a:lnTo>
                  <a:lnTo>
                    <a:pt x="1562647" y="0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353300" y="9351987"/>
              <a:ext cx="934719" cy="935355"/>
            </a:xfrm>
            <a:custGeom>
              <a:avLst/>
              <a:gdLst/>
              <a:ahLst/>
              <a:cxnLst/>
              <a:rect l="l" t="t" r="r" b="b"/>
              <a:pathLst>
                <a:path w="934719" h="935354">
                  <a:moveTo>
                    <a:pt x="934699" y="0"/>
                  </a:moveTo>
                  <a:lnTo>
                    <a:pt x="934699" y="161737"/>
                  </a:lnTo>
                  <a:lnTo>
                    <a:pt x="0" y="935012"/>
                  </a:lnTo>
                  <a:lnTo>
                    <a:pt x="934699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665357" y="3342987"/>
            <a:ext cx="14604" cy="4779645"/>
          </a:xfrm>
          <a:custGeom>
            <a:avLst/>
            <a:gdLst/>
            <a:ahLst/>
            <a:cxnLst/>
            <a:rect l="l" t="t" r="r" b="b"/>
            <a:pathLst>
              <a:path w="14604" h="4779645">
                <a:moveTo>
                  <a:pt x="0" y="0"/>
                </a:moveTo>
                <a:lnTo>
                  <a:pt x="14287" y="4779223"/>
                </a:lnTo>
              </a:path>
            </a:pathLst>
          </a:custGeom>
          <a:ln w="57149">
            <a:solidFill>
              <a:srgbClr val="2D3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508875" y="0"/>
            <a:ext cx="3779520" cy="3760470"/>
            <a:chOff x="14508875" y="0"/>
            <a:chExt cx="3779520" cy="3760470"/>
          </a:xfrm>
        </p:grpSpPr>
        <p:sp>
          <p:nvSpPr>
            <p:cNvPr id="8" name="object 8"/>
            <p:cNvSpPr/>
            <p:nvPr/>
          </p:nvSpPr>
          <p:spPr>
            <a:xfrm>
              <a:off x="14508875" y="0"/>
              <a:ext cx="3779520" cy="3760470"/>
            </a:xfrm>
            <a:custGeom>
              <a:avLst/>
              <a:gdLst/>
              <a:ahLst/>
              <a:cxnLst/>
              <a:rect l="l" t="t" r="r" b="b"/>
              <a:pathLst>
                <a:path w="3779519" h="3760470">
                  <a:moveTo>
                    <a:pt x="3779124" y="3760209"/>
                  </a:moveTo>
                  <a:lnTo>
                    <a:pt x="3749761" y="3760209"/>
                  </a:lnTo>
                  <a:lnTo>
                    <a:pt x="0" y="0"/>
                  </a:lnTo>
                  <a:lnTo>
                    <a:pt x="990019" y="0"/>
                  </a:lnTo>
                  <a:lnTo>
                    <a:pt x="3779124" y="2788651"/>
                  </a:lnTo>
                  <a:lnTo>
                    <a:pt x="3779124" y="3760209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069628" y="0"/>
              <a:ext cx="2218690" cy="2788920"/>
            </a:xfrm>
            <a:custGeom>
              <a:avLst/>
              <a:gdLst/>
              <a:ahLst/>
              <a:cxnLst/>
              <a:rect l="l" t="t" r="r" b="b"/>
              <a:pathLst>
                <a:path w="2218690" h="2788920">
                  <a:moveTo>
                    <a:pt x="2218371" y="2788651"/>
                  </a:moveTo>
                  <a:lnTo>
                    <a:pt x="0" y="570279"/>
                  </a:lnTo>
                  <a:lnTo>
                    <a:pt x="992411" y="0"/>
                  </a:lnTo>
                  <a:lnTo>
                    <a:pt x="2218371" y="0"/>
                  </a:lnTo>
                  <a:lnTo>
                    <a:pt x="2218371" y="2788651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6768" y="4126417"/>
            <a:ext cx="10210799" cy="417194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432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875"/>
              </a:spcBef>
            </a:pPr>
            <a:r>
              <a:rPr spc="-825" dirty="0">
                <a:solidFill>
                  <a:srgbClr val="2D3780"/>
                </a:solidFill>
              </a:rPr>
              <a:t>Méthodologie</a:t>
            </a:r>
            <a:r>
              <a:rPr spc="145" dirty="0">
                <a:solidFill>
                  <a:srgbClr val="2D3780"/>
                </a:solidFill>
              </a:rPr>
              <a:t> </a:t>
            </a:r>
            <a:r>
              <a:rPr spc="-45" dirty="0">
                <a:solidFill>
                  <a:srgbClr val="2D3780"/>
                </a:solidFill>
              </a:rPr>
              <a:t>CCP-</a:t>
            </a:r>
            <a:r>
              <a:rPr spc="-550" dirty="0">
                <a:solidFill>
                  <a:srgbClr val="2D3780"/>
                </a:solidFill>
              </a:rPr>
              <a:t>Net</a:t>
            </a:r>
          </a:p>
          <a:p>
            <a:pPr marL="148590">
              <a:lnSpc>
                <a:spcPct val="100000"/>
              </a:lnSpc>
              <a:spcBef>
                <a:spcPts val="405"/>
              </a:spcBef>
            </a:pPr>
            <a:r>
              <a:rPr sz="3450" i="0" spc="50" dirty="0">
                <a:solidFill>
                  <a:srgbClr val="2D3780"/>
                </a:solidFill>
                <a:latin typeface="Trebuchet MS"/>
                <a:cs typeface="Trebuchet MS"/>
              </a:rPr>
              <a:t>BiLSTM</a:t>
            </a:r>
            <a:endParaRPr sz="34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101" y="4269292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95296" y="3946076"/>
            <a:ext cx="4340225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3525">
              <a:lnSpc>
                <a:spcPct val="140600"/>
              </a:lnSpc>
              <a:spcBef>
                <a:spcPts val="100"/>
              </a:spcBef>
            </a:pPr>
            <a:r>
              <a:rPr sz="2400" spc="-40" dirty="0">
                <a:solidFill>
                  <a:srgbClr val="2D3780"/>
                </a:solidFill>
                <a:latin typeface="Trebuchet MS"/>
                <a:cs typeface="Trebuchet MS"/>
              </a:rPr>
              <a:t>Analyse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séquences</a:t>
            </a:r>
            <a:r>
              <a:rPr sz="2400" spc="-11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dans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2D3780"/>
                </a:solidFill>
                <a:latin typeface="Trebuchet MS"/>
                <a:cs typeface="Trebuchet MS"/>
              </a:rPr>
              <a:t>les </a:t>
            </a:r>
            <a:r>
              <a:rPr sz="2400" spc="-35" dirty="0">
                <a:solidFill>
                  <a:srgbClr val="2D3780"/>
                </a:solidFill>
                <a:latin typeface="Trebuchet MS"/>
                <a:cs typeface="Trebuchet MS"/>
              </a:rPr>
              <a:t>deux</a:t>
            </a:r>
            <a:r>
              <a:rPr sz="2400" spc="-1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directions.</a:t>
            </a:r>
            <a:endParaRPr sz="2400">
              <a:latin typeface="Trebuchet MS"/>
              <a:cs typeface="Trebuchet MS"/>
            </a:endParaRPr>
          </a:p>
          <a:p>
            <a:pPr marL="12700" marR="926465">
              <a:lnSpc>
                <a:spcPct val="140600"/>
              </a:lnSpc>
            </a:pP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Capture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dépendances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temporelles.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40600"/>
              </a:lnSpc>
            </a:pPr>
            <a:r>
              <a:rPr sz="2400" spc="-70" dirty="0">
                <a:solidFill>
                  <a:srgbClr val="2D3780"/>
                </a:solidFill>
                <a:latin typeface="Trebuchet MS"/>
                <a:cs typeface="Trebuchet MS"/>
              </a:rPr>
              <a:t>Exploite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informations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passées </a:t>
            </a:r>
            <a:r>
              <a:rPr sz="2400" spc="-75" dirty="0">
                <a:solidFill>
                  <a:srgbClr val="2D3780"/>
                </a:solidFill>
                <a:latin typeface="Trebuchet MS"/>
                <a:cs typeface="Trebuchet MS"/>
              </a:rPr>
              <a:t>et</a:t>
            </a:r>
            <a:r>
              <a:rPr sz="2400" spc="-10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futures.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101" y="5297991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101" y="6326691"/>
            <a:ext cx="95250" cy="95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394068" y="3305828"/>
            <a:ext cx="1349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2D3780"/>
                </a:solidFill>
                <a:latin typeface="Trebuchet MS"/>
                <a:cs typeface="Trebuchet MS"/>
              </a:rPr>
              <a:t>Étapes</a:t>
            </a:r>
            <a:r>
              <a:rPr sz="2800" b="1" spc="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800" b="1" spc="-65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14</a:t>
            </a:fld>
            <a:endParaRPr spc="-50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989542" y="8988529"/>
            <a:ext cx="1298575" cy="1298575"/>
            <a:chOff x="16989542" y="8988529"/>
            <a:chExt cx="1298575" cy="1298575"/>
          </a:xfrm>
        </p:grpSpPr>
        <p:sp>
          <p:nvSpPr>
            <p:cNvPr id="3" name="object 3"/>
            <p:cNvSpPr/>
            <p:nvPr/>
          </p:nvSpPr>
          <p:spPr>
            <a:xfrm>
              <a:off x="17617490" y="9616669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59" h="670559">
                  <a:moveTo>
                    <a:pt x="670508" y="0"/>
                  </a:moveTo>
                  <a:lnTo>
                    <a:pt x="670508" y="670330"/>
                  </a:lnTo>
                  <a:lnTo>
                    <a:pt x="0" y="670330"/>
                  </a:lnTo>
                  <a:lnTo>
                    <a:pt x="670508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989542" y="8988529"/>
              <a:ext cx="1298575" cy="1298575"/>
            </a:xfrm>
            <a:custGeom>
              <a:avLst/>
              <a:gdLst/>
              <a:ahLst/>
              <a:cxnLst/>
              <a:rect l="l" t="t" r="r" b="b"/>
              <a:pathLst>
                <a:path w="1298575" h="1298575">
                  <a:moveTo>
                    <a:pt x="1298456" y="0"/>
                  </a:moveTo>
                  <a:lnTo>
                    <a:pt x="1298456" y="628244"/>
                  </a:lnTo>
                  <a:lnTo>
                    <a:pt x="628249" y="1298470"/>
                  </a:lnTo>
                  <a:lnTo>
                    <a:pt x="0" y="1298470"/>
                  </a:lnTo>
                  <a:lnTo>
                    <a:pt x="1298456" y="0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17490" y="9616258"/>
              <a:ext cx="670560" cy="671195"/>
            </a:xfrm>
            <a:custGeom>
              <a:avLst/>
              <a:gdLst/>
              <a:ahLst/>
              <a:cxnLst/>
              <a:rect l="l" t="t" r="r" b="b"/>
              <a:pathLst>
                <a:path w="670559" h="671195">
                  <a:moveTo>
                    <a:pt x="670508" y="0"/>
                  </a:moveTo>
                  <a:lnTo>
                    <a:pt x="670508" y="116024"/>
                  </a:lnTo>
                  <a:lnTo>
                    <a:pt x="0" y="670741"/>
                  </a:lnTo>
                  <a:lnTo>
                    <a:pt x="670508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6116005" y="3551645"/>
            <a:ext cx="0" cy="4587875"/>
          </a:xfrm>
          <a:custGeom>
            <a:avLst/>
            <a:gdLst/>
            <a:ahLst/>
            <a:cxnLst/>
            <a:rect l="l" t="t" r="r" b="b"/>
            <a:pathLst>
              <a:path h="4587875">
                <a:moveTo>
                  <a:pt x="0" y="0"/>
                </a:moveTo>
                <a:lnTo>
                  <a:pt x="0" y="4587335"/>
                </a:lnTo>
              </a:path>
            </a:pathLst>
          </a:custGeom>
          <a:ln w="57149">
            <a:solidFill>
              <a:srgbClr val="2D3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508875" y="0"/>
            <a:ext cx="3779520" cy="3760470"/>
            <a:chOff x="14508875" y="0"/>
            <a:chExt cx="3779520" cy="3760470"/>
          </a:xfrm>
        </p:grpSpPr>
        <p:sp>
          <p:nvSpPr>
            <p:cNvPr id="8" name="object 8"/>
            <p:cNvSpPr/>
            <p:nvPr/>
          </p:nvSpPr>
          <p:spPr>
            <a:xfrm>
              <a:off x="14508875" y="0"/>
              <a:ext cx="3779520" cy="3760470"/>
            </a:xfrm>
            <a:custGeom>
              <a:avLst/>
              <a:gdLst/>
              <a:ahLst/>
              <a:cxnLst/>
              <a:rect l="l" t="t" r="r" b="b"/>
              <a:pathLst>
                <a:path w="3779519" h="3760470">
                  <a:moveTo>
                    <a:pt x="3779124" y="3760209"/>
                  </a:moveTo>
                  <a:lnTo>
                    <a:pt x="3749761" y="3760209"/>
                  </a:lnTo>
                  <a:lnTo>
                    <a:pt x="0" y="0"/>
                  </a:lnTo>
                  <a:lnTo>
                    <a:pt x="990019" y="0"/>
                  </a:lnTo>
                  <a:lnTo>
                    <a:pt x="3779124" y="2788651"/>
                  </a:lnTo>
                  <a:lnTo>
                    <a:pt x="3779124" y="3760209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069628" y="0"/>
              <a:ext cx="2218690" cy="2788920"/>
            </a:xfrm>
            <a:custGeom>
              <a:avLst/>
              <a:gdLst/>
              <a:ahLst/>
              <a:cxnLst/>
              <a:rect l="l" t="t" r="r" b="b"/>
              <a:pathLst>
                <a:path w="2218690" h="2788920">
                  <a:moveTo>
                    <a:pt x="2218371" y="2788651"/>
                  </a:moveTo>
                  <a:lnTo>
                    <a:pt x="0" y="570279"/>
                  </a:lnTo>
                  <a:lnTo>
                    <a:pt x="992411" y="0"/>
                  </a:lnTo>
                  <a:lnTo>
                    <a:pt x="2218371" y="0"/>
                  </a:lnTo>
                  <a:lnTo>
                    <a:pt x="2218371" y="2788651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2969" y="4480443"/>
            <a:ext cx="11191874" cy="3495674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48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905"/>
              </a:spcBef>
            </a:pPr>
            <a:r>
              <a:rPr spc="-825" dirty="0">
                <a:solidFill>
                  <a:srgbClr val="2D3780"/>
                </a:solidFill>
              </a:rPr>
              <a:t>Méthodologie</a:t>
            </a:r>
            <a:r>
              <a:rPr spc="145" dirty="0">
                <a:solidFill>
                  <a:srgbClr val="2D3780"/>
                </a:solidFill>
              </a:rPr>
              <a:t> </a:t>
            </a:r>
            <a:r>
              <a:rPr spc="-45" dirty="0">
                <a:solidFill>
                  <a:srgbClr val="2D3780"/>
                </a:solidFill>
              </a:rPr>
              <a:t>CCP-</a:t>
            </a:r>
            <a:r>
              <a:rPr spc="-550" dirty="0">
                <a:solidFill>
                  <a:srgbClr val="2D3780"/>
                </a:solidFill>
              </a:rPr>
              <a:t>Net</a:t>
            </a:r>
          </a:p>
          <a:p>
            <a:pPr marL="148590">
              <a:lnSpc>
                <a:spcPct val="100000"/>
              </a:lnSpc>
              <a:spcBef>
                <a:spcPts val="380"/>
              </a:spcBef>
            </a:pPr>
            <a:r>
              <a:rPr sz="3400" i="0" spc="70" dirty="0">
                <a:solidFill>
                  <a:srgbClr val="2D3780"/>
                </a:solidFill>
                <a:latin typeface="Trebuchet MS"/>
                <a:cs typeface="Trebuchet MS"/>
              </a:rPr>
              <a:t>CNN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4037" y="4623318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52233" y="3514520"/>
            <a:ext cx="6937375" cy="3383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2D3780"/>
                </a:solidFill>
                <a:latin typeface="Trebuchet MS"/>
                <a:cs typeface="Trebuchet MS"/>
              </a:rPr>
              <a:t>Étapes</a:t>
            </a:r>
            <a:r>
              <a:rPr sz="2800" b="1" spc="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800" b="1" spc="-50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L="12700" marR="3229610">
              <a:lnSpc>
                <a:spcPct val="140600"/>
              </a:lnSpc>
              <a:spcBef>
                <a:spcPts val="2830"/>
              </a:spcBef>
            </a:pP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Extrait</a:t>
            </a:r>
            <a:r>
              <a:rPr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automatiquement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2D3780"/>
                </a:solidFill>
                <a:latin typeface="Trebuchet MS"/>
                <a:cs typeface="Trebuchet MS"/>
              </a:rPr>
              <a:t>les </a:t>
            </a:r>
            <a:r>
              <a:rPr sz="2400" spc="-50" dirty="0">
                <a:solidFill>
                  <a:srgbClr val="2D3780"/>
                </a:solidFill>
                <a:latin typeface="Trebuchet MS"/>
                <a:cs typeface="Trebuchet MS"/>
              </a:rPr>
              <a:t>caractéristiques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2D3780"/>
                </a:solidFill>
                <a:latin typeface="Trebuchet MS"/>
                <a:cs typeface="Trebuchet MS"/>
              </a:rPr>
              <a:t>locales.</a:t>
            </a:r>
            <a:endParaRPr sz="2400">
              <a:latin typeface="Trebuchet MS"/>
              <a:cs typeface="Trebuchet MS"/>
            </a:endParaRPr>
          </a:p>
          <a:p>
            <a:pPr marL="12700" marR="2988310">
              <a:lnSpc>
                <a:spcPct val="140600"/>
              </a:lnSpc>
            </a:pP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Détecte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les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2D3780"/>
                </a:solidFill>
                <a:latin typeface="Trebuchet MS"/>
                <a:cs typeface="Trebuchet MS"/>
              </a:rPr>
              <a:t>motifs </a:t>
            </a:r>
            <a:r>
              <a:rPr sz="2400" spc="-95" dirty="0">
                <a:solidFill>
                  <a:srgbClr val="2D3780"/>
                </a:solidFill>
                <a:latin typeface="Trebuchet MS"/>
                <a:cs typeface="Trebuchet MS"/>
              </a:rPr>
              <a:t>importants. </a:t>
            </a:r>
            <a:r>
              <a:rPr sz="2400" spc="-80" dirty="0">
                <a:solidFill>
                  <a:srgbClr val="2D3780"/>
                </a:solidFill>
                <a:latin typeface="Trebuchet MS"/>
                <a:cs typeface="Trebuchet MS"/>
              </a:rPr>
              <a:t>Réduit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2D3780"/>
                </a:solidFill>
                <a:latin typeface="Trebuchet MS"/>
                <a:cs typeface="Trebuchet MS"/>
              </a:rPr>
              <a:t>la</a:t>
            </a:r>
            <a:r>
              <a:rPr sz="2400" spc="-114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2D3780"/>
                </a:solidFill>
                <a:latin typeface="Trebuchet MS"/>
                <a:cs typeface="Trebuchet MS"/>
              </a:rPr>
              <a:t>dimension</a:t>
            </a:r>
            <a:r>
              <a:rPr sz="2400" spc="-10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2D3780"/>
                </a:solidFill>
                <a:latin typeface="Trebuchet MS"/>
                <a:cs typeface="Trebuchet MS"/>
              </a:rPr>
              <a:t>des </a:t>
            </a:r>
            <a:r>
              <a:rPr sz="2400" spc="-20" dirty="0">
                <a:solidFill>
                  <a:srgbClr val="2D3780"/>
                </a:solidFill>
                <a:latin typeface="Trebuchet MS"/>
                <a:cs typeface="Trebuchet MS"/>
              </a:rPr>
              <a:t>représentations.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4037" y="5652017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4037" y="6166367"/>
            <a:ext cx="95250" cy="9524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15</a:t>
            </a:fld>
            <a:endParaRPr spc="-50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74194" y="2966212"/>
            <a:ext cx="9494520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81910" marR="5080" indent="-2569845">
              <a:lnSpc>
                <a:spcPct val="116700"/>
              </a:lnSpc>
              <a:spcBef>
                <a:spcPts val="95"/>
              </a:spcBef>
            </a:pPr>
            <a:r>
              <a:rPr sz="9000" spc="-969" dirty="0">
                <a:solidFill>
                  <a:srgbClr val="FFFFFF"/>
                </a:solidFill>
                <a:latin typeface="Verdana"/>
                <a:cs typeface="Verdana"/>
              </a:rPr>
              <a:t>Prétraitement</a:t>
            </a:r>
            <a:r>
              <a:rPr sz="9000" spc="-9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0" spc="-1310" dirty="0">
                <a:solidFill>
                  <a:srgbClr val="FFFFFF"/>
                </a:solidFill>
                <a:latin typeface="Verdana"/>
                <a:cs typeface="Verdana"/>
              </a:rPr>
              <a:t>des </a:t>
            </a:r>
            <a:r>
              <a:rPr sz="9000" spc="-1250" dirty="0">
                <a:solidFill>
                  <a:srgbClr val="FFFFFF"/>
                </a:solidFill>
                <a:latin typeface="Verdana"/>
                <a:cs typeface="Verdana"/>
              </a:rPr>
              <a:t>données</a:t>
            </a:r>
            <a:endParaRPr sz="9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09" dirty="0"/>
              <a:t>16</a:t>
            </a:fld>
            <a:endParaRPr spc="-50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64110" y="0"/>
            <a:ext cx="2424430" cy="2430780"/>
            <a:chOff x="15864110" y="0"/>
            <a:chExt cx="2424430" cy="2430780"/>
          </a:xfrm>
        </p:grpSpPr>
        <p:sp>
          <p:nvSpPr>
            <p:cNvPr id="3" name="object 3"/>
            <p:cNvSpPr/>
            <p:nvPr/>
          </p:nvSpPr>
          <p:spPr>
            <a:xfrm>
              <a:off x="15864110" y="0"/>
              <a:ext cx="2424430" cy="2430780"/>
            </a:xfrm>
            <a:custGeom>
              <a:avLst/>
              <a:gdLst/>
              <a:ahLst/>
              <a:cxnLst/>
              <a:rect l="l" t="t" r="r" b="b"/>
              <a:pathLst>
                <a:path w="2424430" h="2430780">
                  <a:moveTo>
                    <a:pt x="2423887" y="2430641"/>
                  </a:moveTo>
                  <a:lnTo>
                    <a:pt x="0" y="0"/>
                  </a:lnTo>
                  <a:lnTo>
                    <a:pt x="766572" y="0"/>
                  </a:lnTo>
                  <a:lnTo>
                    <a:pt x="2423887" y="1657314"/>
                  </a:lnTo>
                  <a:lnTo>
                    <a:pt x="2423887" y="2430641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630683" y="0"/>
              <a:ext cx="1657350" cy="1657350"/>
            </a:xfrm>
            <a:custGeom>
              <a:avLst/>
              <a:gdLst/>
              <a:ahLst/>
              <a:cxnLst/>
              <a:rect l="l" t="t" r="r" b="b"/>
              <a:pathLst>
                <a:path w="1657350" h="1657350">
                  <a:moveTo>
                    <a:pt x="1657314" y="1657314"/>
                  </a:moveTo>
                  <a:lnTo>
                    <a:pt x="0" y="0"/>
                  </a:lnTo>
                  <a:lnTo>
                    <a:pt x="1657314" y="0"/>
                  </a:lnTo>
                  <a:lnTo>
                    <a:pt x="1657314" y="1657314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0909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spc="-760" dirty="0">
                <a:solidFill>
                  <a:srgbClr val="2D3780"/>
                </a:solidFill>
              </a:rPr>
              <a:t>Présentation</a:t>
            </a:r>
            <a:r>
              <a:rPr spc="105" dirty="0">
                <a:solidFill>
                  <a:srgbClr val="2D3780"/>
                </a:solidFill>
              </a:rPr>
              <a:t> </a:t>
            </a:r>
            <a:r>
              <a:rPr spc="-944" dirty="0">
                <a:solidFill>
                  <a:srgbClr val="2D3780"/>
                </a:solidFill>
              </a:rPr>
              <a:t>des</a:t>
            </a:r>
            <a:r>
              <a:rPr spc="105" dirty="0">
                <a:solidFill>
                  <a:srgbClr val="2D3780"/>
                </a:solidFill>
              </a:rPr>
              <a:t> </a:t>
            </a:r>
            <a:r>
              <a:rPr spc="-770" dirty="0">
                <a:solidFill>
                  <a:srgbClr val="2D3780"/>
                </a:solidFill>
              </a:rPr>
              <a:t>Datasets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8700" y="7163263"/>
            <a:ext cx="7701280" cy="2035044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Sélection</a:t>
            </a:r>
            <a:r>
              <a:rPr sz="2400" b="1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sz="2400" b="1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2D3780"/>
                </a:solidFill>
                <a:latin typeface="Trebuchet MS"/>
                <a:cs typeface="Trebuchet MS"/>
              </a:rPr>
              <a:t>features</a:t>
            </a: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40600"/>
              </a:lnSpc>
            </a:pPr>
            <a:r>
              <a:rPr lang="fr-FR" sz="2400" spc="-25" dirty="0">
                <a:solidFill>
                  <a:srgbClr val="2D3780"/>
                </a:solidFill>
                <a:latin typeface="Trebuchet MS"/>
                <a:cs typeface="Trebuchet MS"/>
              </a:rPr>
              <a:t>Suppression</a:t>
            </a:r>
            <a:r>
              <a:rPr lang="fr-FR"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dirty="0">
                <a:solidFill>
                  <a:srgbClr val="2D3780"/>
                </a:solidFill>
                <a:latin typeface="Trebuchet MS"/>
                <a:cs typeface="Trebuchet MS"/>
              </a:rPr>
              <a:t>des</a:t>
            </a:r>
            <a:r>
              <a:rPr lang="fr-FR"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30" dirty="0">
                <a:solidFill>
                  <a:srgbClr val="2D3780"/>
                </a:solidFill>
                <a:latin typeface="Trebuchet MS"/>
                <a:cs typeface="Trebuchet MS"/>
              </a:rPr>
              <a:t>colonnes</a:t>
            </a:r>
            <a:r>
              <a:rPr lang="fr-FR"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100" dirty="0">
                <a:solidFill>
                  <a:srgbClr val="2D3780"/>
                </a:solidFill>
                <a:latin typeface="Trebuchet MS"/>
                <a:cs typeface="Trebuchet MS"/>
              </a:rPr>
              <a:t>avec une</a:t>
            </a:r>
            <a:r>
              <a:rPr lang="fr-FR"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75" dirty="0">
                <a:solidFill>
                  <a:srgbClr val="2D3780"/>
                </a:solidFill>
                <a:latin typeface="Trebuchet MS"/>
                <a:cs typeface="Trebuchet MS"/>
              </a:rPr>
              <a:t>corrélation</a:t>
            </a:r>
            <a:r>
              <a:rPr lang="fr-FR"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dirty="0">
                <a:solidFill>
                  <a:srgbClr val="2D3780"/>
                </a:solidFill>
                <a:latin typeface="Trebuchet MS"/>
                <a:cs typeface="Trebuchet MS"/>
              </a:rPr>
              <a:t>&lt;</a:t>
            </a:r>
            <a:r>
              <a:rPr lang="fr-FR"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90" dirty="0">
                <a:solidFill>
                  <a:srgbClr val="2D3780"/>
                </a:solidFill>
                <a:latin typeface="Trebuchet MS"/>
                <a:cs typeface="Trebuchet MS"/>
              </a:rPr>
              <a:t>seuil</a:t>
            </a:r>
            <a:r>
              <a:rPr lang="fr-FR"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175" dirty="0">
                <a:solidFill>
                  <a:srgbClr val="2D3780"/>
                </a:solidFill>
                <a:latin typeface="Trebuchet MS"/>
                <a:cs typeface="Trebuchet MS"/>
              </a:rPr>
              <a:t>(0.01</a:t>
            </a:r>
            <a:r>
              <a:rPr lang="fr-FR" sz="2400" spc="-7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dirty="0">
                <a:solidFill>
                  <a:srgbClr val="2D3780"/>
                </a:solidFill>
                <a:latin typeface="Trebuchet MS"/>
                <a:cs typeface="Trebuchet MS"/>
              </a:rPr>
              <a:t>–</a:t>
            </a:r>
            <a:r>
              <a:rPr lang="fr-FR" sz="2400" spc="-6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10" dirty="0">
                <a:solidFill>
                  <a:srgbClr val="2D3780"/>
                </a:solidFill>
                <a:latin typeface="Trebuchet MS"/>
                <a:cs typeface="Trebuchet MS"/>
              </a:rPr>
              <a:t>0.05 selon le </a:t>
            </a:r>
            <a:r>
              <a:rPr lang="fr-FR" sz="2400" spc="-10" dirty="0" err="1">
                <a:solidFill>
                  <a:srgbClr val="2D3780"/>
                </a:solidFill>
                <a:latin typeface="Trebuchet MS"/>
                <a:cs typeface="Trebuchet MS"/>
              </a:rPr>
              <a:t>dataset</a:t>
            </a:r>
            <a:r>
              <a:rPr lang="fr-FR" sz="2400" spc="-10" dirty="0">
                <a:solidFill>
                  <a:srgbClr val="2D3780"/>
                </a:solidFill>
                <a:latin typeface="Trebuchet MS"/>
                <a:cs typeface="Trebuchet MS"/>
              </a:rPr>
              <a:t>) </a:t>
            </a:r>
            <a:r>
              <a:rPr lang="fr-FR" sz="2400" dirty="0">
                <a:solidFill>
                  <a:srgbClr val="2D3780"/>
                </a:solidFill>
                <a:latin typeface="Trebuchet MS"/>
                <a:cs typeface="Trebuchet MS"/>
              </a:rPr>
              <a:t>avec</a:t>
            </a:r>
            <a:r>
              <a:rPr lang="fr-FR" sz="2400" spc="-12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dirty="0">
                <a:solidFill>
                  <a:srgbClr val="2D3780"/>
                </a:solidFill>
                <a:latin typeface="Trebuchet MS"/>
                <a:cs typeface="Trebuchet MS"/>
              </a:rPr>
              <a:t>la</a:t>
            </a:r>
            <a:r>
              <a:rPr lang="fr-FR" sz="2400" spc="-85" dirty="0">
                <a:solidFill>
                  <a:srgbClr val="2D3780"/>
                </a:solidFill>
                <a:latin typeface="Trebuchet MS"/>
                <a:cs typeface="Trebuchet MS"/>
              </a:rPr>
              <a:t> variable </a:t>
            </a:r>
            <a:r>
              <a:rPr lang="fr-FR" sz="2400" spc="-40" dirty="0">
                <a:solidFill>
                  <a:srgbClr val="2D3780"/>
                </a:solidFill>
                <a:latin typeface="Trebuchet MS"/>
                <a:cs typeface="Trebuchet MS"/>
              </a:rPr>
              <a:t>cible</a:t>
            </a:r>
            <a:r>
              <a:rPr lang="fr-FR"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140" dirty="0">
                <a:solidFill>
                  <a:srgbClr val="2D3780"/>
                </a:solidFill>
                <a:latin typeface="Trebuchet MS"/>
                <a:cs typeface="Trebuchet MS"/>
              </a:rPr>
              <a:t>,</a:t>
            </a:r>
            <a:r>
              <a:rPr lang="fr-FR" sz="2400" spc="-7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35" dirty="0">
                <a:solidFill>
                  <a:srgbClr val="2D3780"/>
                </a:solidFill>
                <a:latin typeface="Trebuchet MS"/>
                <a:cs typeface="Trebuchet MS"/>
              </a:rPr>
              <a:t>afin</a:t>
            </a:r>
            <a:r>
              <a:rPr lang="fr-FR"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dirty="0">
                <a:solidFill>
                  <a:srgbClr val="2D3780"/>
                </a:solidFill>
                <a:latin typeface="Trebuchet MS"/>
                <a:cs typeface="Trebuchet MS"/>
              </a:rPr>
              <a:t>de</a:t>
            </a:r>
            <a:r>
              <a:rPr lang="fr-FR" sz="2400" spc="-90" dirty="0">
                <a:solidFill>
                  <a:srgbClr val="2D3780"/>
                </a:solidFill>
                <a:latin typeface="Trebuchet MS"/>
                <a:cs typeface="Trebuchet MS"/>
              </a:rPr>
              <a:t> réduire </a:t>
            </a:r>
            <a:r>
              <a:rPr lang="fr-FR" sz="2400" spc="-95" dirty="0">
                <a:solidFill>
                  <a:srgbClr val="2D3780"/>
                </a:solidFill>
                <a:latin typeface="Trebuchet MS"/>
                <a:cs typeface="Trebuchet MS"/>
              </a:rPr>
              <a:t>le</a:t>
            </a:r>
            <a:r>
              <a:rPr lang="fr-FR" sz="2400" spc="-8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120" dirty="0">
                <a:solidFill>
                  <a:srgbClr val="2D3780"/>
                </a:solidFill>
                <a:latin typeface="Trebuchet MS"/>
                <a:cs typeface="Trebuchet MS"/>
              </a:rPr>
              <a:t>bruit</a:t>
            </a:r>
            <a:r>
              <a:rPr lang="fr-FR" sz="2400" spc="-75" dirty="0">
                <a:solidFill>
                  <a:srgbClr val="2D3780"/>
                </a:solidFill>
                <a:latin typeface="Trebuchet MS"/>
                <a:cs typeface="Trebuchet MS"/>
              </a:rPr>
              <a:t> et</a:t>
            </a:r>
            <a:r>
              <a:rPr lang="fr-FR" sz="2400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fr-FR" sz="2400" spc="-35" dirty="0">
                <a:solidFill>
                  <a:srgbClr val="2D3780"/>
                </a:solidFill>
                <a:latin typeface="Trebuchet MS"/>
                <a:cs typeface="Trebuchet MS"/>
              </a:rPr>
              <a:t>le </a:t>
            </a:r>
            <a:r>
              <a:rPr lang="fr-FR" sz="2400" spc="-10" dirty="0">
                <a:solidFill>
                  <a:srgbClr val="2D3780"/>
                </a:solidFill>
                <a:latin typeface="Trebuchet MS"/>
                <a:cs typeface="Trebuchet MS"/>
              </a:rPr>
              <a:t>surapprentissage.</a:t>
            </a:r>
            <a:endParaRPr lang="fr-FR" sz="2400" dirty="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28700" y="2875040"/>
          <a:ext cx="8257538" cy="382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9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61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Dataset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Échantillons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Features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66484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Taux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Churn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Secteur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Telecom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r>
                        <a:rPr sz="2000" spc="-114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5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043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38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615DDA"/>
                          </a:solidFill>
                          <a:latin typeface="Trebuchet MS"/>
                          <a:cs typeface="Trebuchet MS"/>
                        </a:rPr>
                        <a:t>26.58%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Télécom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Bank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r>
                        <a:rPr sz="2000" spc="-4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4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000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20.37%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Banque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Insurance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33</a:t>
                      </a:r>
                      <a:r>
                        <a:rPr sz="2000" spc="-6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908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9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17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615DDA"/>
                          </a:solidFill>
                          <a:latin typeface="Trebuchet MS"/>
                          <a:cs typeface="Trebuchet MS"/>
                        </a:rPr>
                        <a:t>11.70%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Assurance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News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1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r>
                        <a:rPr sz="2000" spc="-4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855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25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19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19.15%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Médias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99" y="2086139"/>
            <a:ext cx="9143999" cy="76333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246600" y="9223437"/>
            <a:ext cx="223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10" dirty="0">
                <a:solidFill>
                  <a:srgbClr val="2D3780"/>
                </a:solidFill>
                <a:latin typeface="Trebuchet MS"/>
                <a:cs typeface="Trebuchet MS"/>
              </a:rPr>
              <a:t>17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46600" y="9223437"/>
            <a:ext cx="232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10" dirty="0">
                <a:solidFill>
                  <a:srgbClr val="2D3780"/>
                </a:solidFill>
                <a:latin typeface="Trebuchet MS"/>
                <a:cs typeface="Trebuchet MS"/>
              </a:rPr>
              <a:t>18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8673" y="1877477"/>
            <a:ext cx="2951480" cy="755015"/>
          </a:xfrm>
          <a:custGeom>
            <a:avLst/>
            <a:gdLst/>
            <a:ahLst/>
            <a:cxnLst/>
            <a:rect l="l" t="t" r="r" b="b"/>
            <a:pathLst>
              <a:path w="2951479" h="755014">
                <a:moveTo>
                  <a:pt x="2841402" y="754951"/>
                </a:moveTo>
                <a:lnTo>
                  <a:pt x="109823" y="754951"/>
                </a:lnTo>
                <a:lnTo>
                  <a:pt x="67066" y="746323"/>
                </a:lnTo>
                <a:lnTo>
                  <a:pt x="32158" y="722792"/>
                </a:lnTo>
                <a:lnTo>
                  <a:pt x="8627" y="687885"/>
                </a:lnTo>
                <a:lnTo>
                  <a:pt x="0" y="645128"/>
                </a:lnTo>
                <a:lnTo>
                  <a:pt x="0" y="109823"/>
                </a:lnTo>
                <a:lnTo>
                  <a:pt x="8627" y="67066"/>
                </a:lnTo>
                <a:lnTo>
                  <a:pt x="32158" y="32158"/>
                </a:lnTo>
                <a:lnTo>
                  <a:pt x="67066" y="8627"/>
                </a:lnTo>
                <a:lnTo>
                  <a:pt x="109823" y="0"/>
                </a:lnTo>
                <a:lnTo>
                  <a:pt x="2841402" y="0"/>
                </a:lnTo>
                <a:lnTo>
                  <a:pt x="2884159" y="8627"/>
                </a:lnTo>
                <a:lnTo>
                  <a:pt x="2919067" y="32158"/>
                </a:lnTo>
                <a:lnTo>
                  <a:pt x="2942598" y="67066"/>
                </a:lnTo>
                <a:lnTo>
                  <a:pt x="2951226" y="109823"/>
                </a:lnTo>
                <a:lnTo>
                  <a:pt x="2951226" y="645128"/>
                </a:lnTo>
                <a:lnTo>
                  <a:pt x="2942598" y="687885"/>
                </a:lnTo>
                <a:lnTo>
                  <a:pt x="2919067" y="722792"/>
                </a:lnTo>
                <a:lnTo>
                  <a:pt x="2884159" y="746323"/>
                </a:lnTo>
                <a:lnTo>
                  <a:pt x="2841402" y="754951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50848" y="2083756"/>
            <a:ext cx="116713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0" dirty="0">
                <a:solidFill>
                  <a:srgbClr val="FFFFFF"/>
                </a:solidFill>
                <a:latin typeface="Trebuchet MS"/>
                <a:cs typeface="Trebuchet MS"/>
              </a:rPr>
              <a:t>Nettoyage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97218" y="2195851"/>
            <a:ext cx="347980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spc="1330" dirty="0">
                <a:solidFill>
                  <a:srgbClr val="B95924"/>
                </a:solidFill>
                <a:latin typeface="Arial"/>
                <a:cs typeface="Arial"/>
              </a:rPr>
              <a:t>→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11908" y="1877477"/>
            <a:ext cx="2951480" cy="755015"/>
          </a:xfrm>
          <a:custGeom>
            <a:avLst/>
            <a:gdLst/>
            <a:ahLst/>
            <a:cxnLst/>
            <a:rect l="l" t="t" r="r" b="b"/>
            <a:pathLst>
              <a:path w="2951479" h="755014">
                <a:moveTo>
                  <a:pt x="2841402" y="754951"/>
                </a:moveTo>
                <a:lnTo>
                  <a:pt x="109823" y="754951"/>
                </a:lnTo>
                <a:lnTo>
                  <a:pt x="67066" y="746323"/>
                </a:lnTo>
                <a:lnTo>
                  <a:pt x="32158" y="722792"/>
                </a:lnTo>
                <a:lnTo>
                  <a:pt x="8627" y="687885"/>
                </a:lnTo>
                <a:lnTo>
                  <a:pt x="0" y="645128"/>
                </a:lnTo>
                <a:lnTo>
                  <a:pt x="0" y="109823"/>
                </a:lnTo>
                <a:lnTo>
                  <a:pt x="8627" y="67066"/>
                </a:lnTo>
                <a:lnTo>
                  <a:pt x="32158" y="32158"/>
                </a:lnTo>
                <a:lnTo>
                  <a:pt x="67066" y="8627"/>
                </a:lnTo>
                <a:lnTo>
                  <a:pt x="109823" y="0"/>
                </a:lnTo>
                <a:lnTo>
                  <a:pt x="2841402" y="0"/>
                </a:lnTo>
                <a:lnTo>
                  <a:pt x="2884159" y="8627"/>
                </a:lnTo>
                <a:lnTo>
                  <a:pt x="2919067" y="32158"/>
                </a:lnTo>
                <a:lnTo>
                  <a:pt x="2942598" y="67066"/>
                </a:lnTo>
                <a:lnTo>
                  <a:pt x="2951226" y="109823"/>
                </a:lnTo>
                <a:lnTo>
                  <a:pt x="2951226" y="645128"/>
                </a:lnTo>
                <a:lnTo>
                  <a:pt x="2942598" y="687885"/>
                </a:lnTo>
                <a:lnTo>
                  <a:pt x="2919067" y="722792"/>
                </a:lnTo>
                <a:lnTo>
                  <a:pt x="2884159" y="746323"/>
                </a:lnTo>
                <a:lnTo>
                  <a:pt x="2841402" y="754951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5515" y="2083756"/>
            <a:ext cx="112395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35" dirty="0">
                <a:solidFill>
                  <a:srgbClr val="FFFFFF"/>
                </a:solidFill>
                <a:latin typeface="Trebuchet MS"/>
                <a:cs typeface="Trebuchet MS"/>
              </a:rPr>
              <a:t>Encodage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50454" y="2195851"/>
            <a:ext cx="34798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spc="1330" dirty="0">
                <a:solidFill>
                  <a:srgbClr val="B95924"/>
                </a:solidFill>
                <a:latin typeface="Arial"/>
                <a:cs typeface="Arial"/>
              </a:rPr>
              <a:t>→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65134" y="1877477"/>
            <a:ext cx="2951480" cy="755015"/>
          </a:xfrm>
          <a:custGeom>
            <a:avLst/>
            <a:gdLst/>
            <a:ahLst/>
            <a:cxnLst/>
            <a:rect l="l" t="t" r="r" b="b"/>
            <a:pathLst>
              <a:path w="2951479" h="755014">
                <a:moveTo>
                  <a:pt x="2841402" y="754951"/>
                </a:moveTo>
                <a:lnTo>
                  <a:pt x="109823" y="754951"/>
                </a:lnTo>
                <a:lnTo>
                  <a:pt x="67066" y="746323"/>
                </a:lnTo>
                <a:lnTo>
                  <a:pt x="32158" y="722792"/>
                </a:lnTo>
                <a:lnTo>
                  <a:pt x="8627" y="687885"/>
                </a:lnTo>
                <a:lnTo>
                  <a:pt x="0" y="645128"/>
                </a:lnTo>
                <a:lnTo>
                  <a:pt x="0" y="109823"/>
                </a:lnTo>
                <a:lnTo>
                  <a:pt x="8627" y="67066"/>
                </a:lnTo>
                <a:lnTo>
                  <a:pt x="32158" y="32158"/>
                </a:lnTo>
                <a:lnTo>
                  <a:pt x="67066" y="8627"/>
                </a:lnTo>
                <a:lnTo>
                  <a:pt x="109823" y="0"/>
                </a:lnTo>
                <a:lnTo>
                  <a:pt x="2841402" y="0"/>
                </a:lnTo>
                <a:lnTo>
                  <a:pt x="2884159" y="8627"/>
                </a:lnTo>
                <a:lnTo>
                  <a:pt x="2919067" y="32158"/>
                </a:lnTo>
                <a:lnTo>
                  <a:pt x="2942598" y="67066"/>
                </a:lnTo>
                <a:lnTo>
                  <a:pt x="2951225" y="109823"/>
                </a:lnTo>
                <a:lnTo>
                  <a:pt x="2951225" y="645128"/>
                </a:lnTo>
                <a:lnTo>
                  <a:pt x="2942598" y="687885"/>
                </a:lnTo>
                <a:lnTo>
                  <a:pt x="2919067" y="722792"/>
                </a:lnTo>
                <a:lnTo>
                  <a:pt x="2884159" y="746323"/>
                </a:lnTo>
                <a:lnTo>
                  <a:pt x="2841402" y="754951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09547" y="2083756"/>
            <a:ext cx="106235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0" dirty="0">
                <a:solidFill>
                  <a:srgbClr val="FFFFFF"/>
                </a:solidFill>
                <a:latin typeface="Trebuchet MS"/>
                <a:cs typeface="Trebuchet MS"/>
              </a:rPr>
              <a:t>Sélection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03688" y="2195851"/>
            <a:ext cx="34798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spc="1330" dirty="0">
                <a:solidFill>
                  <a:srgbClr val="B95924"/>
                </a:solidFill>
                <a:latin typeface="Arial"/>
                <a:cs typeface="Arial"/>
              </a:rPr>
              <a:t>→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18369" y="1877477"/>
            <a:ext cx="2951480" cy="755015"/>
          </a:xfrm>
          <a:custGeom>
            <a:avLst/>
            <a:gdLst/>
            <a:ahLst/>
            <a:cxnLst/>
            <a:rect l="l" t="t" r="r" b="b"/>
            <a:pathLst>
              <a:path w="2951480" h="755014">
                <a:moveTo>
                  <a:pt x="2841401" y="754951"/>
                </a:moveTo>
                <a:lnTo>
                  <a:pt x="109823" y="754951"/>
                </a:lnTo>
                <a:lnTo>
                  <a:pt x="67066" y="746323"/>
                </a:lnTo>
                <a:lnTo>
                  <a:pt x="32158" y="722792"/>
                </a:lnTo>
                <a:lnTo>
                  <a:pt x="8627" y="687885"/>
                </a:lnTo>
                <a:lnTo>
                  <a:pt x="0" y="645128"/>
                </a:lnTo>
                <a:lnTo>
                  <a:pt x="0" y="109823"/>
                </a:lnTo>
                <a:lnTo>
                  <a:pt x="8627" y="67066"/>
                </a:lnTo>
                <a:lnTo>
                  <a:pt x="32158" y="32158"/>
                </a:lnTo>
                <a:lnTo>
                  <a:pt x="67066" y="8627"/>
                </a:lnTo>
                <a:lnTo>
                  <a:pt x="109823" y="0"/>
                </a:lnTo>
                <a:lnTo>
                  <a:pt x="2841401" y="0"/>
                </a:lnTo>
                <a:lnTo>
                  <a:pt x="2884159" y="8627"/>
                </a:lnTo>
                <a:lnTo>
                  <a:pt x="2919067" y="32158"/>
                </a:lnTo>
                <a:lnTo>
                  <a:pt x="2942598" y="67066"/>
                </a:lnTo>
                <a:lnTo>
                  <a:pt x="2951226" y="109823"/>
                </a:lnTo>
                <a:lnTo>
                  <a:pt x="2951226" y="645128"/>
                </a:lnTo>
                <a:lnTo>
                  <a:pt x="2942598" y="687885"/>
                </a:lnTo>
                <a:lnTo>
                  <a:pt x="2919067" y="722792"/>
                </a:lnTo>
                <a:lnTo>
                  <a:pt x="2884159" y="746323"/>
                </a:lnTo>
                <a:lnTo>
                  <a:pt x="2841401" y="754951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07692" y="2083756"/>
            <a:ext cx="157289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10" dirty="0">
                <a:solidFill>
                  <a:srgbClr val="FFFFFF"/>
                </a:solidFill>
                <a:latin typeface="Trebuchet MS"/>
                <a:cs typeface="Trebuchet MS"/>
              </a:rPr>
              <a:t>Normalisation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56913" y="2195851"/>
            <a:ext cx="34798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spc="1330" dirty="0">
                <a:solidFill>
                  <a:srgbClr val="B95924"/>
                </a:solidFill>
                <a:latin typeface="Arial"/>
                <a:cs typeface="Arial"/>
              </a:rPr>
              <a:t>→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971604" y="1877477"/>
            <a:ext cx="2951480" cy="755015"/>
          </a:xfrm>
          <a:custGeom>
            <a:avLst/>
            <a:gdLst/>
            <a:ahLst/>
            <a:cxnLst/>
            <a:rect l="l" t="t" r="r" b="b"/>
            <a:pathLst>
              <a:path w="2951480" h="755014">
                <a:moveTo>
                  <a:pt x="2841402" y="754951"/>
                </a:moveTo>
                <a:lnTo>
                  <a:pt x="109823" y="754951"/>
                </a:lnTo>
                <a:lnTo>
                  <a:pt x="67066" y="746323"/>
                </a:lnTo>
                <a:lnTo>
                  <a:pt x="32158" y="722792"/>
                </a:lnTo>
                <a:lnTo>
                  <a:pt x="8627" y="687885"/>
                </a:lnTo>
                <a:lnTo>
                  <a:pt x="0" y="645128"/>
                </a:lnTo>
                <a:lnTo>
                  <a:pt x="0" y="109823"/>
                </a:lnTo>
                <a:lnTo>
                  <a:pt x="8627" y="67066"/>
                </a:lnTo>
                <a:lnTo>
                  <a:pt x="32158" y="32158"/>
                </a:lnTo>
                <a:lnTo>
                  <a:pt x="67066" y="8627"/>
                </a:lnTo>
                <a:lnTo>
                  <a:pt x="109823" y="0"/>
                </a:lnTo>
                <a:lnTo>
                  <a:pt x="2841402" y="0"/>
                </a:lnTo>
                <a:lnTo>
                  <a:pt x="2884159" y="8627"/>
                </a:lnTo>
                <a:lnTo>
                  <a:pt x="2919067" y="32158"/>
                </a:lnTo>
                <a:lnTo>
                  <a:pt x="2942598" y="67066"/>
                </a:lnTo>
                <a:lnTo>
                  <a:pt x="2951225" y="109823"/>
                </a:lnTo>
                <a:lnTo>
                  <a:pt x="2951225" y="645128"/>
                </a:lnTo>
                <a:lnTo>
                  <a:pt x="2942598" y="687885"/>
                </a:lnTo>
                <a:lnTo>
                  <a:pt x="2919067" y="722792"/>
                </a:lnTo>
                <a:lnTo>
                  <a:pt x="2884159" y="746323"/>
                </a:lnTo>
                <a:lnTo>
                  <a:pt x="2841402" y="754951"/>
                </a:lnTo>
                <a:close/>
              </a:path>
            </a:pathLst>
          </a:custGeom>
          <a:solidFill>
            <a:srgbClr val="615D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962303" y="2083756"/>
            <a:ext cx="969644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75" dirty="0">
                <a:solidFill>
                  <a:srgbClr val="FFFFFF"/>
                </a:solidFill>
                <a:latin typeface="Trebuchet MS"/>
                <a:cs typeface="Trebuchet MS"/>
              </a:rPr>
              <a:t>ADASYN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683864" y="0"/>
            <a:ext cx="2604135" cy="2604135"/>
            <a:chOff x="15683864" y="0"/>
            <a:chExt cx="2604135" cy="2604135"/>
          </a:xfrm>
        </p:grpSpPr>
        <p:sp>
          <p:nvSpPr>
            <p:cNvPr id="18" name="object 18"/>
            <p:cNvSpPr/>
            <p:nvPr/>
          </p:nvSpPr>
          <p:spPr>
            <a:xfrm>
              <a:off x="16652024" y="0"/>
              <a:ext cx="1636395" cy="1090930"/>
            </a:xfrm>
            <a:custGeom>
              <a:avLst/>
              <a:gdLst/>
              <a:ahLst/>
              <a:cxnLst/>
              <a:rect l="l" t="t" r="r" b="b"/>
              <a:pathLst>
                <a:path w="1636394" h="1090930">
                  <a:moveTo>
                    <a:pt x="1090818" y="1090818"/>
                  </a:moveTo>
                  <a:lnTo>
                    <a:pt x="0" y="0"/>
                  </a:lnTo>
                  <a:lnTo>
                    <a:pt x="1635975" y="0"/>
                  </a:lnTo>
                  <a:lnTo>
                    <a:pt x="1635975" y="545661"/>
                  </a:lnTo>
                  <a:lnTo>
                    <a:pt x="1090818" y="1090818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683864" y="0"/>
              <a:ext cx="2604135" cy="2604135"/>
            </a:xfrm>
            <a:custGeom>
              <a:avLst/>
              <a:gdLst/>
              <a:ahLst/>
              <a:cxnLst/>
              <a:rect l="l" t="t" r="r" b="b"/>
              <a:pathLst>
                <a:path w="2604134" h="2604135">
                  <a:moveTo>
                    <a:pt x="2604135" y="2604135"/>
                  </a:moveTo>
                  <a:lnTo>
                    <a:pt x="0" y="0"/>
                  </a:lnTo>
                  <a:lnTo>
                    <a:pt x="968160" y="0"/>
                  </a:lnTo>
                  <a:lnTo>
                    <a:pt x="2058978" y="1090818"/>
                  </a:lnTo>
                  <a:lnTo>
                    <a:pt x="2058978" y="1091283"/>
                  </a:lnTo>
                  <a:lnTo>
                    <a:pt x="2059443" y="1091283"/>
                  </a:lnTo>
                  <a:lnTo>
                    <a:pt x="2604135" y="1635975"/>
                  </a:lnTo>
                  <a:lnTo>
                    <a:pt x="2604135" y="2604135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651893" y="0"/>
              <a:ext cx="1320800" cy="1091565"/>
            </a:xfrm>
            <a:custGeom>
              <a:avLst/>
              <a:gdLst/>
              <a:ahLst/>
              <a:cxnLst/>
              <a:rect l="l" t="t" r="r" b="b"/>
              <a:pathLst>
                <a:path w="1320800" h="1091565">
                  <a:moveTo>
                    <a:pt x="1090949" y="1091283"/>
                  </a:moveTo>
                  <a:lnTo>
                    <a:pt x="0" y="0"/>
                  </a:lnTo>
                  <a:lnTo>
                    <a:pt x="151954" y="0"/>
                  </a:lnTo>
                  <a:lnTo>
                    <a:pt x="1320201" y="861566"/>
                  </a:lnTo>
                  <a:lnTo>
                    <a:pt x="1090949" y="1091283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904652" y="387350"/>
            <a:ext cx="87109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70" dirty="0">
                <a:solidFill>
                  <a:srgbClr val="2D3780"/>
                </a:solidFill>
              </a:rPr>
              <a:t>Prétraitement</a:t>
            </a:r>
            <a:r>
              <a:rPr spc="110" dirty="0">
                <a:solidFill>
                  <a:srgbClr val="2D3780"/>
                </a:solidFill>
              </a:rPr>
              <a:t> </a:t>
            </a:r>
            <a:r>
              <a:rPr spc="-944" dirty="0">
                <a:solidFill>
                  <a:srgbClr val="2D3780"/>
                </a:solidFill>
              </a:rPr>
              <a:t>des</a:t>
            </a:r>
            <a:r>
              <a:rPr spc="110" dirty="0">
                <a:solidFill>
                  <a:srgbClr val="2D3780"/>
                </a:solidFill>
              </a:rPr>
              <a:t> </a:t>
            </a:r>
            <a:r>
              <a:rPr spc="-930" dirty="0">
                <a:solidFill>
                  <a:srgbClr val="2D3780"/>
                </a:solidFill>
              </a:rPr>
              <a:t>données</a:t>
            </a: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973" y="7786844"/>
            <a:ext cx="89016" cy="8901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973" y="8329843"/>
            <a:ext cx="89016" cy="8901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973" y="8872841"/>
            <a:ext cx="89016" cy="8901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973" y="9415839"/>
            <a:ext cx="89016" cy="8901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973" y="9958838"/>
            <a:ext cx="89016" cy="8901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323879" y="6878797"/>
            <a:ext cx="10158095" cy="3283585"/>
          </a:xfrm>
          <a:prstGeom prst="rect">
            <a:avLst/>
          </a:prstGeom>
        </p:spPr>
        <p:txBody>
          <a:bodyPr vert="horz" wrap="square" lIns="0" tIns="208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2400" b="1" spc="-55" dirty="0">
                <a:solidFill>
                  <a:srgbClr val="002566"/>
                </a:solidFill>
                <a:latin typeface="Cambria"/>
                <a:cs typeface="Cambria"/>
              </a:rPr>
              <a:t>Détails</a:t>
            </a:r>
            <a:r>
              <a:rPr sz="2400" b="1" spc="-20" dirty="0">
                <a:solidFill>
                  <a:srgbClr val="002566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002566"/>
                </a:solidFill>
                <a:latin typeface="Cambria"/>
                <a:cs typeface="Cambria"/>
              </a:rPr>
              <a:t>Techniques</a:t>
            </a:r>
            <a:endParaRPr sz="2400" dirty="0">
              <a:latin typeface="Cambria"/>
              <a:cs typeface="Cambria"/>
            </a:endParaRPr>
          </a:p>
          <a:p>
            <a:pPr marL="465455" marR="4665345" indent="66040">
              <a:lnSpc>
                <a:spcPts val="4280"/>
              </a:lnSpc>
              <a:spcBef>
                <a:spcPts val="254"/>
              </a:spcBef>
            </a:pPr>
            <a:r>
              <a:rPr sz="2250" b="1" spc="-40" dirty="0">
                <a:solidFill>
                  <a:srgbClr val="2D3780"/>
                </a:solidFill>
                <a:latin typeface="Cambria"/>
                <a:cs typeface="Cambria"/>
              </a:rPr>
              <a:t>Encodage</a:t>
            </a:r>
            <a:r>
              <a:rPr sz="2250" b="1" spc="1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:</a:t>
            </a:r>
            <a:r>
              <a:rPr sz="2250" spc="1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Label</a:t>
            </a:r>
            <a:r>
              <a:rPr sz="2250" spc="1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575" dirty="0">
                <a:solidFill>
                  <a:srgbClr val="2D3780"/>
                </a:solidFill>
                <a:latin typeface="Cambria"/>
                <a:cs typeface="Cambria"/>
              </a:rPr>
              <a:t>+</a:t>
            </a:r>
            <a:r>
              <a:rPr sz="2250" spc="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OneHot</a:t>
            </a:r>
            <a:r>
              <a:rPr sz="2250" spc="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20" dirty="0">
                <a:solidFill>
                  <a:srgbClr val="2D3780"/>
                </a:solidFill>
                <a:latin typeface="Cambria"/>
                <a:cs typeface="Cambria"/>
              </a:rPr>
              <a:t>selon</a:t>
            </a:r>
            <a:r>
              <a:rPr sz="2250" spc="1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le</a:t>
            </a:r>
            <a:r>
              <a:rPr sz="2250" spc="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65" dirty="0">
                <a:solidFill>
                  <a:srgbClr val="2D3780"/>
                </a:solidFill>
                <a:latin typeface="Cambria"/>
                <a:cs typeface="Cambria"/>
              </a:rPr>
              <a:t>type </a:t>
            </a:r>
            <a:r>
              <a:rPr sz="2250" b="1" spc="-55" dirty="0">
                <a:solidFill>
                  <a:srgbClr val="2D3780"/>
                </a:solidFill>
                <a:latin typeface="Cambria"/>
                <a:cs typeface="Cambria"/>
              </a:rPr>
              <a:t>Sélection</a:t>
            </a:r>
            <a:r>
              <a:rPr sz="2250" b="1" spc="-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:</a:t>
            </a:r>
            <a:r>
              <a:rPr sz="2250" spc="-1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65" dirty="0">
                <a:solidFill>
                  <a:srgbClr val="2D3780"/>
                </a:solidFill>
                <a:latin typeface="Cambria"/>
                <a:cs typeface="Cambria"/>
              </a:rPr>
              <a:t>corrélation</a:t>
            </a:r>
            <a:r>
              <a:rPr sz="2250" spc="-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285" dirty="0">
                <a:solidFill>
                  <a:srgbClr val="2D3780"/>
                </a:solidFill>
                <a:latin typeface="Cambria"/>
                <a:cs typeface="Cambria"/>
              </a:rPr>
              <a:t>&gt;</a:t>
            </a:r>
            <a:r>
              <a:rPr sz="2250" spc="-1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10" dirty="0">
                <a:solidFill>
                  <a:srgbClr val="2D3780"/>
                </a:solidFill>
                <a:latin typeface="Cambria"/>
                <a:cs typeface="Cambria"/>
              </a:rPr>
              <a:t>seuil</a:t>
            </a:r>
            <a:r>
              <a:rPr sz="2250" spc="-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(0.01-</a:t>
            </a:r>
            <a:r>
              <a:rPr sz="2250" spc="-10" dirty="0">
                <a:solidFill>
                  <a:srgbClr val="2D3780"/>
                </a:solidFill>
                <a:latin typeface="Cambria"/>
                <a:cs typeface="Cambria"/>
              </a:rPr>
              <a:t>0.05) </a:t>
            </a:r>
            <a:r>
              <a:rPr sz="2250" b="1" spc="-65" dirty="0">
                <a:solidFill>
                  <a:srgbClr val="2D3780"/>
                </a:solidFill>
                <a:latin typeface="Cambria"/>
                <a:cs typeface="Cambria"/>
              </a:rPr>
              <a:t>StandardScaler</a:t>
            </a:r>
            <a:r>
              <a:rPr sz="2250" b="1" spc="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:</a:t>
            </a:r>
            <a:r>
              <a:rPr sz="2250" spc="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70" dirty="0">
                <a:solidFill>
                  <a:srgbClr val="2D3780"/>
                </a:solidFill>
                <a:latin typeface="Cambria"/>
                <a:cs typeface="Cambria"/>
              </a:rPr>
              <a:t>mean=0,</a:t>
            </a:r>
            <a:r>
              <a:rPr sz="2250" spc="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45" dirty="0">
                <a:solidFill>
                  <a:srgbClr val="2D3780"/>
                </a:solidFill>
                <a:latin typeface="Cambria"/>
                <a:cs typeface="Cambria"/>
              </a:rPr>
              <a:t>std=1 </a:t>
            </a:r>
            <a:r>
              <a:rPr sz="2250" b="1" dirty="0">
                <a:solidFill>
                  <a:srgbClr val="2D3780"/>
                </a:solidFill>
                <a:latin typeface="Cambria"/>
                <a:cs typeface="Cambria"/>
              </a:rPr>
              <a:t>ADASYN</a:t>
            </a:r>
            <a:r>
              <a:rPr sz="2250" b="1" spc="2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:</a:t>
            </a:r>
            <a:r>
              <a:rPr sz="2250" spc="3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40" dirty="0">
                <a:solidFill>
                  <a:srgbClr val="2D3780"/>
                </a:solidFill>
                <a:latin typeface="Cambria"/>
                <a:cs typeface="Cambria"/>
              </a:rPr>
              <a:t>génération</a:t>
            </a:r>
            <a:r>
              <a:rPr sz="2250" spc="30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50" dirty="0">
                <a:solidFill>
                  <a:srgbClr val="2D3780"/>
                </a:solidFill>
                <a:latin typeface="Cambria"/>
                <a:cs typeface="Cambria"/>
              </a:rPr>
              <a:t>synthétique</a:t>
            </a:r>
            <a:r>
              <a:rPr sz="2250" spc="3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10" dirty="0">
                <a:solidFill>
                  <a:srgbClr val="2D3780"/>
                </a:solidFill>
                <a:latin typeface="Cambria"/>
                <a:cs typeface="Cambria"/>
              </a:rPr>
              <a:t>ciblée</a:t>
            </a:r>
            <a:endParaRPr sz="2250" dirty="0">
              <a:latin typeface="Cambria"/>
              <a:cs typeface="Cambria"/>
            </a:endParaRPr>
          </a:p>
          <a:p>
            <a:pPr marL="465455">
              <a:lnSpc>
                <a:spcPct val="100000"/>
              </a:lnSpc>
              <a:spcBef>
                <a:spcPts val="1155"/>
              </a:spcBef>
            </a:pPr>
            <a:r>
              <a:rPr sz="2250" b="1" spc="-80" dirty="0">
                <a:solidFill>
                  <a:srgbClr val="2D3780"/>
                </a:solidFill>
                <a:latin typeface="Cambria"/>
                <a:cs typeface="Cambria"/>
              </a:rPr>
              <a:t>Validation</a:t>
            </a:r>
            <a:r>
              <a:rPr sz="2250" b="1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b="1" spc="-100" dirty="0">
                <a:solidFill>
                  <a:srgbClr val="2D3780"/>
                </a:solidFill>
                <a:latin typeface="Cambria"/>
                <a:cs typeface="Cambria"/>
              </a:rPr>
              <a:t>croisée</a:t>
            </a:r>
            <a:r>
              <a:rPr sz="2250" b="1" spc="-2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:</a:t>
            </a:r>
            <a:r>
              <a:rPr sz="2250" spc="-6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10-</a:t>
            </a:r>
            <a:r>
              <a:rPr sz="2250" spc="-80" dirty="0">
                <a:solidFill>
                  <a:srgbClr val="2D3780"/>
                </a:solidFill>
                <a:latin typeface="Cambria"/>
                <a:cs typeface="Cambria"/>
              </a:rPr>
              <a:t>fold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35" dirty="0">
                <a:solidFill>
                  <a:srgbClr val="2D3780"/>
                </a:solidFill>
                <a:latin typeface="Cambria"/>
                <a:cs typeface="Cambria"/>
              </a:rPr>
              <a:t>garantit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la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40" dirty="0">
                <a:solidFill>
                  <a:srgbClr val="2D3780"/>
                </a:solidFill>
                <a:latin typeface="Cambria"/>
                <a:cs typeface="Cambria"/>
              </a:rPr>
              <a:t>stabilité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et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dirty="0">
                <a:solidFill>
                  <a:srgbClr val="2D3780"/>
                </a:solidFill>
                <a:latin typeface="Cambria"/>
                <a:cs typeface="Cambria"/>
              </a:rPr>
              <a:t>la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55" dirty="0">
                <a:solidFill>
                  <a:srgbClr val="2D3780"/>
                </a:solidFill>
                <a:latin typeface="Cambria"/>
                <a:cs typeface="Cambria"/>
              </a:rPr>
              <a:t>fiabilité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10" dirty="0">
                <a:solidFill>
                  <a:srgbClr val="2D3780"/>
                </a:solidFill>
                <a:latin typeface="Cambria"/>
                <a:cs typeface="Cambria"/>
              </a:rPr>
              <a:t>des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40" dirty="0" err="1">
                <a:solidFill>
                  <a:srgbClr val="2D3780"/>
                </a:solidFill>
                <a:latin typeface="Cambria"/>
                <a:cs typeface="Cambria"/>
              </a:rPr>
              <a:t>résultats</a:t>
            </a:r>
            <a:r>
              <a:rPr sz="2250" spc="-45" dirty="0">
                <a:solidFill>
                  <a:srgbClr val="2D3780"/>
                </a:solidFill>
                <a:latin typeface="Cambria"/>
                <a:cs typeface="Cambria"/>
              </a:rPr>
              <a:t> </a:t>
            </a:r>
            <a:r>
              <a:rPr sz="2250" spc="-25" dirty="0">
                <a:solidFill>
                  <a:srgbClr val="2D3780"/>
                </a:solidFill>
                <a:latin typeface="Cambria"/>
                <a:cs typeface="Cambria"/>
              </a:rPr>
              <a:t>reportés.</a:t>
            </a:r>
            <a:endParaRPr sz="2250" dirty="0">
              <a:latin typeface="Cambria"/>
              <a:cs typeface="Cambria"/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E517324E-74C4-4A50-B108-C7CB634CC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77" y="3332984"/>
            <a:ext cx="14529845" cy="36210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4580" y="3631425"/>
            <a:ext cx="135001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800" spc="-105" dirty="0">
                <a:solidFill>
                  <a:srgbClr val="2D3780"/>
                </a:solidFill>
                <a:latin typeface="Trebuchet MS"/>
                <a:cs typeface="Trebuchet MS"/>
              </a:rPr>
              <a:t>Résultats</a:t>
            </a:r>
            <a:r>
              <a:rPr lang="en-US" sz="8800" spc="-8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lang="en-US" sz="8800" spc="-90" dirty="0">
                <a:solidFill>
                  <a:srgbClr val="2D3780"/>
                </a:solidFill>
                <a:latin typeface="Trebuchet MS"/>
                <a:cs typeface="Trebuchet MS"/>
              </a:rPr>
              <a:t>Expérimentaux</a:t>
            </a:r>
            <a:endParaRPr lang="en-US" sz="8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46600" y="9236134"/>
            <a:ext cx="228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85" dirty="0">
                <a:solidFill>
                  <a:srgbClr val="2D3780"/>
                </a:solidFill>
                <a:latin typeface="Trebuchet MS"/>
                <a:cs typeface="Trebuchet MS"/>
              </a:rPr>
              <a:t>19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6295" y="2525287"/>
          <a:ext cx="16252823" cy="2279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80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3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9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Dataset</a:t>
                      </a:r>
                      <a:r>
                        <a:rPr sz="165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2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65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Modèle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Accuracy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Precision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Recall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229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F1-</a:t>
                      </a:r>
                      <a:r>
                        <a:rPr sz="165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2D3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Telecom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80.54%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62.21%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86.74%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71.94%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2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Bank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78.44%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48.94%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72.12%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57.88%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Insurance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87.31%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47.34%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66.22%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4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55.02%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spc="-2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News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68.83%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46.18%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44.16%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spc="-10" dirty="0">
                          <a:solidFill>
                            <a:srgbClr val="2D3780"/>
                          </a:solidFill>
                          <a:latin typeface="Trebuchet MS"/>
                          <a:cs typeface="Trebuchet MS"/>
                        </a:rPr>
                        <a:t>37.13%</a:t>
                      </a:r>
                      <a:endParaRPr sz="1650">
                        <a:latin typeface="Trebuchet MS"/>
                        <a:cs typeface="Trebuchet M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6DEE7"/>
                      </a:solidFill>
                      <a:prstDash val="solid"/>
                    </a:lnL>
                    <a:lnR w="9525">
                      <a:solidFill>
                        <a:srgbClr val="D6DEE7"/>
                      </a:solidFill>
                      <a:prstDash val="solid"/>
                    </a:lnR>
                    <a:lnT w="9525">
                      <a:solidFill>
                        <a:srgbClr val="D6DEE7"/>
                      </a:solidFill>
                      <a:prstDash val="solid"/>
                    </a:lnT>
                    <a:lnB w="9525">
                      <a:solidFill>
                        <a:srgbClr val="D6DEE7"/>
                      </a:solidFill>
                      <a:prstDash val="soli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01372" y="5403971"/>
            <a:ext cx="3916679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02566"/>
                </a:solidFill>
                <a:latin typeface="Trebuchet MS"/>
                <a:cs typeface="Trebuchet MS"/>
              </a:rPr>
              <a:t>RÉSUMÉ</a:t>
            </a:r>
            <a:r>
              <a:rPr sz="2250" b="1" spc="-5" dirty="0">
                <a:solidFill>
                  <a:srgbClr val="002566"/>
                </a:solidFill>
                <a:latin typeface="Trebuchet MS"/>
                <a:cs typeface="Trebuchet MS"/>
              </a:rPr>
              <a:t> </a:t>
            </a:r>
            <a:r>
              <a:rPr sz="2250" b="1" dirty="0">
                <a:solidFill>
                  <a:srgbClr val="002566"/>
                </a:solidFill>
                <a:latin typeface="Trebuchet MS"/>
                <a:cs typeface="Trebuchet MS"/>
              </a:rPr>
              <a:t>DES</a:t>
            </a:r>
            <a:r>
              <a:rPr sz="2250" b="1" spc="10" dirty="0">
                <a:solidFill>
                  <a:srgbClr val="002566"/>
                </a:solidFill>
                <a:latin typeface="Trebuchet MS"/>
                <a:cs typeface="Trebuchet MS"/>
              </a:rPr>
              <a:t> </a:t>
            </a:r>
            <a:r>
              <a:rPr sz="2250" b="1" spc="-10" dirty="0">
                <a:solidFill>
                  <a:srgbClr val="002566"/>
                </a:solidFill>
                <a:latin typeface="Trebuchet MS"/>
                <a:cs typeface="Trebuchet MS"/>
              </a:rPr>
              <a:t>PERFORMANCES</a:t>
            </a:r>
            <a:endParaRPr sz="22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3471545" cy="1315085"/>
            <a:chOff x="0" y="0"/>
            <a:chExt cx="3471545" cy="1315085"/>
          </a:xfrm>
        </p:grpSpPr>
        <p:sp>
          <p:nvSpPr>
            <p:cNvPr id="5" name="object 5"/>
            <p:cNvSpPr/>
            <p:nvPr/>
          </p:nvSpPr>
          <p:spPr>
            <a:xfrm>
              <a:off x="669380" y="0"/>
              <a:ext cx="2802255" cy="1314450"/>
            </a:xfrm>
            <a:custGeom>
              <a:avLst/>
              <a:gdLst/>
              <a:ahLst/>
              <a:cxnLst/>
              <a:rect l="l" t="t" r="r" b="b"/>
              <a:pathLst>
                <a:path w="2802254" h="1314450">
                  <a:moveTo>
                    <a:pt x="2801816" y="0"/>
                  </a:moveTo>
                  <a:lnTo>
                    <a:pt x="0" y="0"/>
                  </a:lnTo>
                  <a:lnTo>
                    <a:pt x="1315041" y="1314414"/>
                  </a:lnTo>
                  <a:lnTo>
                    <a:pt x="1315041" y="857954"/>
                  </a:lnTo>
                  <a:lnTo>
                    <a:pt x="2801816" y="0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9380" y="0"/>
              <a:ext cx="1315720" cy="1315085"/>
            </a:xfrm>
            <a:custGeom>
              <a:avLst/>
              <a:gdLst/>
              <a:ahLst/>
              <a:cxnLst/>
              <a:rect l="l" t="t" r="r" b="b"/>
              <a:pathLst>
                <a:path w="1315720" h="1315085">
                  <a:moveTo>
                    <a:pt x="460097" y="0"/>
                  </a:moveTo>
                  <a:lnTo>
                    <a:pt x="0" y="0"/>
                  </a:lnTo>
                  <a:lnTo>
                    <a:pt x="1315668" y="1315041"/>
                  </a:lnTo>
                  <a:lnTo>
                    <a:pt x="1315668" y="857954"/>
                  </a:lnTo>
                  <a:lnTo>
                    <a:pt x="460097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196975" cy="1215390"/>
            </a:xfrm>
            <a:custGeom>
              <a:avLst/>
              <a:gdLst/>
              <a:ahLst/>
              <a:cxnLst/>
              <a:rect l="l" t="t" r="r" b="b"/>
              <a:pathLst>
                <a:path w="1196975" h="1215390">
                  <a:moveTo>
                    <a:pt x="669380" y="0"/>
                  </a:moveTo>
                  <a:lnTo>
                    <a:pt x="0" y="0"/>
                  </a:lnTo>
                  <a:lnTo>
                    <a:pt x="0" y="1215312"/>
                  </a:lnTo>
                  <a:lnTo>
                    <a:pt x="1196903" y="527523"/>
                  </a:lnTo>
                  <a:lnTo>
                    <a:pt x="669380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816757" y="0"/>
            <a:ext cx="3471545" cy="1315085"/>
            <a:chOff x="14816757" y="0"/>
            <a:chExt cx="3471545" cy="1315085"/>
          </a:xfrm>
        </p:grpSpPr>
        <p:sp>
          <p:nvSpPr>
            <p:cNvPr id="9" name="object 9"/>
            <p:cNvSpPr/>
            <p:nvPr/>
          </p:nvSpPr>
          <p:spPr>
            <a:xfrm>
              <a:off x="14816757" y="0"/>
              <a:ext cx="2802255" cy="1314450"/>
            </a:xfrm>
            <a:custGeom>
              <a:avLst/>
              <a:gdLst/>
              <a:ahLst/>
              <a:cxnLst/>
              <a:rect l="l" t="t" r="r" b="b"/>
              <a:pathLst>
                <a:path w="2802255" h="1314450">
                  <a:moveTo>
                    <a:pt x="0" y="0"/>
                  </a:moveTo>
                  <a:lnTo>
                    <a:pt x="2801816" y="0"/>
                  </a:lnTo>
                  <a:lnTo>
                    <a:pt x="1486775" y="1314414"/>
                  </a:lnTo>
                  <a:lnTo>
                    <a:pt x="1486775" y="8579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02905" y="0"/>
              <a:ext cx="1315720" cy="1315085"/>
            </a:xfrm>
            <a:custGeom>
              <a:avLst/>
              <a:gdLst/>
              <a:ahLst/>
              <a:cxnLst/>
              <a:rect l="l" t="t" r="r" b="b"/>
              <a:pathLst>
                <a:path w="1315719" h="1315085">
                  <a:moveTo>
                    <a:pt x="855570" y="0"/>
                  </a:moveTo>
                  <a:lnTo>
                    <a:pt x="1315668" y="0"/>
                  </a:lnTo>
                  <a:lnTo>
                    <a:pt x="0" y="1315041"/>
                  </a:lnTo>
                  <a:lnTo>
                    <a:pt x="0" y="857954"/>
                  </a:lnTo>
                  <a:lnTo>
                    <a:pt x="855570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091050" y="0"/>
              <a:ext cx="1196975" cy="1215390"/>
            </a:xfrm>
            <a:custGeom>
              <a:avLst/>
              <a:gdLst/>
              <a:ahLst/>
              <a:cxnLst/>
              <a:rect l="l" t="t" r="r" b="b"/>
              <a:pathLst>
                <a:path w="1196975" h="1215390">
                  <a:moveTo>
                    <a:pt x="527522" y="0"/>
                  </a:moveTo>
                  <a:lnTo>
                    <a:pt x="1196947" y="0"/>
                  </a:lnTo>
                  <a:lnTo>
                    <a:pt x="1196947" y="1215337"/>
                  </a:lnTo>
                  <a:lnTo>
                    <a:pt x="0" y="527523"/>
                  </a:lnTo>
                  <a:lnTo>
                    <a:pt x="527522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66073" y="872265"/>
            <a:ext cx="1652892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7200" spc="-530" dirty="0">
                <a:solidFill>
                  <a:srgbClr val="2D3780"/>
                </a:solidFill>
              </a:rPr>
              <a:t>Résultats</a:t>
            </a:r>
            <a:r>
              <a:rPr lang="fr-FR" sz="7200" spc="95" dirty="0">
                <a:solidFill>
                  <a:srgbClr val="2D3780"/>
                </a:solidFill>
              </a:rPr>
              <a:t> </a:t>
            </a:r>
            <a:r>
              <a:rPr lang="fr-FR" sz="7200" spc="-610" dirty="0">
                <a:solidFill>
                  <a:srgbClr val="2D3780"/>
                </a:solidFill>
              </a:rPr>
              <a:t>Expérimentaux</a:t>
            </a:r>
            <a:r>
              <a:rPr lang="fr-FR" sz="7200" spc="95" dirty="0">
                <a:solidFill>
                  <a:srgbClr val="2D3780"/>
                </a:solidFill>
              </a:rPr>
              <a:t> </a:t>
            </a:r>
            <a:r>
              <a:rPr lang="fr-FR" sz="7200" spc="-990" dirty="0">
                <a:solidFill>
                  <a:srgbClr val="2D3780"/>
                </a:solidFill>
              </a:rPr>
              <a:t>—</a:t>
            </a:r>
            <a:r>
              <a:rPr lang="fr-FR" sz="7200" spc="95" dirty="0">
                <a:solidFill>
                  <a:srgbClr val="2D3780"/>
                </a:solidFill>
              </a:rPr>
              <a:t> </a:t>
            </a:r>
            <a:r>
              <a:rPr lang="fr-FR" sz="7200" spc="-45" dirty="0">
                <a:solidFill>
                  <a:srgbClr val="2D3780"/>
                </a:solidFill>
              </a:rPr>
              <a:t>CCP-</a:t>
            </a:r>
            <a:r>
              <a:rPr lang="fr-FR" sz="7200" spc="-459" dirty="0">
                <a:solidFill>
                  <a:srgbClr val="2D3780"/>
                </a:solidFill>
              </a:rPr>
              <a:t>Net</a:t>
            </a:r>
            <a:endParaRPr spc="-459" dirty="0"/>
          </a:p>
        </p:txBody>
      </p:sp>
      <p:sp>
        <p:nvSpPr>
          <p:cNvPr id="13" name="object 13"/>
          <p:cNvSpPr/>
          <p:nvPr/>
        </p:nvSpPr>
        <p:spPr>
          <a:xfrm>
            <a:off x="814072" y="6073658"/>
            <a:ext cx="3999865" cy="2857500"/>
          </a:xfrm>
          <a:custGeom>
            <a:avLst/>
            <a:gdLst/>
            <a:ahLst/>
            <a:cxnLst/>
            <a:rect l="l" t="t" r="r" b="b"/>
            <a:pathLst>
              <a:path w="3999865" h="2857500">
                <a:moveTo>
                  <a:pt x="3771137" y="2857023"/>
                </a:moveTo>
                <a:lnTo>
                  <a:pt x="228599" y="2857023"/>
                </a:lnTo>
                <a:lnTo>
                  <a:pt x="182542" y="2852381"/>
                </a:lnTo>
                <a:lnTo>
                  <a:pt x="139637" y="2839065"/>
                </a:lnTo>
                <a:lnTo>
                  <a:pt x="100807" y="2817995"/>
                </a:lnTo>
                <a:lnTo>
                  <a:pt x="66972" y="2790086"/>
                </a:lnTo>
                <a:lnTo>
                  <a:pt x="39053" y="2756257"/>
                </a:lnTo>
                <a:lnTo>
                  <a:pt x="17970" y="2717425"/>
                </a:lnTo>
                <a:lnTo>
                  <a:pt x="4646" y="2674508"/>
                </a:lnTo>
                <a:lnTo>
                  <a:pt x="0" y="2628423"/>
                </a:lnTo>
                <a:lnTo>
                  <a:pt x="0" y="228599"/>
                </a:lnTo>
                <a:lnTo>
                  <a:pt x="4642" y="182514"/>
                </a:lnTo>
                <a:lnTo>
                  <a:pt x="17957" y="139597"/>
                </a:lnTo>
                <a:lnTo>
                  <a:pt x="39028" y="100765"/>
                </a:lnTo>
                <a:lnTo>
                  <a:pt x="66936" y="66936"/>
                </a:lnTo>
                <a:lnTo>
                  <a:pt x="100765" y="39028"/>
                </a:lnTo>
                <a:lnTo>
                  <a:pt x="139597" y="17957"/>
                </a:lnTo>
                <a:lnTo>
                  <a:pt x="182514" y="4642"/>
                </a:lnTo>
                <a:lnTo>
                  <a:pt x="228599" y="0"/>
                </a:lnTo>
                <a:lnTo>
                  <a:pt x="3771137" y="0"/>
                </a:lnTo>
                <a:lnTo>
                  <a:pt x="3817195" y="4642"/>
                </a:lnTo>
                <a:lnTo>
                  <a:pt x="3860099" y="17957"/>
                </a:lnTo>
                <a:lnTo>
                  <a:pt x="3898930" y="39028"/>
                </a:lnTo>
                <a:lnTo>
                  <a:pt x="3932765" y="66936"/>
                </a:lnTo>
                <a:lnTo>
                  <a:pt x="3960684" y="100765"/>
                </a:lnTo>
                <a:lnTo>
                  <a:pt x="3981766" y="139597"/>
                </a:lnTo>
                <a:lnTo>
                  <a:pt x="3995091" y="182514"/>
                </a:lnTo>
                <a:lnTo>
                  <a:pt x="3999737" y="228599"/>
                </a:lnTo>
                <a:lnTo>
                  <a:pt x="3999737" y="2628423"/>
                </a:lnTo>
                <a:lnTo>
                  <a:pt x="3995087" y="2674508"/>
                </a:lnTo>
                <a:lnTo>
                  <a:pt x="3981758" y="2717425"/>
                </a:lnTo>
                <a:lnTo>
                  <a:pt x="3960675" y="2756257"/>
                </a:lnTo>
                <a:lnTo>
                  <a:pt x="3932757" y="2790086"/>
                </a:lnTo>
                <a:lnTo>
                  <a:pt x="3898925" y="2817995"/>
                </a:lnTo>
                <a:lnTo>
                  <a:pt x="3860096" y="2839065"/>
                </a:lnTo>
                <a:lnTo>
                  <a:pt x="3817184" y="2852381"/>
                </a:lnTo>
                <a:lnTo>
                  <a:pt x="3771137" y="2857023"/>
                </a:lnTo>
                <a:close/>
              </a:path>
            </a:pathLst>
          </a:custGeom>
          <a:solidFill>
            <a:srgbClr val="CBC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81196" y="6630521"/>
            <a:ext cx="2265680" cy="170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400" b="1" spc="-100" dirty="0">
                <a:solidFill>
                  <a:srgbClr val="002566"/>
                </a:solidFill>
                <a:latin typeface="Trebuchet MS"/>
                <a:cs typeface="Trebuchet MS"/>
              </a:rPr>
              <a:t>86.74%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030"/>
              </a:spcBef>
            </a:pPr>
            <a:r>
              <a:rPr sz="2000" b="1" dirty="0">
                <a:solidFill>
                  <a:srgbClr val="2D3780"/>
                </a:solidFill>
                <a:latin typeface="Trebuchet MS"/>
                <a:cs typeface="Trebuchet MS"/>
              </a:rPr>
              <a:t>Recall</a:t>
            </a:r>
            <a:r>
              <a:rPr sz="2000" b="1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3780"/>
                </a:solidFill>
                <a:latin typeface="Trebuchet MS"/>
                <a:cs typeface="Trebuchet MS"/>
              </a:rPr>
              <a:t>Telecom</a:t>
            </a:r>
            <a:endParaRPr sz="2000">
              <a:latin typeface="Trebuchet MS"/>
              <a:cs typeface="Trebuchet MS"/>
            </a:endParaRPr>
          </a:p>
          <a:p>
            <a:pPr marL="525145">
              <a:lnSpc>
                <a:spcPct val="100000"/>
              </a:lnSpc>
              <a:spcBef>
                <a:spcPts val="260"/>
              </a:spcBef>
            </a:pPr>
            <a:r>
              <a:rPr sz="1700" spc="-10" dirty="0">
                <a:solidFill>
                  <a:srgbClr val="2D3780"/>
                </a:solidFill>
                <a:latin typeface="Trebuchet MS"/>
                <a:cs typeface="Trebuchet MS"/>
              </a:rPr>
              <a:t>(meilleur)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99494" y="6073658"/>
            <a:ext cx="3999865" cy="2857500"/>
          </a:xfrm>
          <a:custGeom>
            <a:avLst/>
            <a:gdLst/>
            <a:ahLst/>
            <a:cxnLst/>
            <a:rect l="l" t="t" r="r" b="b"/>
            <a:pathLst>
              <a:path w="3999865" h="2857500">
                <a:moveTo>
                  <a:pt x="3771138" y="2857023"/>
                </a:moveTo>
                <a:lnTo>
                  <a:pt x="228600" y="2857023"/>
                </a:lnTo>
                <a:lnTo>
                  <a:pt x="182542" y="2852381"/>
                </a:lnTo>
                <a:lnTo>
                  <a:pt x="139637" y="2839065"/>
                </a:lnTo>
                <a:lnTo>
                  <a:pt x="100807" y="2817995"/>
                </a:lnTo>
                <a:lnTo>
                  <a:pt x="66972" y="2790086"/>
                </a:lnTo>
                <a:lnTo>
                  <a:pt x="39053" y="2756257"/>
                </a:lnTo>
                <a:lnTo>
                  <a:pt x="17970" y="2717425"/>
                </a:lnTo>
                <a:lnTo>
                  <a:pt x="4646" y="2674508"/>
                </a:lnTo>
                <a:lnTo>
                  <a:pt x="0" y="2628423"/>
                </a:lnTo>
                <a:lnTo>
                  <a:pt x="0" y="228599"/>
                </a:lnTo>
                <a:lnTo>
                  <a:pt x="4642" y="182514"/>
                </a:lnTo>
                <a:lnTo>
                  <a:pt x="17957" y="139597"/>
                </a:lnTo>
                <a:lnTo>
                  <a:pt x="39028" y="100765"/>
                </a:lnTo>
                <a:lnTo>
                  <a:pt x="66936" y="66936"/>
                </a:lnTo>
                <a:lnTo>
                  <a:pt x="100765" y="39028"/>
                </a:lnTo>
                <a:lnTo>
                  <a:pt x="139597" y="17957"/>
                </a:lnTo>
                <a:lnTo>
                  <a:pt x="182515" y="4642"/>
                </a:lnTo>
                <a:lnTo>
                  <a:pt x="228600" y="0"/>
                </a:lnTo>
                <a:lnTo>
                  <a:pt x="3771138" y="0"/>
                </a:lnTo>
                <a:lnTo>
                  <a:pt x="3817195" y="4642"/>
                </a:lnTo>
                <a:lnTo>
                  <a:pt x="3860100" y="17957"/>
                </a:lnTo>
                <a:lnTo>
                  <a:pt x="3898930" y="39028"/>
                </a:lnTo>
                <a:lnTo>
                  <a:pt x="3932765" y="66936"/>
                </a:lnTo>
                <a:lnTo>
                  <a:pt x="3960684" y="100765"/>
                </a:lnTo>
                <a:lnTo>
                  <a:pt x="3981767" y="139597"/>
                </a:lnTo>
                <a:lnTo>
                  <a:pt x="3995092" y="182514"/>
                </a:lnTo>
                <a:lnTo>
                  <a:pt x="3999738" y="228599"/>
                </a:lnTo>
                <a:lnTo>
                  <a:pt x="3999738" y="2628423"/>
                </a:lnTo>
                <a:lnTo>
                  <a:pt x="3995087" y="2674508"/>
                </a:lnTo>
                <a:lnTo>
                  <a:pt x="3981758" y="2717425"/>
                </a:lnTo>
                <a:lnTo>
                  <a:pt x="3960675" y="2756257"/>
                </a:lnTo>
                <a:lnTo>
                  <a:pt x="3932757" y="2790086"/>
                </a:lnTo>
                <a:lnTo>
                  <a:pt x="3898925" y="2817995"/>
                </a:lnTo>
                <a:lnTo>
                  <a:pt x="3860097" y="2839065"/>
                </a:lnTo>
                <a:lnTo>
                  <a:pt x="3817184" y="2852381"/>
                </a:lnTo>
                <a:lnTo>
                  <a:pt x="3771138" y="2857023"/>
                </a:lnTo>
                <a:close/>
              </a:path>
            </a:pathLst>
          </a:custGeom>
          <a:solidFill>
            <a:srgbClr val="CBC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02520" y="6630521"/>
            <a:ext cx="2393950" cy="170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400" b="1" spc="-445" dirty="0">
                <a:solidFill>
                  <a:srgbClr val="002566"/>
                </a:solidFill>
                <a:latin typeface="Trebuchet MS"/>
                <a:cs typeface="Trebuchet MS"/>
              </a:rPr>
              <a:t>87.31%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030"/>
              </a:spcBef>
            </a:pPr>
            <a:r>
              <a:rPr sz="2000" b="1" dirty="0">
                <a:solidFill>
                  <a:srgbClr val="2D3780"/>
                </a:solidFill>
                <a:latin typeface="Trebuchet MS"/>
                <a:cs typeface="Trebuchet MS"/>
              </a:rPr>
              <a:t>Accuracy</a:t>
            </a:r>
            <a:r>
              <a:rPr sz="2000" b="1" spc="2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3780"/>
                </a:solidFill>
                <a:latin typeface="Trebuchet MS"/>
                <a:cs typeface="Trebuchet MS"/>
              </a:rPr>
              <a:t>Insurance</a:t>
            </a:r>
            <a:endParaRPr sz="2000">
              <a:latin typeface="Trebuchet MS"/>
              <a:cs typeface="Trebuchet MS"/>
            </a:endParaRPr>
          </a:p>
          <a:p>
            <a:pPr marL="631190">
              <a:lnSpc>
                <a:spcPct val="100000"/>
              </a:lnSpc>
              <a:spcBef>
                <a:spcPts val="260"/>
              </a:spcBef>
            </a:pPr>
            <a:r>
              <a:rPr sz="1700" spc="-10" dirty="0">
                <a:solidFill>
                  <a:srgbClr val="2D3780"/>
                </a:solidFill>
                <a:latin typeface="Trebuchet MS"/>
                <a:cs typeface="Trebuchet MS"/>
              </a:rPr>
              <a:t>(meilleur)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384906" y="6073658"/>
            <a:ext cx="3999865" cy="2857500"/>
          </a:xfrm>
          <a:custGeom>
            <a:avLst/>
            <a:gdLst/>
            <a:ahLst/>
            <a:cxnLst/>
            <a:rect l="l" t="t" r="r" b="b"/>
            <a:pathLst>
              <a:path w="3999865" h="2857500">
                <a:moveTo>
                  <a:pt x="3771136" y="2857023"/>
                </a:moveTo>
                <a:lnTo>
                  <a:pt x="228599" y="2857023"/>
                </a:lnTo>
                <a:lnTo>
                  <a:pt x="182542" y="2852381"/>
                </a:lnTo>
                <a:lnTo>
                  <a:pt x="139637" y="2839065"/>
                </a:lnTo>
                <a:lnTo>
                  <a:pt x="100807" y="2817995"/>
                </a:lnTo>
                <a:lnTo>
                  <a:pt x="66972" y="2790086"/>
                </a:lnTo>
                <a:lnTo>
                  <a:pt x="39053" y="2756257"/>
                </a:lnTo>
                <a:lnTo>
                  <a:pt x="17970" y="2717425"/>
                </a:lnTo>
                <a:lnTo>
                  <a:pt x="4646" y="2674508"/>
                </a:lnTo>
                <a:lnTo>
                  <a:pt x="0" y="2628423"/>
                </a:lnTo>
                <a:lnTo>
                  <a:pt x="0" y="228599"/>
                </a:lnTo>
                <a:lnTo>
                  <a:pt x="4642" y="182514"/>
                </a:lnTo>
                <a:lnTo>
                  <a:pt x="17957" y="139597"/>
                </a:lnTo>
                <a:lnTo>
                  <a:pt x="39028" y="100765"/>
                </a:lnTo>
                <a:lnTo>
                  <a:pt x="66936" y="66936"/>
                </a:lnTo>
                <a:lnTo>
                  <a:pt x="100765" y="39028"/>
                </a:lnTo>
                <a:lnTo>
                  <a:pt x="139597" y="17957"/>
                </a:lnTo>
                <a:lnTo>
                  <a:pt x="182514" y="4642"/>
                </a:lnTo>
                <a:lnTo>
                  <a:pt x="228599" y="0"/>
                </a:lnTo>
                <a:lnTo>
                  <a:pt x="3771136" y="0"/>
                </a:lnTo>
                <a:lnTo>
                  <a:pt x="3817194" y="4642"/>
                </a:lnTo>
                <a:lnTo>
                  <a:pt x="3860099" y="17957"/>
                </a:lnTo>
                <a:lnTo>
                  <a:pt x="3898929" y="39028"/>
                </a:lnTo>
                <a:lnTo>
                  <a:pt x="3932764" y="66936"/>
                </a:lnTo>
                <a:lnTo>
                  <a:pt x="3960683" y="100765"/>
                </a:lnTo>
                <a:lnTo>
                  <a:pt x="3981765" y="139597"/>
                </a:lnTo>
                <a:lnTo>
                  <a:pt x="3995090" y="182514"/>
                </a:lnTo>
                <a:lnTo>
                  <a:pt x="3999736" y="228599"/>
                </a:lnTo>
                <a:lnTo>
                  <a:pt x="3999736" y="2628423"/>
                </a:lnTo>
                <a:lnTo>
                  <a:pt x="3995086" y="2674508"/>
                </a:lnTo>
                <a:lnTo>
                  <a:pt x="3981757" y="2717425"/>
                </a:lnTo>
                <a:lnTo>
                  <a:pt x="3960674" y="2756257"/>
                </a:lnTo>
                <a:lnTo>
                  <a:pt x="3932756" y="2790086"/>
                </a:lnTo>
                <a:lnTo>
                  <a:pt x="3898924" y="2817995"/>
                </a:lnTo>
                <a:lnTo>
                  <a:pt x="3860095" y="2839065"/>
                </a:lnTo>
                <a:lnTo>
                  <a:pt x="3817183" y="2852381"/>
                </a:lnTo>
                <a:lnTo>
                  <a:pt x="3771136" y="2857023"/>
                </a:lnTo>
                <a:close/>
              </a:path>
            </a:pathLst>
          </a:custGeom>
          <a:solidFill>
            <a:srgbClr val="CBC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372032" y="6630521"/>
            <a:ext cx="2025650" cy="170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00" b="1" spc="-455" dirty="0">
                <a:solidFill>
                  <a:srgbClr val="002566"/>
                </a:solidFill>
                <a:latin typeface="Trebuchet MS"/>
                <a:cs typeface="Trebuchet MS"/>
              </a:rPr>
              <a:t>37.13%</a:t>
            </a:r>
            <a:endParaRPr sz="5400">
              <a:latin typeface="Trebuchet MS"/>
              <a:cs typeface="Trebuchet MS"/>
            </a:endParaRPr>
          </a:p>
          <a:p>
            <a:pPr marL="161925">
              <a:lnSpc>
                <a:spcPct val="100000"/>
              </a:lnSpc>
              <a:spcBef>
                <a:spcPts val="2030"/>
              </a:spcBef>
            </a:pPr>
            <a:r>
              <a:rPr sz="2000" b="1" spc="-265" dirty="0">
                <a:solidFill>
                  <a:srgbClr val="2D3780"/>
                </a:solidFill>
                <a:latin typeface="Trebuchet MS"/>
                <a:cs typeface="Trebuchet MS"/>
              </a:rPr>
              <a:t>F1-</a:t>
            </a:r>
            <a:r>
              <a:rPr sz="2000" b="1" dirty="0">
                <a:solidFill>
                  <a:srgbClr val="2D3780"/>
                </a:solidFill>
                <a:latin typeface="Trebuchet MS"/>
                <a:cs typeface="Trebuchet MS"/>
              </a:rPr>
              <a:t>Score</a:t>
            </a:r>
            <a:r>
              <a:rPr sz="2000" b="1" spc="1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2D3780"/>
                </a:solidFill>
                <a:latin typeface="Trebuchet MS"/>
                <a:cs typeface="Trebuchet MS"/>
              </a:rPr>
              <a:t>News</a:t>
            </a:r>
            <a:endParaRPr sz="2000">
              <a:latin typeface="Trebuchet MS"/>
              <a:cs typeface="Trebuchet MS"/>
            </a:endParaRPr>
          </a:p>
          <a:p>
            <a:pPr marL="325120">
              <a:lnSpc>
                <a:spcPct val="100000"/>
              </a:lnSpc>
              <a:spcBef>
                <a:spcPts val="260"/>
              </a:spcBef>
            </a:pPr>
            <a:r>
              <a:rPr sz="1700" spc="-55" dirty="0">
                <a:solidFill>
                  <a:srgbClr val="2D3780"/>
                </a:solidFill>
                <a:latin typeface="Trebuchet MS"/>
                <a:cs typeface="Trebuchet MS"/>
              </a:rPr>
              <a:t>(plus</a:t>
            </a:r>
            <a:r>
              <a:rPr sz="1700" spc="-5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D3780"/>
                </a:solidFill>
                <a:latin typeface="Trebuchet MS"/>
                <a:cs typeface="Trebuchet MS"/>
              </a:rPr>
              <a:t>faible)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670317" y="6073658"/>
            <a:ext cx="3714115" cy="2857500"/>
          </a:xfrm>
          <a:custGeom>
            <a:avLst/>
            <a:gdLst/>
            <a:ahLst/>
            <a:cxnLst/>
            <a:rect l="l" t="t" r="r" b="b"/>
            <a:pathLst>
              <a:path w="3714115" h="2857500">
                <a:moveTo>
                  <a:pt x="3485483" y="2857023"/>
                </a:moveTo>
                <a:lnTo>
                  <a:pt x="228599" y="2857023"/>
                </a:lnTo>
                <a:lnTo>
                  <a:pt x="182542" y="2852381"/>
                </a:lnTo>
                <a:lnTo>
                  <a:pt x="139638" y="2839065"/>
                </a:lnTo>
                <a:lnTo>
                  <a:pt x="100807" y="2817995"/>
                </a:lnTo>
                <a:lnTo>
                  <a:pt x="66972" y="2790086"/>
                </a:lnTo>
                <a:lnTo>
                  <a:pt x="39053" y="2756257"/>
                </a:lnTo>
                <a:lnTo>
                  <a:pt x="17971" y="2717425"/>
                </a:lnTo>
                <a:lnTo>
                  <a:pt x="4646" y="2674508"/>
                </a:lnTo>
                <a:lnTo>
                  <a:pt x="0" y="2628423"/>
                </a:lnTo>
                <a:lnTo>
                  <a:pt x="0" y="228599"/>
                </a:lnTo>
                <a:lnTo>
                  <a:pt x="4642" y="182514"/>
                </a:lnTo>
                <a:lnTo>
                  <a:pt x="17957" y="139597"/>
                </a:lnTo>
                <a:lnTo>
                  <a:pt x="39028" y="100765"/>
                </a:lnTo>
                <a:lnTo>
                  <a:pt x="66936" y="66936"/>
                </a:lnTo>
                <a:lnTo>
                  <a:pt x="100765" y="39028"/>
                </a:lnTo>
                <a:lnTo>
                  <a:pt x="139597" y="17957"/>
                </a:lnTo>
                <a:lnTo>
                  <a:pt x="182514" y="4642"/>
                </a:lnTo>
                <a:lnTo>
                  <a:pt x="228599" y="0"/>
                </a:lnTo>
                <a:lnTo>
                  <a:pt x="3485483" y="0"/>
                </a:lnTo>
                <a:lnTo>
                  <a:pt x="3531540" y="4642"/>
                </a:lnTo>
                <a:lnTo>
                  <a:pt x="3574445" y="17957"/>
                </a:lnTo>
                <a:lnTo>
                  <a:pt x="3613275" y="39028"/>
                </a:lnTo>
                <a:lnTo>
                  <a:pt x="3647110" y="66936"/>
                </a:lnTo>
                <a:lnTo>
                  <a:pt x="3675029" y="100765"/>
                </a:lnTo>
                <a:lnTo>
                  <a:pt x="3696112" y="139597"/>
                </a:lnTo>
                <a:lnTo>
                  <a:pt x="3709437" y="182514"/>
                </a:lnTo>
                <a:lnTo>
                  <a:pt x="3714083" y="228599"/>
                </a:lnTo>
                <a:lnTo>
                  <a:pt x="3714083" y="2628423"/>
                </a:lnTo>
                <a:lnTo>
                  <a:pt x="3709432" y="2674508"/>
                </a:lnTo>
                <a:lnTo>
                  <a:pt x="3696103" y="2717425"/>
                </a:lnTo>
                <a:lnTo>
                  <a:pt x="3675020" y="2756257"/>
                </a:lnTo>
                <a:lnTo>
                  <a:pt x="3647103" y="2790086"/>
                </a:lnTo>
                <a:lnTo>
                  <a:pt x="3613271" y="2817995"/>
                </a:lnTo>
                <a:lnTo>
                  <a:pt x="3574442" y="2839065"/>
                </a:lnTo>
                <a:lnTo>
                  <a:pt x="3531529" y="2852381"/>
                </a:lnTo>
                <a:lnTo>
                  <a:pt x="3485483" y="2857023"/>
                </a:lnTo>
                <a:close/>
              </a:path>
            </a:pathLst>
          </a:custGeom>
          <a:solidFill>
            <a:srgbClr val="CBC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583236" y="6630521"/>
            <a:ext cx="1888489" cy="1411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400" b="1" spc="260" dirty="0">
                <a:solidFill>
                  <a:srgbClr val="002566"/>
                </a:solidFill>
                <a:latin typeface="Trebuchet MS"/>
                <a:cs typeface="Trebuchet MS"/>
              </a:rPr>
              <a:t>4/4</a:t>
            </a:r>
            <a:endParaRPr sz="5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030"/>
              </a:spcBef>
            </a:pPr>
            <a:r>
              <a:rPr sz="2000" b="1" spc="55" dirty="0">
                <a:solidFill>
                  <a:srgbClr val="2D3780"/>
                </a:solidFill>
                <a:latin typeface="Trebuchet MS"/>
                <a:cs typeface="Trebuchet MS"/>
              </a:rPr>
              <a:t>Datasets</a:t>
            </a:r>
            <a:r>
              <a:rPr sz="2000" b="1" spc="-9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2D3780"/>
                </a:solidFill>
                <a:latin typeface="Trebuchet MS"/>
                <a:cs typeface="Trebuchet MS"/>
              </a:rPr>
              <a:t>testés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EB937E7-77E0-4B4D-887D-B837A94F02E8}"/>
              </a:ext>
            </a:extLst>
          </p:cNvPr>
          <p:cNvSpPr txBox="1"/>
          <p:nvPr/>
        </p:nvSpPr>
        <p:spPr>
          <a:xfrm>
            <a:off x="17580393" y="9475596"/>
            <a:ext cx="4013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2000" spc="150" dirty="0">
                <a:solidFill>
                  <a:srgbClr val="2D3780"/>
                </a:solidFill>
                <a:latin typeface="Trebuchet MS"/>
                <a:cs typeface="Trebuchet MS"/>
              </a:rPr>
              <a:t>20</a:t>
            </a:fld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137" rIns="0" bIns="0" rtlCol="0">
            <a:spAutoFit/>
          </a:bodyPr>
          <a:lstStyle/>
          <a:p>
            <a:pPr marL="3878579">
              <a:lnSpc>
                <a:spcPct val="100000"/>
              </a:lnSpc>
              <a:spcBef>
                <a:spcPts val="100"/>
              </a:spcBef>
            </a:pPr>
            <a:r>
              <a:rPr spc="-650" dirty="0">
                <a:solidFill>
                  <a:srgbClr val="2D3780"/>
                </a:solidFill>
              </a:rPr>
              <a:t>Analyse</a:t>
            </a:r>
            <a:r>
              <a:rPr spc="110" dirty="0">
                <a:solidFill>
                  <a:srgbClr val="2D3780"/>
                </a:solidFill>
              </a:rPr>
              <a:t> </a:t>
            </a:r>
            <a:r>
              <a:rPr spc="-944" dirty="0">
                <a:solidFill>
                  <a:srgbClr val="2D3780"/>
                </a:solidFill>
              </a:rPr>
              <a:t>des</a:t>
            </a:r>
            <a:r>
              <a:rPr spc="114" dirty="0">
                <a:solidFill>
                  <a:srgbClr val="2D3780"/>
                </a:solidFill>
              </a:rPr>
              <a:t> </a:t>
            </a:r>
            <a:r>
              <a:rPr spc="-860" dirty="0">
                <a:solidFill>
                  <a:srgbClr val="2D3780"/>
                </a:solidFill>
              </a:rPr>
              <a:t>Performances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055" y="0"/>
            <a:ext cx="18257520" cy="5745480"/>
            <a:chOff x="31055" y="0"/>
            <a:chExt cx="18257520" cy="57454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2668" y="1704487"/>
              <a:ext cx="9782718" cy="40408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175" y="0"/>
              <a:ext cx="5091430" cy="2152650"/>
            </a:xfrm>
            <a:custGeom>
              <a:avLst/>
              <a:gdLst/>
              <a:ahLst/>
              <a:cxnLst/>
              <a:rect l="l" t="t" r="r" b="b"/>
              <a:pathLst>
                <a:path w="5091430" h="2152650">
                  <a:moveTo>
                    <a:pt x="5090895" y="0"/>
                  </a:moveTo>
                  <a:lnTo>
                    <a:pt x="0" y="0"/>
                  </a:lnTo>
                  <a:lnTo>
                    <a:pt x="2152857" y="2152230"/>
                  </a:lnTo>
                  <a:lnTo>
                    <a:pt x="2152857" y="1695770"/>
                  </a:lnTo>
                  <a:lnTo>
                    <a:pt x="5090895" y="0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175" y="0"/>
              <a:ext cx="2153920" cy="2153285"/>
            </a:xfrm>
            <a:custGeom>
              <a:avLst/>
              <a:gdLst/>
              <a:ahLst/>
              <a:cxnLst/>
              <a:rect l="l" t="t" r="r" b="b"/>
              <a:pathLst>
                <a:path w="2153920" h="2153285">
                  <a:moveTo>
                    <a:pt x="462425" y="0"/>
                  </a:moveTo>
                  <a:lnTo>
                    <a:pt x="0" y="0"/>
                  </a:lnTo>
                  <a:lnTo>
                    <a:pt x="2153484" y="2152857"/>
                  </a:lnTo>
                  <a:lnTo>
                    <a:pt x="2153484" y="1695770"/>
                  </a:lnTo>
                  <a:lnTo>
                    <a:pt x="462425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055" y="0"/>
              <a:ext cx="1394460" cy="2167255"/>
            </a:xfrm>
            <a:custGeom>
              <a:avLst/>
              <a:gdLst/>
              <a:ahLst/>
              <a:cxnLst/>
              <a:rect l="l" t="t" r="r" b="b"/>
              <a:pathLst>
                <a:path w="1394460" h="2167255">
                  <a:moveTo>
                    <a:pt x="29120" y="0"/>
                  </a:moveTo>
                  <a:lnTo>
                    <a:pt x="0" y="0"/>
                  </a:lnTo>
                  <a:lnTo>
                    <a:pt x="0" y="2166651"/>
                  </a:lnTo>
                  <a:lnTo>
                    <a:pt x="1394459" y="1365338"/>
                  </a:lnTo>
                  <a:lnTo>
                    <a:pt x="29120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358141" y="0"/>
              <a:ext cx="4930140" cy="2152650"/>
            </a:xfrm>
            <a:custGeom>
              <a:avLst/>
              <a:gdLst/>
              <a:ahLst/>
              <a:cxnLst/>
              <a:rect l="l" t="t" r="r" b="b"/>
              <a:pathLst>
                <a:path w="4930140" h="2152650">
                  <a:moveTo>
                    <a:pt x="0" y="0"/>
                  </a:moveTo>
                  <a:lnTo>
                    <a:pt x="4929858" y="0"/>
                  </a:lnTo>
                  <a:lnTo>
                    <a:pt x="4929858" y="161037"/>
                  </a:lnTo>
                  <a:lnTo>
                    <a:pt x="2938038" y="2152230"/>
                  </a:lnTo>
                  <a:lnTo>
                    <a:pt x="2938038" y="1695770"/>
                  </a:lnTo>
                  <a:lnTo>
                    <a:pt x="2937411" y="1695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95552" y="0"/>
              <a:ext cx="1992630" cy="2153285"/>
            </a:xfrm>
            <a:custGeom>
              <a:avLst/>
              <a:gdLst/>
              <a:ahLst/>
              <a:cxnLst/>
              <a:rect l="l" t="t" r="r" b="b"/>
              <a:pathLst>
                <a:path w="1992630" h="2153285">
                  <a:moveTo>
                    <a:pt x="1691058" y="0"/>
                  </a:moveTo>
                  <a:lnTo>
                    <a:pt x="1992446" y="0"/>
                  </a:lnTo>
                  <a:lnTo>
                    <a:pt x="1992446" y="161037"/>
                  </a:lnTo>
                  <a:lnTo>
                    <a:pt x="0" y="2152857"/>
                  </a:lnTo>
                  <a:lnTo>
                    <a:pt x="0" y="1695770"/>
                  </a:lnTo>
                  <a:lnTo>
                    <a:pt x="1691058" y="0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083696" y="161036"/>
              <a:ext cx="1204595" cy="1896745"/>
            </a:xfrm>
            <a:custGeom>
              <a:avLst/>
              <a:gdLst/>
              <a:ahLst/>
              <a:cxnLst/>
              <a:rect l="l" t="t" r="r" b="b"/>
              <a:pathLst>
                <a:path w="1204594" h="1896745">
                  <a:moveTo>
                    <a:pt x="1204301" y="0"/>
                  </a:moveTo>
                  <a:lnTo>
                    <a:pt x="1204301" y="1896341"/>
                  </a:lnTo>
                  <a:lnTo>
                    <a:pt x="0" y="1204301"/>
                  </a:lnTo>
                  <a:lnTo>
                    <a:pt x="1204301" y="0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9957" y="5936202"/>
            <a:ext cx="9885352" cy="41118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580393" y="9475596"/>
            <a:ext cx="4013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2000" spc="150" dirty="0">
                <a:solidFill>
                  <a:srgbClr val="2D3780"/>
                </a:solidFill>
                <a:latin typeface="Trebuchet MS"/>
                <a:cs typeface="Trebuchet MS"/>
              </a:rPr>
              <a:t>21</a:t>
            </a:fld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spc="-650" dirty="0">
                <a:solidFill>
                  <a:srgbClr val="2D3780"/>
                </a:solidFill>
              </a:rPr>
              <a:t>Analyse</a:t>
            </a:r>
            <a:r>
              <a:rPr spc="110" dirty="0">
                <a:solidFill>
                  <a:srgbClr val="2D3780"/>
                </a:solidFill>
              </a:rPr>
              <a:t> </a:t>
            </a:r>
            <a:r>
              <a:rPr spc="-944" dirty="0">
                <a:solidFill>
                  <a:srgbClr val="2D3780"/>
                </a:solidFill>
              </a:rPr>
              <a:t>des</a:t>
            </a:r>
            <a:r>
              <a:rPr spc="114" dirty="0">
                <a:solidFill>
                  <a:srgbClr val="2D3780"/>
                </a:solidFill>
              </a:rPr>
              <a:t> </a:t>
            </a:r>
            <a:r>
              <a:rPr spc="-860" dirty="0">
                <a:solidFill>
                  <a:srgbClr val="2D3780"/>
                </a:solidFill>
              </a:rPr>
              <a:t>Performances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024037" y="0"/>
            <a:ext cx="2264410" cy="7191375"/>
            <a:chOff x="16024037" y="0"/>
            <a:chExt cx="2264410" cy="7191375"/>
          </a:xfrm>
        </p:grpSpPr>
        <p:sp>
          <p:nvSpPr>
            <p:cNvPr id="4" name="object 4"/>
            <p:cNvSpPr/>
            <p:nvPr/>
          </p:nvSpPr>
          <p:spPr>
            <a:xfrm>
              <a:off x="16024037" y="0"/>
              <a:ext cx="2264410" cy="3739515"/>
            </a:xfrm>
            <a:custGeom>
              <a:avLst/>
              <a:gdLst/>
              <a:ahLst/>
              <a:cxnLst/>
              <a:rect l="l" t="t" r="r" b="b"/>
              <a:pathLst>
                <a:path w="2264409" h="3739515">
                  <a:moveTo>
                    <a:pt x="2263963" y="3739458"/>
                  </a:moveTo>
                  <a:lnTo>
                    <a:pt x="0" y="1268722"/>
                  </a:lnTo>
                  <a:lnTo>
                    <a:pt x="0" y="0"/>
                  </a:lnTo>
                  <a:lnTo>
                    <a:pt x="2263963" y="0"/>
                  </a:lnTo>
                  <a:lnTo>
                    <a:pt x="2263963" y="3739458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024037" y="0"/>
              <a:ext cx="2264410" cy="3739515"/>
            </a:xfrm>
            <a:custGeom>
              <a:avLst/>
              <a:gdLst/>
              <a:ahLst/>
              <a:cxnLst/>
              <a:rect l="l" t="t" r="r" b="b"/>
              <a:pathLst>
                <a:path w="2264409" h="3739515">
                  <a:moveTo>
                    <a:pt x="2263963" y="3739006"/>
                  </a:moveTo>
                  <a:lnTo>
                    <a:pt x="0" y="1268722"/>
                  </a:lnTo>
                  <a:lnTo>
                    <a:pt x="0" y="0"/>
                  </a:lnTo>
                  <a:lnTo>
                    <a:pt x="2263963" y="0"/>
                  </a:lnTo>
                  <a:lnTo>
                    <a:pt x="2263963" y="3739006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024037" y="2960410"/>
              <a:ext cx="2264410" cy="4231005"/>
            </a:xfrm>
            <a:custGeom>
              <a:avLst/>
              <a:gdLst/>
              <a:ahLst/>
              <a:cxnLst/>
              <a:rect l="l" t="t" r="r" b="b"/>
              <a:pathLst>
                <a:path w="2264409" h="4231005">
                  <a:moveTo>
                    <a:pt x="2263963" y="4230456"/>
                  </a:moveTo>
                  <a:lnTo>
                    <a:pt x="0" y="1760124"/>
                  </a:lnTo>
                  <a:lnTo>
                    <a:pt x="0" y="0"/>
                  </a:lnTo>
                  <a:lnTo>
                    <a:pt x="2263963" y="2470332"/>
                  </a:lnTo>
                  <a:lnTo>
                    <a:pt x="2263963" y="4230456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7635" y="1684254"/>
            <a:ext cx="6068581" cy="41433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0" y="1705456"/>
            <a:ext cx="6067424" cy="41243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0216" y="5957668"/>
            <a:ext cx="6085719" cy="41213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60709" y="5947617"/>
            <a:ext cx="6126214" cy="416675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580393" y="9475596"/>
            <a:ext cx="40132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2000" spc="150" dirty="0">
                <a:solidFill>
                  <a:srgbClr val="2D3780"/>
                </a:solidFill>
                <a:latin typeface="Trebuchet MS"/>
                <a:cs typeface="Trebuchet MS"/>
              </a:rPr>
              <a:t>22</a:t>
            </a:fld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70" rIns="0" bIns="0" rtlCol="0">
            <a:spAutoFit/>
          </a:bodyPr>
          <a:lstStyle/>
          <a:p>
            <a:pPr marL="3815079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Analyse</a:t>
            </a:r>
            <a:r>
              <a:rPr spc="110" dirty="0"/>
              <a:t> </a:t>
            </a:r>
            <a:r>
              <a:rPr spc="-944" dirty="0"/>
              <a:t>des</a:t>
            </a:r>
            <a:r>
              <a:rPr spc="114" dirty="0"/>
              <a:t> </a:t>
            </a:r>
            <a:r>
              <a:rPr spc="-860" dirty="0"/>
              <a:t>Performances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07" y="0"/>
            <a:ext cx="16879570" cy="6419215"/>
            <a:chOff x="10907" y="0"/>
            <a:chExt cx="16879570" cy="64192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2684" y="1873431"/>
              <a:ext cx="13327735" cy="45457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07" y="0"/>
              <a:ext cx="3914775" cy="2639060"/>
            </a:xfrm>
            <a:custGeom>
              <a:avLst/>
              <a:gdLst/>
              <a:ahLst/>
              <a:cxnLst/>
              <a:rect l="l" t="t" r="r" b="b"/>
              <a:pathLst>
                <a:path w="3914775" h="2639060">
                  <a:moveTo>
                    <a:pt x="1496663" y="2638583"/>
                  </a:moveTo>
                  <a:lnTo>
                    <a:pt x="0" y="1005226"/>
                  </a:lnTo>
                  <a:lnTo>
                    <a:pt x="0" y="0"/>
                  </a:lnTo>
                  <a:lnTo>
                    <a:pt x="3914265" y="0"/>
                  </a:lnTo>
                  <a:lnTo>
                    <a:pt x="1496663" y="2638583"/>
                  </a:lnTo>
                  <a:close/>
                </a:path>
              </a:pathLst>
            </a:custGeom>
            <a:solidFill>
              <a:srgbClr val="615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907" y="0"/>
              <a:ext cx="2223770" cy="2633345"/>
            </a:xfrm>
            <a:custGeom>
              <a:avLst/>
              <a:gdLst/>
              <a:ahLst/>
              <a:cxnLst/>
              <a:rect l="l" t="t" r="r" b="b"/>
              <a:pathLst>
                <a:path w="2223770" h="2633345">
                  <a:moveTo>
                    <a:pt x="1491898" y="2633086"/>
                  </a:moveTo>
                  <a:lnTo>
                    <a:pt x="0" y="1005226"/>
                  </a:lnTo>
                  <a:lnTo>
                    <a:pt x="0" y="0"/>
                  </a:lnTo>
                  <a:lnTo>
                    <a:pt x="580121" y="0"/>
                  </a:lnTo>
                  <a:lnTo>
                    <a:pt x="2223739" y="1834181"/>
                  </a:lnTo>
                  <a:lnTo>
                    <a:pt x="1491898" y="2633086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07" y="0"/>
              <a:ext cx="4457065" cy="3526790"/>
            </a:xfrm>
            <a:custGeom>
              <a:avLst/>
              <a:gdLst/>
              <a:ahLst/>
              <a:cxnLst/>
              <a:rect l="l" t="t" r="r" b="b"/>
              <a:pathLst>
                <a:path w="4457065" h="3526790">
                  <a:moveTo>
                    <a:pt x="1226208" y="3526173"/>
                  </a:moveTo>
                  <a:lnTo>
                    <a:pt x="0" y="2188191"/>
                  </a:lnTo>
                  <a:lnTo>
                    <a:pt x="0" y="1584982"/>
                  </a:lnTo>
                  <a:lnTo>
                    <a:pt x="1226208" y="2922964"/>
                  </a:lnTo>
                  <a:lnTo>
                    <a:pt x="3913898" y="0"/>
                  </a:lnTo>
                  <a:lnTo>
                    <a:pt x="4457007" y="0"/>
                  </a:lnTo>
                  <a:lnTo>
                    <a:pt x="1226208" y="3526173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21004" y="6535383"/>
            <a:ext cx="48837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i="1" spc="-35" dirty="0">
                <a:solidFill>
                  <a:srgbClr val="64748A"/>
                </a:solidFill>
                <a:latin typeface="Trebuchet MS"/>
                <a:cs typeface="Trebuchet MS"/>
              </a:rPr>
              <a:t>Ablation </a:t>
            </a:r>
            <a:r>
              <a:rPr sz="1400" i="1" spc="-20" dirty="0">
                <a:solidFill>
                  <a:srgbClr val="64748A"/>
                </a:solidFill>
                <a:latin typeface="Trebuchet MS"/>
                <a:cs typeface="Trebuchet MS"/>
              </a:rPr>
              <a:t>Study</a:t>
            </a:r>
            <a:r>
              <a:rPr sz="1400" i="1" spc="-30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64748A"/>
                </a:solidFill>
                <a:latin typeface="Trebuchet MS"/>
                <a:cs typeface="Trebuchet MS"/>
              </a:rPr>
              <a:t>—</a:t>
            </a:r>
            <a:r>
              <a:rPr sz="1400" i="1" spc="-35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64748A"/>
                </a:solidFill>
                <a:latin typeface="Trebuchet MS"/>
                <a:cs typeface="Trebuchet MS"/>
              </a:rPr>
              <a:t>impact</a:t>
            </a:r>
            <a:r>
              <a:rPr sz="1400" i="1" spc="-30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64748A"/>
                </a:solidFill>
                <a:latin typeface="Trebuchet MS"/>
                <a:cs typeface="Trebuchet MS"/>
              </a:rPr>
              <a:t>de</a:t>
            </a:r>
            <a:r>
              <a:rPr sz="1400" i="1" spc="-35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64748A"/>
                </a:solidFill>
                <a:latin typeface="Trebuchet MS"/>
                <a:cs typeface="Trebuchet MS"/>
              </a:rPr>
              <a:t>chaque</a:t>
            </a:r>
            <a:r>
              <a:rPr sz="1400" i="1" spc="-30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64748A"/>
                </a:solidFill>
                <a:latin typeface="Trebuchet MS"/>
                <a:cs typeface="Trebuchet MS"/>
              </a:rPr>
              <a:t>module </a:t>
            </a:r>
            <a:r>
              <a:rPr sz="1400" i="1" spc="-20" dirty="0">
                <a:solidFill>
                  <a:srgbClr val="64748A"/>
                </a:solidFill>
                <a:latin typeface="Trebuchet MS"/>
                <a:cs typeface="Trebuchet MS"/>
              </a:rPr>
              <a:t>(dataset</a:t>
            </a:r>
            <a:r>
              <a:rPr sz="1400" i="1" spc="-30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64748A"/>
                </a:solidFill>
                <a:latin typeface="Trebuchet MS"/>
                <a:cs typeface="Trebuchet MS"/>
              </a:rPr>
              <a:t>Telecom)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50855" y="7314891"/>
            <a:ext cx="6353810" cy="2496185"/>
            <a:chOff x="3450855" y="7314891"/>
            <a:chExt cx="6353810" cy="2496185"/>
          </a:xfrm>
        </p:grpSpPr>
        <p:sp>
          <p:nvSpPr>
            <p:cNvPr id="10" name="object 10"/>
            <p:cNvSpPr/>
            <p:nvPr/>
          </p:nvSpPr>
          <p:spPr>
            <a:xfrm>
              <a:off x="3465460" y="7329496"/>
              <a:ext cx="6324600" cy="2466975"/>
            </a:xfrm>
            <a:custGeom>
              <a:avLst/>
              <a:gdLst/>
              <a:ahLst/>
              <a:cxnLst/>
              <a:rect l="l" t="t" r="r" b="b"/>
              <a:pathLst>
                <a:path w="6324600" h="2466975">
                  <a:moveTo>
                    <a:pt x="6324599" y="2373505"/>
                  </a:moveTo>
                  <a:lnTo>
                    <a:pt x="6319749" y="2398799"/>
                  </a:lnTo>
                  <a:lnTo>
                    <a:pt x="6296079" y="2435743"/>
                  </a:lnTo>
                  <a:lnTo>
                    <a:pt x="6260961" y="2460644"/>
                  </a:lnTo>
                  <a:lnTo>
                    <a:pt x="6231126" y="2466974"/>
                  </a:lnTo>
                </a:path>
                <a:path w="6324600" h="2466975">
                  <a:moveTo>
                    <a:pt x="97351" y="2466974"/>
                  </a:moveTo>
                  <a:lnTo>
                    <a:pt x="67516" y="2460643"/>
                  </a:lnTo>
                  <a:lnTo>
                    <a:pt x="32399" y="2435742"/>
                  </a:lnTo>
                  <a:lnTo>
                    <a:pt x="8729" y="2398799"/>
                  </a:lnTo>
                  <a:lnTo>
                    <a:pt x="0" y="2353543"/>
                  </a:lnTo>
                  <a:lnTo>
                    <a:pt x="1" y="116219"/>
                  </a:lnTo>
                  <a:lnTo>
                    <a:pt x="8729" y="70972"/>
                  </a:lnTo>
                  <a:lnTo>
                    <a:pt x="32399" y="34029"/>
                  </a:lnTo>
                  <a:lnTo>
                    <a:pt x="67517" y="9129"/>
                  </a:lnTo>
                  <a:lnTo>
                    <a:pt x="110537" y="0"/>
                  </a:lnTo>
                  <a:lnTo>
                    <a:pt x="6217940" y="0"/>
                  </a:lnTo>
                  <a:lnTo>
                    <a:pt x="6260960" y="9128"/>
                  </a:lnTo>
                  <a:lnTo>
                    <a:pt x="6296078" y="34029"/>
                  </a:lnTo>
                  <a:lnTo>
                    <a:pt x="6319749" y="70972"/>
                  </a:lnTo>
                  <a:lnTo>
                    <a:pt x="6324599" y="96267"/>
                  </a:lnTo>
                </a:path>
              </a:pathLst>
            </a:custGeom>
            <a:ln w="28597">
              <a:solidFill>
                <a:srgbClr val="D6DE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70960" y="8049615"/>
              <a:ext cx="57150" cy="554990"/>
            </a:xfrm>
            <a:custGeom>
              <a:avLst/>
              <a:gdLst/>
              <a:ahLst/>
              <a:cxnLst/>
              <a:rect l="l" t="t" r="r" b="b"/>
              <a:pathLst>
                <a:path w="57150" h="554990">
                  <a:moveTo>
                    <a:pt x="57150" y="522300"/>
                  </a:moveTo>
                  <a:lnTo>
                    <a:pt x="32359" y="497509"/>
                  </a:lnTo>
                  <a:lnTo>
                    <a:pt x="24790" y="497509"/>
                  </a:lnTo>
                  <a:lnTo>
                    <a:pt x="0" y="522300"/>
                  </a:lnTo>
                  <a:lnTo>
                    <a:pt x="0" y="529882"/>
                  </a:lnTo>
                  <a:lnTo>
                    <a:pt x="24790" y="554659"/>
                  </a:lnTo>
                  <a:lnTo>
                    <a:pt x="32359" y="554659"/>
                  </a:lnTo>
                  <a:lnTo>
                    <a:pt x="57150" y="529882"/>
                  </a:lnTo>
                  <a:lnTo>
                    <a:pt x="57150" y="526084"/>
                  </a:lnTo>
                  <a:lnTo>
                    <a:pt x="57150" y="522300"/>
                  </a:lnTo>
                  <a:close/>
                </a:path>
                <a:path w="57150" h="554990">
                  <a:moveTo>
                    <a:pt x="57150" y="24777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2D37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34442" y="7508744"/>
            <a:ext cx="5607685" cy="1172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2D3780"/>
                </a:solidFill>
                <a:latin typeface="Trebuchet MS"/>
                <a:cs typeface="Trebuchet MS"/>
              </a:rPr>
              <a:t>Observations</a:t>
            </a:r>
            <a:r>
              <a:rPr sz="1850" b="1" spc="229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850" b="1" spc="60" dirty="0">
                <a:solidFill>
                  <a:srgbClr val="2D3780"/>
                </a:solidFill>
                <a:latin typeface="Trebuchet MS"/>
                <a:cs typeface="Trebuchet MS"/>
              </a:rPr>
              <a:t>Clés</a:t>
            </a:r>
            <a:endParaRPr sz="1850">
              <a:latin typeface="Trebuchet MS"/>
              <a:cs typeface="Trebuchet MS"/>
            </a:endParaRPr>
          </a:p>
          <a:p>
            <a:pPr marL="313690" marR="5080" indent="47625">
              <a:lnSpc>
                <a:spcPct val="102699"/>
              </a:lnSpc>
              <a:spcBef>
                <a:spcPts val="1140"/>
              </a:spcBef>
            </a:pPr>
            <a:r>
              <a:rPr sz="1400" spc="-50" dirty="0">
                <a:solidFill>
                  <a:srgbClr val="2D3780"/>
                </a:solidFill>
                <a:latin typeface="Trebuchet MS"/>
                <a:cs typeface="Trebuchet MS"/>
              </a:rPr>
              <a:t>Attention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seule </a:t>
            </a:r>
            <a:r>
              <a:rPr sz="1400" spc="-150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84.77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175" dirty="0">
                <a:solidFill>
                  <a:srgbClr val="2D3780"/>
                </a:solidFill>
                <a:latin typeface="Trebuchet MS"/>
                <a:cs typeface="Trebuchet MS"/>
              </a:rPr>
              <a:t>%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2D3780"/>
                </a:solidFill>
                <a:latin typeface="Trebuchet MS"/>
                <a:cs typeface="Trebuchet MS"/>
              </a:rPr>
              <a:t>—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D3780"/>
                </a:solidFill>
                <a:latin typeface="Trebuchet MS"/>
                <a:cs typeface="Trebuchet MS"/>
              </a:rPr>
              <a:t>bonnes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interactions 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globales,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manque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de </a:t>
            </a:r>
            <a:r>
              <a:rPr sz="1400" spc="-10" dirty="0">
                <a:solidFill>
                  <a:srgbClr val="2D3780"/>
                </a:solidFill>
                <a:latin typeface="Trebuchet MS"/>
                <a:cs typeface="Trebuchet MS"/>
              </a:rPr>
              <a:t>localité</a:t>
            </a:r>
            <a:endParaRPr sz="1400">
              <a:latin typeface="Trebuchet MS"/>
              <a:cs typeface="Trebuchet MS"/>
            </a:endParaRPr>
          </a:p>
          <a:p>
            <a:pPr marL="361950">
              <a:lnSpc>
                <a:spcPct val="100000"/>
              </a:lnSpc>
              <a:spcBef>
                <a:spcPts val="515"/>
              </a:spcBef>
            </a:pP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BiLSTM 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seul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150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D3780"/>
                </a:solidFill>
                <a:latin typeface="Trebuchet MS"/>
                <a:cs typeface="Trebuchet MS"/>
              </a:rPr>
              <a:t>85.43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175" dirty="0">
                <a:solidFill>
                  <a:srgbClr val="2D3780"/>
                </a:solidFill>
                <a:latin typeface="Trebuchet MS"/>
                <a:cs typeface="Trebuchet MS"/>
              </a:rPr>
              <a:t>%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2D3780"/>
                </a:solidFill>
                <a:latin typeface="Trebuchet MS"/>
                <a:cs typeface="Trebuchet MS"/>
              </a:rPr>
              <a:t>—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D3780"/>
                </a:solidFill>
                <a:latin typeface="Trebuchet MS"/>
                <a:cs typeface="Trebuchet MS"/>
              </a:rPr>
              <a:t>meilleure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capture</a:t>
            </a:r>
            <a:r>
              <a:rPr sz="1400" spc="-4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D3780"/>
                </a:solidFill>
                <a:latin typeface="Trebuchet MS"/>
                <a:cs typeface="Trebuchet MS"/>
              </a:rPr>
              <a:t>temporelle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70960" y="8958935"/>
            <a:ext cx="57150" cy="383540"/>
          </a:xfrm>
          <a:custGeom>
            <a:avLst/>
            <a:gdLst/>
            <a:ahLst/>
            <a:cxnLst/>
            <a:rect l="l" t="t" r="r" b="b"/>
            <a:pathLst>
              <a:path w="57150" h="383540">
                <a:moveTo>
                  <a:pt x="57150" y="350862"/>
                </a:moveTo>
                <a:lnTo>
                  <a:pt x="32359" y="326072"/>
                </a:lnTo>
                <a:lnTo>
                  <a:pt x="24790" y="326072"/>
                </a:lnTo>
                <a:lnTo>
                  <a:pt x="0" y="350862"/>
                </a:lnTo>
                <a:lnTo>
                  <a:pt x="0" y="358444"/>
                </a:lnTo>
                <a:lnTo>
                  <a:pt x="24790" y="383222"/>
                </a:lnTo>
                <a:lnTo>
                  <a:pt x="32359" y="383222"/>
                </a:lnTo>
                <a:lnTo>
                  <a:pt x="57150" y="358444"/>
                </a:lnTo>
                <a:lnTo>
                  <a:pt x="57150" y="354647"/>
                </a:lnTo>
                <a:lnTo>
                  <a:pt x="57150" y="350862"/>
                </a:lnTo>
                <a:close/>
              </a:path>
              <a:path w="57150" h="383540">
                <a:moveTo>
                  <a:pt x="57150" y="24790"/>
                </a:moveTo>
                <a:lnTo>
                  <a:pt x="32359" y="0"/>
                </a:lnTo>
                <a:lnTo>
                  <a:pt x="24790" y="0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close/>
              </a:path>
            </a:pathLst>
          </a:custGeom>
          <a:solidFill>
            <a:srgbClr val="2D37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35819" y="8741327"/>
            <a:ext cx="4696460" cy="89725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dirty="0">
                <a:solidFill>
                  <a:srgbClr val="2D3780"/>
                </a:solidFill>
                <a:latin typeface="Trebuchet MS"/>
                <a:cs typeface="Trebuchet MS"/>
              </a:rPr>
              <a:t>CNN</a:t>
            </a:r>
            <a:r>
              <a:rPr sz="1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seul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150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D3780"/>
                </a:solidFill>
                <a:latin typeface="Trebuchet MS"/>
                <a:cs typeface="Trebuchet MS"/>
              </a:rPr>
              <a:t>84.43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175" dirty="0">
                <a:solidFill>
                  <a:srgbClr val="2D3780"/>
                </a:solidFill>
                <a:latin typeface="Trebuchet MS"/>
                <a:cs typeface="Trebuchet MS"/>
              </a:rPr>
              <a:t>%</a:t>
            </a:r>
            <a:r>
              <a:rPr sz="1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2D3780"/>
                </a:solidFill>
                <a:latin typeface="Trebuchet MS"/>
                <a:cs typeface="Trebuchet MS"/>
              </a:rPr>
              <a:t>—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2D3780"/>
                </a:solidFill>
                <a:latin typeface="Trebuchet MS"/>
                <a:cs typeface="Trebuchet MS"/>
              </a:rPr>
              <a:t>extraction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D3780"/>
                </a:solidFill>
                <a:latin typeface="Trebuchet MS"/>
                <a:cs typeface="Trebuchet MS"/>
              </a:rPr>
              <a:t>locale</a:t>
            </a:r>
            <a:r>
              <a:rPr sz="1400" spc="-2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D3780"/>
                </a:solidFill>
                <a:latin typeface="Trebuchet MS"/>
                <a:cs typeface="Trebuchet MS"/>
              </a:rPr>
              <a:t>efficace</a:t>
            </a:r>
            <a:endParaRPr sz="1400">
              <a:latin typeface="Trebuchet MS"/>
              <a:cs typeface="Trebuchet MS"/>
            </a:endParaRPr>
          </a:p>
          <a:p>
            <a:pPr marL="12700" marR="5080" indent="47625">
              <a:lnSpc>
                <a:spcPct val="102699"/>
              </a:lnSpc>
              <a:spcBef>
                <a:spcPts val="844"/>
              </a:spcBef>
            </a:pPr>
            <a:r>
              <a:rPr sz="1400" spc="90" dirty="0">
                <a:solidFill>
                  <a:srgbClr val="2D3780"/>
                </a:solidFill>
                <a:latin typeface="Trebuchet MS"/>
                <a:cs typeface="Trebuchet MS"/>
              </a:rPr>
              <a:t>CCP-</a:t>
            </a:r>
            <a:r>
              <a:rPr sz="1400" spc="-50" dirty="0">
                <a:solidFill>
                  <a:srgbClr val="2D3780"/>
                </a:solidFill>
                <a:latin typeface="Trebuchet MS"/>
                <a:cs typeface="Trebuchet MS"/>
              </a:rPr>
              <a:t>Net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complet </a:t>
            </a:r>
            <a:r>
              <a:rPr sz="1400" spc="-150" dirty="0">
                <a:solidFill>
                  <a:srgbClr val="2D3780"/>
                </a:solidFill>
                <a:latin typeface="Trebuchet MS"/>
                <a:cs typeface="Trebuchet MS"/>
              </a:rPr>
              <a:t>: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D3780"/>
                </a:solidFill>
                <a:latin typeface="Trebuchet MS"/>
                <a:cs typeface="Trebuchet MS"/>
              </a:rPr>
              <a:t>85.20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175" dirty="0">
                <a:solidFill>
                  <a:srgbClr val="2D3780"/>
                </a:solidFill>
                <a:latin typeface="Trebuchet MS"/>
                <a:cs typeface="Trebuchet MS"/>
              </a:rPr>
              <a:t>%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D3780"/>
                </a:solidFill>
                <a:latin typeface="Trebuchet MS"/>
                <a:cs typeface="Trebuchet MS"/>
              </a:rPr>
              <a:t>accuracy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2D3780"/>
                </a:solidFill>
                <a:latin typeface="Trebuchet MS"/>
                <a:cs typeface="Trebuchet MS"/>
              </a:rPr>
              <a:t>/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D3780"/>
                </a:solidFill>
                <a:latin typeface="Trebuchet MS"/>
                <a:cs typeface="Trebuchet MS"/>
              </a:rPr>
              <a:t>72.18</a:t>
            </a:r>
            <a:r>
              <a:rPr sz="1400" spc="-30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175" dirty="0">
                <a:solidFill>
                  <a:srgbClr val="2D3780"/>
                </a:solidFill>
                <a:latin typeface="Trebuchet MS"/>
                <a:cs typeface="Trebuchet MS"/>
              </a:rPr>
              <a:t>%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200" dirty="0">
                <a:solidFill>
                  <a:srgbClr val="2D3780"/>
                </a:solidFill>
                <a:latin typeface="Trebuchet MS"/>
                <a:cs typeface="Trebuchet MS"/>
              </a:rPr>
              <a:t>F1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2D3780"/>
                </a:solidFill>
                <a:latin typeface="Trebuchet MS"/>
                <a:cs typeface="Trebuchet MS"/>
              </a:rPr>
              <a:t>—</a:t>
            </a:r>
            <a:r>
              <a:rPr sz="1400" spc="-35" dirty="0">
                <a:solidFill>
                  <a:srgbClr val="2D3780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D3780"/>
                </a:solidFill>
                <a:latin typeface="Trebuchet MS"/>
                <a:cs typeface="Trebuchet MS"/>
              </a:rPr>
              <a:t>meilleur </a:t>
            </a:r>
            <a:r>
              <a:rPr sz="1400" spc="-10" dirty="0">
                <a:solidFill>
                  <a:srgbClr val="2D3780"/>
                </a:solidFill>
                <a:latin typeface="Trebuchet MS"/>
                <a:cs typeface="Trebuchet MS"/>
              </a:rPr>
              <a:t>compromis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05793" y="9462899"/>
            <a:ext cx="313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5" dirty="0">
                <a:solidFill>
                  <a:srgbClr val="2D3780"/>
                </a:solidFill>
                <a:latin typeface="Trebuchet MS"/>
                <a:cs typeface="Trebuchet MS"/>
              </a:rPr>
              <a:t>23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03390" y="3370410"/>
            <a:ext cx="633984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165" dirty="0">
                <a:solidFill>
                  <a:srgbClr val="FFFFFF"/>
                </a:solidFill>
                <a:latin typeface="Verdana"/>
                <a:cs typeface="Verdana"/>
              </a:rPr>
              <a:t>Conclusion</a:t>
            </a:r>
            <a:endParaRPr sz="10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50" dirty="0"/>
              <a:t>24</a:t>
            </a:fld>
            <a:endParaRPr spc="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30892" y="4803818"/>
            <a:ext cx="95250" cy="2152650"/>
            <a:chOff x="5530892" y="4803818"/>
            <a:chExt cx="95250" cy="215265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892" y="4803818"/>
              <a:ext cx="95250" cy="95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892" y="5318168"/>
              <a:ext cx="95250" cy="95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892" y="6346868"/>
              <a:ext cx="95250" cy="952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892" y="6861218"/>
              <a:ext cx="95250" cy="952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100"/>
              </a:spcBef>
            </a:pPr>
            <a:r>
              <a:rPr spc="-50" dirty="0"/>
              <a:t>Reproduction</a:t>
            </a:r>
            <a:r>
              <a:rPr spc="-120" dirty="0"/>
              <a:t> </a:t>
            </a:r>
            <a:r>
              <a:rPr spc="-75" dirty="0"/>
              <a:t>et</a:t>
            </a:r>
            <a:r>
              <a:rPr spc="-105" dirty="0"/>
              <a:t> </a:t>
            </a:r>
            <a:r>
              <a:rPr spc="-60" dirty="0"/>
              <a:t>évaluation</a:t>
            </a:r>
            <a:r>
              <a:rPr spc="-100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spc="-70" dirty="0"/>
              <a:t>l'architecture</a:t>
            </a:r>
            <a:r>
              <a:rPr spc="-100" dirty="0"/>
              <a:t> </a:t>
            </a:r>
            <a:r>
              <a:rPr spc="-85" dirty="0"/>
              <a:t>hybride</a:t>
            </a:r>
            <a:r>
              <a:rPr spc="-95" dirty="0"/>
              <a:t> </a:t>
            </a:r>
            <a:r>
              <a:rPr spc="150" dirty="0"/>
              <a:t>CCP-</a:t>
            </a:r>
            <a:r>
              <a:rPr spc="-95" dirty="0"/>
              <a:t>Net</a:t>
            </a:r>
            <a:r>
              <a:rPr spc="-85" dirty="0"/>
              <a:t> </a:t>
            </a:r>
            <a:r>
              <a:rPr spc="-50" dirty="0"/>
              <a:t>pour</a:t>
            </a:r>
            <a:r>
              <a:rPr spc="-105" dirty="0"/>
              <a:t> </a:t>
            </a:r>
            <a:r>
              <a:rPr dirty="0"/>
              <a:t>la</a:t>
            </a:r>
            <a:r>
              <a:rPr spc="-100" dirty="0"/>
              <a:t> </a:t>
            </a:r>
            <a:r>
              <a:rPr spc="-55" dirty="0"/>
              <a:t>prédiction</a:t>
            </a:r>
            <a:r>
              <a:rPr spc="-100" dirty="0"/>
              <a:t> </a:t>
            </a:r>
            <a:r>
              <a:rPr dirty="0"/>
              <a:t>du</a:t>
            </a:r>
            <a:r>
              <a:rPr spc="-100" dirty="0"/>
              <a:t> </a:t>
            </a:r>
            <a:r>
              <a:rPr spc="-70" dirty="0"/>
              <a:t>churn. </a:t>
            </a:r>
            <a:r>
              <a:rPr spc="-10" dirty="0"/>
              <a:t>Combinaison</a:t>
            </a:r>
            <a:r>
              <a:rPr spc="-85" dirty="0"/>
              <a:t> </a:t>
            </a:r>
            <a:r>
              <a:rPr dirty="0"/>
              <a:t>du</a:t>
            </a:r>
            <a:r>
              <a:rPr spc="-80" dirty="0"/>
              <a:t> </a:t>
            </a:r>
            <a:r>
              <a:rPr spc="-60" dirty="0"/>
              <a:t>Multi-</a:t>
            </a:r>
            <a:r>
              <a:rPr dirty="0"/>
              <a:t>Head</a:t>
            </a:r>
            <a:r>
              <a:rPr spc="-80" dirty="0"/>
              <a:t> </a:t>
            </a:r>
            <a:r>
              <a:rPr dirty="0"/>
              <a:t>Self-</a:t>
            </a:r>
            <a:r>
              <a:rPr spc="-114" dirty="0"/>
              <a:t>Attention,</a:t>
            </a:r>
            <a:r>
              <a:rPr spc="-75" dirty="0"/>
              <a:t> </a:t>
            </a:r>
            <a:r>
              <a:rPr dirty="0"/>
              <a:t>du</a:t>
            </a:r>
            <a:r>
              <a:rPr spc="-80" dirty="0"/>
              <a:t> </a:t>
            </a:r>
            <a:r>
              <a:rPr spc="-70" dirty="0"/>
              <a:t>BiLSTM</a:t>
            </a:r>
            <a:r>
              <a:rPr spc="-75" dirty="0"/>
              <a:t> et</a:t>
            </a:r>
            <a:r>
              <a:rPr spc="-80" dirty="0"/>
              <a:t> </a:t>
            </a:r>
            <a:r>
              <a:rPr dirty="0"/>
              <a:t>du</a:t>
            </a:r>
            <a:r>
              <a:rPr spc="-80" dirty="0"/>
              <a:t> </a:t>
            </a:r>
            <a:r>
              <a:rPr dirty="0"/>
              <a:t>CNN</a:t>
            </a:r>
            <a:r>
              <a:rPr spc="-80" dirty="0"/>
              <a:t> </a:t>
            </a:r>
            <a:r>
              <a:rPr spc="-50" dirty="0"/>
              <a:t>pour</a:t>
            </a:r>
            <a:r>
              <a:rPr spc="-80" dirty="0"/>
              <a:t> </a:t>
            </a:r>
            <a:r>
              <a:rPr spc="-95" dirty="0"/>
              <a:t>exploiter</a:t>
            </a:r>
            <a:r>
              <a:rPr spc="-80" dirty="0"/>
              <a:t> </a:t>
            </a:r>
            <a:r>
              <a:rPr spc="-25" dirty="0"/>
              <a:t>les </a:t>
            </a:r>
            <a:r>
              <a:rPr spc="-75" dirty="0"/>
              <a:t>informations</a:t>
            </a:r>
            <a:r>
              <a:rPr spc="-110" dirty="0"/>
              <a:t> </a:t>
            </a:r>
            <a:r>
              <a:rPr spc="-40" dirty="0"/>
              <a:t>globales,</a:t>
            </a:r>
            <a:r>
              <a:rPr spc="-100" dirty="0"/>
              <a:t> </a:t>
            </a:r>
            <a:r>
              <a:rPr spc="-80" dirty="0"/>
              <a:t>temporelles</a:t>
            </a:r>
            <a:r>
              <a:rPr spc="-105" dirty="0"/>
              <a:t> </a:t>
            </a:r>
            <a:r>
              <a:rPr spc="-75" dirty="0"/>
              <a:t>et</a:t>
            </a:r>
            <a:r>
              <a:rPr spc="-100" dirty="0"/>
              <a:t> </a:t>
            </a:r>
            <a:r>
              <a:rPr spc="-10" dirty="0"/>
              <a:t>locales.</a:t>
            </a: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pc="60" dirty="0"/>
              <a:t>ADASYN</a:t>
            </a:r>
            <a:r>
              <a:rPr spc="-105" dirty="0"/>
              <a:t> </a:t>
            </a:r>
            <a:r>
              <a:rPr spc="-75" dirty="0"/>
              <a:t>améliore</a:t>
            </a:r>
            <a:r>
              <a:rPr spc="-100" dirty="0"/>
              <a:t> </a:t>
            </a:r>
            <a:r>
              <a:rPr spc="-45" dirty="0"/>
              <a:t>l'équilibrage</a:t>
            </a:r>
            <a:r>
              <a:rPr spc="-100" dirty="0"/>
              <a:t> </a:t>
            </a:r>
            <a:r>
              <a:rPr dirty="0"/>
              <a:t>des</a:t>
            </a:r>
            <a:r>
              <a:rPr spc="-105" dirty="0"/>
              <a:t> </a:t>
            </a:r>
            <a:r>
              <a:rPr dirty="0"/>
              <a:t>classes</a:t>
            </a:r>
            <a:r>
              <a:rPr spc="-100" dirty="0"/>
              <a:t> </a:t>
            </a:r>
            <a:r>
              <a:rPr spc="-75" dirty="0"/>
              <a:t>et</a:t>
            </a:r>
            <a:r>
              <a:rPr spc="-100" dirty="0"/>
              <a:t> </a:t>
            </a:r>
            <a:r>
              <a:rPr spc="-65" dirty="0"/>
              <a:t>renforce</a:t>
            </a:r>
            <a:r>
              <a:rPr spc="-105" dirty="0"/>
              <a:t> </a:t>
            </a:r>
            <a:r>
              <a:rPr dirty="0"/>
              <a:t>la</a:t>
            </a:r>
            <a:r>
              <a:rPr spc="-100" dirty="0"/>
              <a:t> </a:t>
            </a:r>
            <a:r>
              <a:rPr spc="-45" dirty="0"/>
              <a:t>robustesse</a:t>
            </a:r>
            <a:r>
              <a:rPr spc="-100" dirty="0"/>
              <a:t> </a:t>
            </a:r>
            <a:r>
              <a:rPr dirty="0"/>
              <a:t>du</a:t>
            </a:r>
            <a:r>
              <a:rPr spc="-105" dirty="0"/>
              <a:t> </a:t>
            </a:r>
            <a:r>
              <a:rPr spc="-10" dirty="0"/>
              <a:t>modèle.</a:t>
            </a:r>
          </a:p>
          <a:p>
            <a:pPr marL="12700" marR="254000">
              <a:lnSpc>
                <a:spcPct val="140600"/>
              </a:lnSpc>
            </a:pPr>
            <a:r>
              <a:rPr spc="-90" dirty="0"/>
              <a:t>Les</a:t>
            </a:r>
            <a:r>
              <a:rPr spc="-85" dirty="0"/>
              <a:t> </a:t>
            </a:r>
            <a:r>
              <a:rPr spc="-85" dirty="0" err="1"/>
              <a:t>résultats</a:t>
            </a:r>
            <a:r>
              <a:rPr spc="-80" dirty="0"/>
              <a:t> </a:t>
            </a:r>
            <a:r>
              <a:rPr spc="-110" dirty="0"/>
              <a:t>montrent</a:t>
            </a:r>
            <a:r>
              <a:rPr spc="-75" dirty="0"/>
              <a:t> </a:t>
            </a:r>
            <a:r>
              <a:rPr dirty="0"/>
              <a:t>que</a:t>
            </a:r>
            <a:r>
              <a:rPr spc="-75" dirty="0"/>
              <a:t> </a:t>
            </a:r>
            <a:r>
              <a:rPr spc="150" dirty="0"/>
              <a:t>CCP-</a:t>
            </a:r>
            <a:r>
              <a:rPr spc="-95" dirty="0"/>
              <a:t>Net</a:t>
            </a:r>
            <a:r>
              <a:rPr spc="-80" dirty="0"/>
              <a:t> </a:t>
            </a:r>
            <a:r>
              <a:rPr spc="-25" dirty="0"/>
              <a:t>surpasse</a:t>
            </a:r>
            <a:r>
              <a:rPr spc="-80" dirty="0"/>
              <a:t> </a:t>
            </a:r>
            <a:r>
              <a:rPr spc="-85" dirty="0"/>
              <a:t>plusieurs</a:t>
            </a:r>
            <a:r>
              <a:rPr spc="-80" dirty="0"/>
              <a:t> </a:t>
            </a:r>
            <a:r>
              <a:rPr spc="-45" dirty="0"/>
              <a:t>méthodes</a:t>
            </a:r>
            <a:r>
              <a:rPr spc="-75" dirty="0"/>
              <a:t> </a:t>
            </a:r>
            <a:r>
              <a:rPr spc="-30" dirty="0"/>
              <a:t>classiques</a:t>
            </a:r>
            <a:r>
              <a:rPr spc="-80" dirty="0"/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spc="-10" dirty="0"/>
              <a:t>Machine </a:t>
            </a:r>
            <a:r>
              <a:rPr spc="-65" dirty="0"/>
              <a:t>Learning</a:t>
            </a:r>
            <a:r>
              <a:rPr spc="-55" dirty="0"/>
              <a:t> </a:t>
            </a:r>
            <a:r>
              <a:rPr spc="-75" dirty="0"/>
              <a:t>et</a:t>
            </a:r>
            <a:r>
              <a:rPr spc="-5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Deep</a:t>
            </a:r>
            <a:r>
              <a:rPr spc="-55" dirty="0"/>
              <a:t> </a:t>
            </a:r>
            <a:r>
              <a:rPr spc="-10" dirty="0"/>
              <a:t>Learning.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735511" y="1987864"/>
            <a:ext cx="4832350" cy="147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0" spc="-890" dirty="0">
                <a:solidFill>
                  <a:srgbClr val="2D3780"/>
                </a:solidFill>
              </a:rPr>
              <a:t>Conclusion</a:t>
            </a:r>
            <a:endParaRPr sz="9500"/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8996045" cy="9805035"/>
            <a:chOff x="0" y="0"/>
            <a:chExt cx="8996045" cy="9805035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7412355" cy="7216775"/>
            </a:xfrm>
            <a:custGeom>
              <a:avLst/>
              <a:gdLst/>
              <a:ahLst/>
              <a:cxnLst/>
              <a:rect l="l" t="t" r="r" b="b"/>
              <a:pathLst>
                <a:path w="7412355" h="7216775">
                  <a:moveTo>
                    <a:pt x="800027" y="7216653"/>
                  </a:moveTo>
                  <a:lnTo>
                    <a:pt x="0" y="6343558"/>
                  </a:lnTo>
                  <a:lnTo>
                    <a:pt x="0" y="0"/>
                  </a:lnTo>
                  <a:lnTo>
                    <a:pt x="7412286" y="0"/>
                  </a:lnTo>
                  <a:lnTo>
                    <a:pt x="800027" y="7216653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609141"/>
              <a:ext cx="2921635" cy="5591810"/>
            </a:xfrm>
            <a:custGeom>
              <a:avLst/>
              <a:gdLst/>
              <a:ahLst/>
              <a:cxnLst/>
              <a:rect l="l" t="t" r="r" b="b"/>
              <a:pathLst>
                <a:path w="2921635" h="5591809">
                  <a:moveTo>
                    <a:pt x="786126" y="5591471"/>
                  </a:moveTo>
                  <a:lnTo>
                    <a:pt x="0" y="4733704"/>
                  </a:lnTo>
                  <a:lnTo>
                    <a:pt x="0" y="0"/>
                  </a:lnTo>
                  <a:lnTo>
                    <a:pt x="2921587" y="3260322"/>
                  </a:lnTo>
                  <a:lnTo>
                    <a:pt x="786126" y="5591471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8996045" cy="9805035"/>
            </a:xfrm>
            <a:custGeom>
              <a:avLst/>
              <a:gdLst/>
              <a:ahLst/>
              <a:cxnLst/>
              <a:rect l="l" t="t" r="r" b="b"/>
              <a:pathLst>
                <a:path w="8996045" h="9805035">
                  <a:moveTo>
                    <a:pt x="1623543" y="8046457"/>
                  </a:moveTo>
                  <a:lnTo>
                    <a:pt x="10858" y="8046457"/>
                  </a:lnTo>
                  <a:lnTo>
                    <a:pt x="7409645" y="0"/>
                  </a:lnTo>
                  <a:lnTo>
                    <a:pt x="8995979" y="0"/>
                  </a:lnTo>
                  <a:lnTo>
                    <a:pt x="1623543" y="8046457"/>
                  </a:lnTo>
                  <a:close/>
                </a:path>
                <a:path w="8996045" h="9805035">
                  <a:moveTo>
                    <a:pt x="12817" y="9804444"/>
                  </a:moveTo>
                  <a:lnTo>
                    <a:pt x="8898" y="9804444"/>
                  </a:lnTo>
                  <a:lnTo>
                    <a:pt x="0" y="9794734"/>
                  </a:lnTo>
                  <a:lnTo>
                    <a:pt x="0" y="8034609"/>
                  </a:lnTo>
                  <a:lnTo>
                    <a:pt x="10858" y="8046457"/>
                  </a:lnTo>
                  <a:lnTo>
                    <a:pt x="1623543" y="8046457"/>
                  </a:lnTo>
                  <a:lnTo>
                    <a:pt x="12817" y="9804444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50" dirty="0"/>
              <a:t>25</a:t>
            </a:fld>
            <a:endParaRPr spc="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701" y="0"/>
            <a:ext cx="13005435" cy="10289540"/>
            <a:chOff x="31701" y="0"/>
            <a:chExt cx="13005435" cy="10289540"/>
          </a:xfrm>
        </p:grpSpPr>
        <p:sp>
          <p:nvSpPr>
            <p:cNvPr id="3" name="object 3"/>
            <p:cNvSpPr/>
            <p:nvPr/>
          </p:nvSpPr>
          <p:spPr>
            <a:xfrm>
              <a:off x="31701" y="0"/>
              <a:ext cx="11421745" cy="7699375"/>
            </a:xfrm>
            <a:custGeom>
              <a:avLst/>
              <a:gdLst/>
              <a:ahLst/>
              <a:cxnLst/>
              <a:rect l="l" t="t" r="r" b="b"/>
              <a:pathLst>
                <a:path w="11421745" h="7699375">
                  <a:moveTo>
                    <a:pt x="4367162" y="7699209"/>
                  </a:moveTo>
                  <a:lnTo>
                    <a:pt x="0" y="2933185"/>
                  </a:lnTo>
                  <a:lnTo>
                    <a:pt x="0" y="0"/>
                  </a:lnTo>
                  <a:lnTo>
                    <a:pt x="11421563" y="0"/>
                  </a:lnTo>
                  <a:lnTo>
                    <a:pt x="4367162" y="7699209"/>
                  </a:lnTo>
                  <a:close/>
                </a:path>
              </a:pathLst>
            </a:custGeom>
            <a:solidFill>
              <a:srgbClr val="828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701" y="0"/>
              <a:ext cx="6489065" cy="7683500"/>
            </a:xfrm>
            <a:custGeom>
              <a:avLst/>
              <a:gdLst/>
              <a:ahLst/>
              <a:cxnLst/>
              <a:rect l="l" t="t" r="r" b="b"/>
              <a:pathLst>
                <a:path w="6489065" h="7683500">
                  <a:moveTo>
                    <a:pt x="4353261" y="7683169"/>
                  </a:moveTo>
                  <a:lnTo>
                    <a:pt x="0" y="2933185"/>
                  </a:lnTo>
                  <a:lnTo>
                    <a:pt x="0" y="0"/>
                  </a:lnTo>
                  <a:lnTo>
                    <a:pt x="1692756" y="0"/>
                  </a:lnTo>
                  <a:lnTo>
                    <a:pt x="6488722" y="5352019"/>
                  </a:lnTo>
                  <a:lnTo>
                    <a:pt x="4353261" y="7683169"/>
                  </a:lnTo>
                  <a:close/>
                </a:path>
              </a:pathLst>
            </a:custGeom>
            <a:solidFill>
              <a:srgbClr val="9D9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701" y="0"/>
              <a:ext cx="13005435" cy="10289540"/>
            </a:xfrm>
            <a:custGeom>
              <a:avLst/>
              <a:gdLst/>
              <a:ahLst/>
              <a:cxnLst/>
              <a:rect l="l" t="t" r="r" b="b"/>
              <a:pathLst>
                <a:path w="13005435" h="10289540">
                  <a:moveTo>
                    <a:pt x="3577993" y="10289138"/>
                  </a:moveTo>
                  <a:lnTo>
                    <a:pt x="0" y="6384997"/>
                  </a:lnTo>
                  <a:lnTo>
                    <a:pt x="0" y="4624872"/>
                  </a:lnTo>
                  <a:lnTo>
                    <a:pt x="3577993" y="8529013"/>
                  </a:lnTo>
                  <a:lnTo>
                    <a:pt x="11420494" y="0"/>
                  </a:lnTo>
                  <a:lnTo>
                    <a:pt x="13005248" y="0"/>
                  </a:lnTo>
                  <a:lnTo>
                    <a:pt x="3577993" y="10289138"/>
                  </a:lnTo>
                  <a:close/>
                </a:path>
              </a:pathLst>
            </a:custGeom>
            <a:solidFill>
              <a:srgbClr val="CBC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592368" y="3700439"/>
            <a:ext cx="7218680" cy="545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6399"/>
              </a:lnSpc>
              <a:spcBef>
                <a:spcPts val="100"/>
              </a:spcBef>
            </a:pPr>
            <a:r>
              <a:rPr sz="10200" spc="-65" dirty="0">
                <a:solidFill>
                  <a:srgbClr val="2D3780"/>
                </a:solidFill>
              </a:rPr>
              <a:t>MERCI</a:t>
            </a:r>
            <a:r>
              <a:rPr sz="10200" spc="-470" dirty="0">
                <a:solidFill>
                  <a:srgbClr val="2D3780"/>
                </a:solidFill>
              </a:rPr>
              <a:t> </a:t>
            </a:r>
            <a:r>
              <a:rPr sz="10200" spc="-345" dirty="0">
                <a:solidFill>
                  <a:srgbClr val="2D3780"/>
                </a:solidFill>
              </a:rPr>
              <a:t>POUR </a:t>
            </a:r>
            <a:r>
              <a:rPr sz="10200" spc="-10" dirty="0">
                <a:solidFill>
                  <a:srgbClr val="2D3780"/>
                </a:solidFill>
              </a:rPr>
              <a:t>VOTRE </a:t>
            </a:r>
            <a:r>
              <a:rPr sz="10200" spc="-290" dirty="0">
                <a:solidFill>
                  <a:srgbClr val="2D3780"/>
                </a:solidFill>
              </a:rPr>
              <a:t>ATTENTION</a:t>
            </a:r>
            <a:r>
              <a:rPr sz="10200" spc="165" dirty="0">
                <a:solidFill>
                  <a:srgbClr val="2D3780"/>
                </a:solidFill>
              </a:rPr>
              <a:t> </a:t>
            </a:r>
            <a:r>
              <a:rPr sz="10200" spc="-1190" dirty="0">
                <a:solidFill>
                  <a:srgbClr val="2D3780"/>
                </a:solidFill>
              </a:rPr>
              <a:t>!</a:t>
            </a:r>
            <a:endParaRPr sz="102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150" dirty="0"/>
              <a:t>26</a:t>
            </a:fld>
            <a:endParaRPr spc="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1392</TotalTime>
  <Words>2441</Words>
  <Application>Microsoft Office PowerPoint</Application>
  <PresentationFormat>Personnalisé</PresentationFormat>
  <Paragraphs>344</Paragraphs>
  <Slides>26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</vt:lpstr>
      <vt:lpstr>quote-cjk-patch</vt:lpstr>
      <vt:lpstr>Tahoma</vt:lpstr>
      <vt:lpstr>Trebuchet MS</vt:lpstr>
      <vt:lpstr>Verdana</vt:lpstr>
      <vt:lpstr>Office Theme</vt:lpstr>
      <vt:lpstr>Présentation PowerPoint</vt:lpstr>
      <vt:lpstr>Sommaire</vt:lpstr>
      <vt:lpstr>Introduction &amp; Contexte</vt:lpstr>
      <vt:lpstr>Introduction Qu'est-ce que le churn client ?</vt:lpstr>
      <vt:lpstr>Problématique</vt:lpstr>
      <vt:lpstr>Objectifs du Projet</vt:lpstr>
      <vt:lpstr>État de l'Art</vt:lpstr>
      <vt:lpstr>État de l'art Méthodes de Machine Learning</vt:lpstr>
      <vt:lpstr>État de l'art Méthodes de Deep Learning</vt:lpstr>
      <vt:lpstr>État de l'art Approche hybride</vt:lpstr>
      <vt:lpstr>Méthodologie CCP-Net</vt:lpstr>
      <vt:lpstr>Méthodologie CCP-Net Architecture globale</vt:lpstr>
      <vt:lpstr>Méthodologie CCP-Net Multi-Head Self-Attention</vt:lpstr>
      <vt:lpstr>Méthodologie CCP-Net BiLSTM</vt:lpstr>
      <vt:lpstr>Méthodologie CCP-Net CNN</vt:lpstr>
      <vt:lpstr>Prétraitement des données</vt:lpstr>
      <vt:lpstr>Présentation des Datasets</vt:lpstr>
      <vt:lpstr>Prétraitement des données</vt:lpstr>
      <vt:lpstr>Résultats Expérimentaux</vt:lpstr>
      <vt:lpstr>Résultats Expérimentaux — CCP-Net</vt:lpstr>
      <vt:lpstr>Analyse des Performances</vt:lpstr>
      <vt:lpstr>Analyse des Performances</vt:lpstr>
      <vt:lpstr>Analyse des Performances</vt:lpstr>
      <vt:lpstr>Conclusion</vt:lpstr>
      <vt:lpstr>Conclusion</vt:lpstr>
      <vt:lpstr>MERCI POUR VOTRE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Client</dc:title>
  <dc:creator>salma belaalia</dc:creator>
  <cp:keywords>DAHO--eK2T4,BAFYPdSlAlw</cp:keywords>
  <cp:lastModifiedBy>Salma Belaalia</cp:lastModifiedBy>
  <cp:revision>10</cp:revision>
  <dcterms:created xsi:type="dcterms:W3CDTF">2026-07-10T16:53:08Z</dcterms:created>
  <dcterms:modified xsi:type="dcterms:W3CDTF">2026-07-13T00:05:01Z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2026-07-10T00:00:00Z</vt:filetime>
  </property>
  <property fmtid="{D5CDD505-2E9C-101B-9397-08002B2CF9AE}" pid="6" name="Producer">
    <vt:lpwstr>Canva</vt:lpwstr>
  </property>
</Properties>
</file>